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4" d="100"/>
          <a:sy n="114" d="100"/>
        </p:scale>
        <p:origin x="390" y="-11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466066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Course: DTI Project.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Suyash is a stand-in for every daily phone user. He never complains, he just adapts. Each of the next five stories shows a small moment where the phone did not adapt to the person using it.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every idea works: the phone senses the moment, understands it, adapts, protects the person’s privacy, and cares about how they feel.</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Varun is a first-year student. His 24-member class group pings all day with memes, “anyone have notes?” and good-morning forwards, so he muted it. Last Thursday the one message about a changed exam hall got buried in there. He found out 20 minutes before the paper and ran across campus with his heart pounding. Why it hurts: Most notifications are noise, so we stop trusting all of them, and then we miss the one that matters. It leaves us anxious and a bit guilty.</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Target user: Students and young professionals stuck in group chats. They muted a noisy chat once for some peace and paid for it when something important slipped past. Who would buy it: Phone makers and messaging apps that want a premium Focus feature, and universities and employers who need urgent messages to be seen.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Aryan texts his mum in Hinglish, the way he actually speaks. His keyboard keeps “fixing” his words into ones he never meant, so his mum gets a message that makes no sense. He retypes it, sighs, and some days just writes stiff English to stop fighting his own phone. Why it hurts: Mixing languages mid-sentence is how millions of us naturally talk. When a keyboard treats that as a mistake, it quietly tells us our way of speaking is wrong.</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Target user: Bilingual and multilingual people, like students, first-generation professionals and whole families, who think in Hinglish or regional languages and want to be understood the way they speak. Who would buy it: Keyboard and phone makers growing in regional-language markets, and brands that want a “speaks like me” promise for new users.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Lakshya is in his final year. His phone goes silent on a fixed schedule, so when his sister called three times about their grandfather’s hospital visit, he never heard it. Later that day a loud sale alert went off in the middle of his viva. Same phone, same day, wrong both times. Why it hurts: Our availability changes through the day with class, the commute, study and family, but the phone only knows the clock. We pay for it with embarrassment, missed moments and the guilt of not being there.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Target user: People whose day changes minute to minute: students, working professionals, caregivers and parents on call, who can’t afford to be unreachable or interrupted at the wrong moment. Who would buy it: Phone OS and wearable makers adding a smarter Focus mode, and employers and hospitals that need staff reachable without constant buzzing.</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Vivek is trying to be kinder to himself after a stressful exam season. His weekly report says 7 hours a day, but a lot of that was glancing at the time, a recipe propped up while cooking and a map on the bus. He feels guilty for hours he never really spent and stops trusting the report at all. Why it hurts: People track screen time to feel healthier and in control. A wrong number turns a good intention into guilt, and they give up on the habit they wanted to build.</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Target user: Students, creators and parents building healthier digital habits, including parents who want an honest picture of their child’s screen time instead of a guess. Who would buy it: Digital-wellbeing and parental-control apps, phone makers, and schools or families who want a report they can trust.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Shivam is studying in a silent library when his phone rings at full volume. Every head turns. He fumbles for it, face burning, apologising to strangers. The next morning on a crowded platform his mum’s call rings too low and he misses it. Same phone, same ringtone, two very different places. Why it hurts: A phone that ignores where you are makes you the person who disturbs everyone, or the one who misses a call that mattered. Either way we end up embarrassed or anxious over something that wasn’t our fault.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Target user: Commuters, students, hospital visitors and shift workers. Anyone who moves between quiet and loud places in a day and can’t keep adjusting the volume by hand. Who would buy it: Phone and earbud makers that want a “just works” comfort feature, and hospitals, libraries, offices and campuses that want less noise without banning phones.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None of these are solved by any major shipped app today.</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slide.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DFB"/>
        </a:solidFill>
        <a:effectLst/>
      </p:bgPr>
    </p:bg>
    <p:spTree>
      <p:nvGrpSpPr>
        <p:cNvPr id="1" name=""/>
        <p:cNvGrpSpPr/>
        <p:nvPr/>
      </p:nvGrpSpPr>
      <p:grpSpPr>
        <a:xfrm>
          <a:off x="0" y="0"/>
          <a:ext cx="0" cy="0"/>
          <a:chOff x="0" y="0"/>
          <a:chExt cx="0" cy="0"/>
        </a:xfrm>
      </p:grpSpPr>
      <p:sp>
        <p:nvSpPr>
          <p:cNvPr id="2" name="Doodle blob 1"/>
          <p:cNvSpPr/>
          <p:nvPr/>
        </p:nvSpPr>
        <p:spPr>
          <a:xfrm>
            <a:off x="-548640" y="-640080"/>
            <a:ext cx="1828800" cy="1828800"/>
          </a:xfrm>
          <a:prstGeom prst="ellipse">
            <a:avLst/>
          </a:prstGeom>
          <a:solidFill>
            <a:srgbClr val="F9B8CC"/>
          </a:solidFill>
          <a:ln w="12700">
            <a:solidFill>
              <a:srgbClr val="F9B8CC"/>
            </a:solidFill>
            <a:prstDash val="solid"/>
          </a:ln>
        </p:spPr>
      </p:sp>
      <p:sp>
        <p:nvSpPr>
          <p:cNvPr id="3" name="Doodle blob 2"/>
          <p:cNvSpPr/>
          <p:nvPr/>
        </p:nvSpPr>
        <p:spPr>
          <a:xfrm>
            <a:off x="7863840" y="-457200"/>
            <a:ext cx="1645920" cy="1645920"/>
          </a:xfrm>
          <a:prstGeom prst="ellipse">
            <a:avLst/>
          </a:prstGeom>
          <a:solidFill>
            <a:srgbClr val="FFE08A"/>
          </a:solidFill>
          <a:ln w="12700">
            <a:solidFill>
              <a:srgbClr val="FFE08A"/>
            </a:solidFill>
            <a:prstDash val="solid"/>
          </a:ln>
        </p:spPr>
      </p:sp>
      <p:sp>
        <p:nvSpPr>
          <p:cNvPr id="4" name="Doodle blob 3"/>
          <p:cNvSpPr/>
          <p:nvPr/>
        </p:nvSpPr>
        <p:spPr>
          <a:xfrm>
            <a:off x="8138160" y="3566160"/>
            <a:ext cx="1828800" cy="1828800"/>
          </a:xfrm>
          <a:prstGeom prst="ellipse">
            <a:avLst/>
          </a:prstGeom>
          <a:solidFill>
            <a:srgbClr val="A8E6CF"/>
          </a:solidFill>
          <a:ln w="12700">
            <a:solidFill>
              <a:srgbClr val="A8E6CF"/>
            </a:solidFill>
            <a:prstDash val="solid"/>
          </a:ln>
        </p:spPr>
      </p:sp>
      <p:sp>
        <p:nvSpPr>
          <p:cNvPr id="5" name="Doodle blob 4"/>
          <p:cNvSpPr/>
          <p:nvPr/>
        </p:nvSpPr>
        <p:spPr>
          <a:xfrm>
            <a:off x="-457200" y="3931920"/>
            <a:ext cx="1463040" cy="1463040"/>
          </a:xfrm>
          <a:prstGeom prst="ellipse">
            <a:avLst/>
          </a:prstGeom>
          <a:solidFill>
            <a:srgbClr val="A9D6F5"/>
          </a:solidFill>
          <a:ln w="12700">
            <a:solidFill>
              <a:srgbClr val="A9D6F5"/>
            </a:solidFill>
            <a:prstDash val="solid"/>
          </a:ln>
        </p:spPr>
      </p:sp>
      <p:sp>
        <p:nvSpPr>
          <p:cNvPr id="7" name="Text 5"/>
          <p:cNvSpPr txBox="1"/>
          <p:nvPr/>
        </p:nvSpPr>
        <p:spPr>
          <a:xfrm>
            <a:off x="640080" y="502920"/>
            <a:ext cx="4572000" cy="365760"/>
          </a:xfrm>
          <a:prstGeom prst="rect">
            <a:avLst/>
          </a:prstGeom>
          <a:noFill/>
          <a:ln/>
        </p:spPr>
        <p:txBody>
          <a:bodyPr wrap="square" lIns="0" tIns="0" rIns="0" bIns="0" rtlCol="0" anchor="ctr"/>
          <a:lstStyle/>
          <a:p>
            <a:pPr marL="0" indent="0">
              <a:buNone/>
            </a:pPr>
            <a:r>
              <a:rPr lang="en-US" sz="1400" b="1" dirty="0">
                <a:solidFill>
                  <a:srgbClr val="6B6285"/>
                </a:solidFill>
                <a:latin typeface="Calibri" pitchFamily="34" charset="0"/>
                <a:ea typeface="Calibri" pitchFamily="34" charset="-122"/>
                <a:cs typeface="Calibri" pitchFamily="34" charset="-120"/>
              </a:rPr>
              <a:t>DTI Project, Design Thinking</a:t>
            </a:r>
            <a:endParaRPr lang="en-US" sz="1400" dirty="0"/>
          </a:p>
        </p:txBody>
      </p:sp>
      <p:sp>
        <p:nvSpPr>
          <p:cNvPr id="8" name="Title"/>
          <p:cNvSpPr txBox="1"/>
          <p:nvPr/>
        </p:nvSpPr>
        <p:spPr>
          <a:xfrm>
            <a:off x="640080" y="914400"/>
            <a:ext cx="7498080" cy="1371600"/>
          </a:xfrm>
          <a:prstGeom prst="rect">
            <a:avLst/>
          </a:prstGeom>
          <a:noFill/>
          <a:ln/>
        </p:spPr>
        <p:txBody>
          <a:bodyPr wrap="square" lIns="0" tIns="0" rIns="0" bIns="0" rtlCol="0" anchor="ctr"/>
          <a:lstStyle/>
          <a:p>
            <a:pPr marL="0" indent="0">
              <a:buNone/>
            </a:pPr>
            <a:r>
              <a:rPr lang="en-US" sz="3200" b="1" dirty="0">
                <a:solidFill>
                  <a:srgbClr val="3B2F5C"/>
                </a:solidFill>
                <a:latin typeface="Arial" pitchFamily="34" charset="0"/>
                <a:ea typeface="Arial" pitchFamily="34" charset="-122"/>
                <a:cs typeface="Arial" pitchFamily="34" charset="-120"/>
              </a:rPr>
              <a:t>Everyday Phone Problems and Our Ideas to Fix Them</a:t>
            </a:r>
            <a:endParaRPr lang="en-US" sz="3200" dirty="0"/>
          </a:p>
        </p:txBody>
      </p:sp>
      <p:sp>
        <p:nvSpPr>
          <p:cNvPr id="9" name="Text 7"/>
          <p:cNvSpPr txBox="1"/>
          <p:nvPr/>
        </p:nvSpPr>
        <p:spPr>
          <a:xfrm>
            <a:off x="640080" y="2331720"/>
            <a:ext cx="6949440" cy="640080"/>
          </a:xfrm>
          <a:prstGeom prst="rect">
            <a:avLst/>
          </a:prstGeom>
          <a:noFill/>
          <a:ln/>
        </p:spPr>
        <p:txBody>
          <a:bodyPr wrap="square" lIns="0" tIns="0" rIns="0" bIns="0" rtlCol="0" anchor="ctr"/>
          <a:lstStyle/>
          <a:p>
            <a:pPr marL="0" indent="0">
              <a:buNone/>
            </a:pPr>
            <a:r>
              <a:rPr lang="en-US" sz="1800" dirty="0">
                <a:solidFill>
                  <a:srgbClr val="3B2F5C"/>
                </a:solidFill>
                <a:latin typeface="Calibri" pitchFamily="34" charset="0"/>
                <a:ea typeface="Calibri" pitchFamily="34" charset="-122"/>
                <a:cs typeface="Calibri" pitchFamily="34" charset="-120"/>
              </a:rPr>
              <a:t>Five everyday problems we noticed on our own phones, and five ideas to fix them.</a:t>
            </a:r>
            <a:endParaRPr lang="en-US" sz="1800" dirty="0"/>
          </a:p>
        </p:txBody>
      </p:sp>
      <p:sp>
        <p:nvSpPr>
          <p:cNvPr id="10" name="Pill"/>
          <p:cNvSpPr/>
          <p:nvPr/>
        </p:nvSpPr>
        <p:spPr>
          <a:xfrm>
            <a:off x="640080" y="3108960"/>
            <a:ext cx="4480560" cy="365760"/>
          </a:xfrm>
          <a:prstGeom prst="roundRect">
            <a:avLst>
              <a:gd name="adj" fmla="val 50000"/>
            </a:avLst>
          </a:prstGeom>
          <a:solidFill>
            <a:srgbClr val="FFE08A"/>
          </a:solidFill>
          <a:ln w="19050">
            <a:solidFill>
              <a:srgbClr val="3B2F5C"/>
            </a:solidFill>
            <a:prstDash val="solid"/>
          </a:ln>
        </p:spPr>
      </p:sp>
      <p:sp>
        <p:nvSpPr>
          <p:cNvPr id="11" name="Pill text"/>
          <p:cNvSpPr txBox="1"/>
          <p:nvPr/>
        </p:nvSpPr>
        <p:spPr>
          <a:xfrm>
            <a:off x="640080" y="3108960"/>
            <a:ext cx="4480560" cy="365760"/>
          </a:xfrm>
          <a:prstGeom prst="rect">
            <a:avLst/>
          </a:prstGeom>
          <a:noFill/>
          <a:ln/>
        </p:spPr>
        <p:txBody>
          <a:bodyPr wrap="square" lIns="0" tIns="0" rIns="0" bIns="0" rtlCol="0" anchor="ctr"/>
          <a:lstStyle/>
          <a:p>
            <a:pPr marL="0" indent="0" algn="ctr">
              <a:buNone/>
            </a:pPr>
            <a:r>
              <a:rPr lang="en-US" sz="1300" b="1" dirty="0">
                <a:solidFill>
                  <a:srgbClr val="3B2F5C"/>
                </a:solidFill>
                <a:latin typeface="Calibri" pitchFamily="34" charset="0"/>
                <a:ea typeface="Calibri" pitchFamily="34" charset="-122"/>
                <a:cs typeface="Calibri" pitchFamily="34" charset="-120"/>
              </a:rPr>
              <a:t>Same phone, just a bit smarter.</a:t>
            </a:r>
            <a:endParaRPr lang="en-US" sz="1300" dirty="0"/>
          </a:p>
        </p:txBody>
      </p:sp>
      <p:sp>
        <p:nvSpPr>
          <p:cNvPr id="12" name="Text 10"/>
          <p:cNvSpPr txBox="1"/>
          <p:nvPr/>
        </p:nvSpPr>
        <p:spPr>
          <a:xfrm>
            <a:off x="640080" y="3611880"/>
            <a:ext cx="6766560" cy="548640"/>
          </a:xfrm>
          <a:prstGeom prst="rect">
            <a:avLst/>
          </a:prstGeom>
          <a:noFill/>
          <a:ln/>
        </p:spPr>
        <p:txBody>
          <a:bodyPr wrap="square" lIns="0" tIns="0" rIns="0" bIns="0" rtlCol="0" anchor="ctr"/>
          <a:lstStyle/>
          <a:p>
            <a:pPr marL="0" indent="0">
              <a:buNone/>
            </a:pPr>
            <a:r>
              <a:rPr lang="en-US" sz="1400" dirty="0">
                <a:solidFill>
                  <a:srgbClr val="3B2F5C"/>
                </a:solidFill>
                <a:latin typeface="Calibri" pitchFamily="34" charset="0"/>
                <a:ea typeface="Calibri" pitchFamily="34" charset="-122"/>
                <a:cs typeface="Calibri" pitchFamily="34" charset="-120"/>
              </a:rPr>
              <a:t>Team: Aman, Prince, Riya, Shreya, Rahul, Yash, Tushar, Rakesh, Omprakash, Varshith</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B"/>
        </a:solidFill>
        <a:effectLst/>
      </p:bgPr>
    </p:bg>
    <p:spTree>
      <p:nvGrpSpPr>
        <p:cNvPr id="1" name=""/>
        <p:cNvGrpSpPr/>
        <p:nvPr/>
      </p:nvGrpSpPr>
      <p:grpSpPr>
        <a:xfrm>
          <a:off x="0" y="0"/>
          <a:ext cx="0" cy="0"/>
          <a:chOff x="0" y="0"/>
          <a:chExt cx="0" cy="0"/>
        </a:xfrm>
      </p:grpSpPr>
      <p:sp>
        <p:nvSpPr>
          <p:cNvPr id="2" name="Doodle blob 1"/>
          <p:cNvSpPr/>
          <p:nvPr/>
        </p:nvSpPr>
        <p:spPr>
          <a:xfrm>
            <a:off x="7589520" y="-548640"/>
            <a:ext cx="1828800" cy="1828800"/>
          </a:xfrm>
          <a:prstGeom prst="ellipse">
            <a:avLst/>
          </a:prstGeom>
          <a:solidFill>
            <a:srgbClr val="FDE4EC"/>
          </a:solidFill>
          <a:ln w="12700">
            <a:solidFill>
              <a:srgbClr val="FDE4EC"/>
            </a:solidFill>
            <a:prstDash val="solid"/>
          </a:ln>
        </p:spPr>
      </p:sp>
      <p:sp>
        <p:nvSpPr>
          <p:cNvPr id="3" name="Doodle blob 2"/>
          <p:cNvSpPr/>
          <p:nvPr/>
        </p:nvSpPr>
        <p:spPr>
          <a:xfrm>
            <a:off x="-640080" y="4023360"/>
            <a:ext cx="1645920" cy="1645920"/>
          </a:xfrm>
          <a:prstGeom prst="ellipse">
            <a:avLst/>
          </a:prstGeom>
          <a:solidFill>
            <a:srgbClr val="DCEEFB"/>
          </a:solidFill>
          <a:ln w="12700">
            <a:solidFill>
              <a:srgbClr val="DCEEFB"/>
            </a:solidFill>
            <a:prstDash val="solid"/>
          </a:ln>
        </p:spPr>
      </p:sp>
      <p:sp>
        <p:nvSpPr>
          <p:cNvPr id="4" name="Title"/>
          <p:cNvSpPr txBox="1"/>
          <p:nvPr/>
        </p:nvSpPr>
        <p:spPr>
          <a:xfrm>
            <a:off x="457200" y="274320"/>
            <a:ext cx="6675120" cy="731520"/>
          </a:xfrm>
          <a:prstGeom prst="rect">
            <a:avLst/>
          </a:prstGeom>
          <a:noFill/>
          <a:ln/>
        </p:spPr>
        <p:txBody>
          <a:bodyPr wrap="square" lIns="0" tIns="0" rIns="0" bIns="0" rtlCol="0" anchor="ctr"/>
          <a:lstStyle/>
          <a:p>
            <a:pPr marL="0" indent="0">
              <a:buNone/>
            </a:pPr>
            <a:r>
              <a:rPr lang="en-US" sz="2400" b="1" dirty="0">
                <a:solidFill>
                  <a:srgbClr val="3B2F5C"/>
                </a:solidFill>
                <a:latin typeface="Arial" pitchFamily="34" charset="0"/>
                <a:ea typeface="Arial" pitchFamily="34" charset="-122"/>
                <a:cs typeface="Arial" pitchFamily="34" charset="-120"/>
              </a:rPr>
              <a:t>Meet our everyday phone user</a:t>
            </a:r>
            <a:endParaRPr lang="en-US" sz="2400" dirty="0"/>
          </a:p>
        </p:txBody>
      </p:sp>
      <p:sp>
        <p:nvSpPr>
          <p:cNvPr id="5" name="Story card"/>
          <p:cNvSpPr/>
          <p:nvPr/>
        </p:nvSpPr>
        <p:spPr>
          <a:xfrm>
            <a:off x="457200" y="1234440"/>
            <a:ext cx="5120640" cy="2377440"/>
          </a:xfrm>
          <a:prstGeom prst="roundRect">
            <a:avLst>
              <a:gd name="adj" fmla="val 6923"/>
            </a:avLst>
          </a:prstGeom>
          <a:solidFill>
            <a:srgbClr val="DCEEFB"/>
          </a:solidFill>
          <a:ln w="19050">
            <a:solidFill>
              <a:srgbClr val="3B2F5C"/>
            </a:solidFill>
            <a:prstDash val="solid"/>
          </a:ln>
        </p:spPr>
      </p:sp>
      <p:sp>
        <p:nvSpPr>
          <p:cNvPr id="6" name="Text 4"/>
          <p:cNvSpPr txBox="1"/>
          <p:nvPr/>
        </p:nvSpPr>
        <p:spPr>
          <a:xfrm>
            <a:off x="685800" y="1371600"/>
            <a:ext cx="4663440" cy="2103120"/>
          </a:xfrm>
          <a:prstGeom prst="rect">
            <a:avLst/>
          </a:prstGeom>
          <a:noFill/>
          <a:ln/>
        </p:spPr>
        <p:txBody>
          <a:bodyPr wrap="square" lIns="0" tIns="0" rIns="0" bIns="0" rtlCol="0" anchor="ctr"/>
          <a:lstStyle/>
          <a:p>
            <a:pPr marL="0" indent="0">
              <a:buNone/>
            </a:pPr>
            <a:r>
              <a:rPr lang="en-US" sz="1600" dirty="0">
                <a:solidFill>
                  <a:srgbClr val="3B2F5C"/>
                </a:solidFill>
                <a:latin typeface="Calibri" pitchFamily="34" charset="0"/>
                <a:ea typeface="Calibri" pitchFamily="34" charset="-122"/>
                <a:cs typeface="Calibri" pitchFamily="34" charset="-120"/>
              </a:rPr>
              <a:t>Meet Suyash. He has lectures, an internship and a group chat that never goes quiet. His phone is his notebook, his calendar and how he stays in touch with home.</a:t>
            </a:r>
            <a:endParaRPr lang="en-US" sz="1600" dirty="0"/>
          </a:p>
          <a:p>
            <a:pPr marL="0" indent="0">
              <a:buNone/>
            </a:pPr>
            <a:r>
              <a:rPr lang="en-US" sz="600" dirty="0">
                <a:solidFill>
                  <a:srgbClr val="3B2F5C"/>
                </a:solidFill>
                <a:latin typeface="Calibri" pitchFamily="34" charset="0"/>
                <a:ea typeface="Calibri" pitchFamily="34" charset="-122"/>
                <a:cs typeface="Calibri" pitchFamily="34" charset="-120"/>
              </a:rPr>
              <a:t> </a:t>
            </a:r>
            <a:endParaRPr lang="en-US" sz="1600" dirty="0"/>
          </a:p>
          <a:p>
            <a:pPr marL="0" indent="0">
              <a:buNone/>
            </a:pPr>
            <a:r>
              <a:rPr lang="en-US" sz="1600" dirty="0">
                <a:solidFill>
                  <a:srgbClr val="3B2F5C"/>
                </a:solidFill>
                <a:latin typeface="Calibri" pitchFamily="34" charset="0"/>
                <a:ea typeface="Calibri" pitchFamily="34" charset="-122"/>
                <a:cs typeface="Calibri" pitchFamily="34" charset="-120"/>
              </a:rPr>
              <a:t>He never complains about it. He just works around his phone every day, and so do most of us.</a:t>
            </a:r>
            <a:endParaRPr lang="en-US" sz="1600" dirty="0"/>
          </a:p>
        </p:txBody>
      </p:sp>
      <p:sp>
        <p:nvSpPr>
          <p:cNvPr id="101" name="Phone power button"/>
          <p:cNvSpPr/>
          <p:nvPr/>
        </p:nvSpPr>
        <p:spPr>
          <a:xfrm>
            <a:off x="8132160" y="1828800"/>
            <a:ext cx="54864" cy="320040"/>
          </a:xfrm>
          <a:prstGeom prst="roundRect">
            <a:avLst>
              <a:gd name="adj" fmla="val 40000"/>
            </a:avLst>
          </a:prstGeom>
          <a:solidFill>
            <a:srgbClr val="3B2F5C"/>
          </a:solidFill>
          <a:ln>
            <a:noFill/>
          </a:ln>
        </p:spPr>
      </p:sp>
      <p:sp>
        <p:nvSpPr>
          <p:cNvPr id="102" name="Phone volume up"/>
          <p:cNvSpPr/>
          <p:nvPr/>
        </p:nvSpPr>
        <p:spPr>
          <a:xfrm>
            <a:off x="6351936" y="1737360"/>
            <a:ext cx="54864" cy="228600"/>
          </a:xfrm>
          <a:prstGeom prst="roundRect">
            <a:avLst>
              <a:gd name="adj" fmla="val 40000"/>
            </a:avLst>
          </a:prstGeom>
          <a:solidFill>
            <a:srgbClr val="3B2F5C"/>
          </a:solidFill>
          <a:ln>
            <a:noFill/>
          </a:ln>
        </p:spPr>
      </p:sp>
      <p:sp>
        <p:nvSpPr>
          <p:cNvPr id="103" name="Phone volume down"/>
          <p:cNvSpPr/>
          <p:nvPr/>
        </p:nvSpPr>
        <p:spPr>
          <a:xfrm>
            <a:off x="6351936" y="2011680"/>
            <a:ext cx="54864" cy="228600"/>
          </a:xfrm>
          <a:prstGeom prst="roundRect">
            <a:avLst>
              <a:gd name="adj" fmla="val 40000"/>
            </a:avLst>
          </a:prstGeom>
          <a:solidFill>
            <a:srgbClr val="3B2F5C"/>
          </a:solidFill>
          <a:ln>
            <a:noFill/>
          </a:ln>
        </p:spPr>
      </p:sp>
      <p:sp>
        <p:nvSpPr>
          <p:cNvPr id="104" name="Phone"/>
          <p:cNvSpPr/>
          <p:nvPr/>
        </p:nvSpPr>
        <p:spPr>
          <a:xfrm>
            <a:off x="6400800" y="1188720"/>
            <a:ext cx="1737360" cy="2468880"/>
          </a:xfrm>
          <a:prstGeom prst="roundRect">
            <a:avLst>
              <a:gd name="adj" fmla="val 9000"/>
            </a:avLst>
          </a:prstGeom>
          <a:solidFill>
            <a:srgbClr val="FFFFFF"/>
          </a:solidFill>
          <a:ln w="31750">
            <a:solidFill>
              <a:srgbClr val="3B2F5C"/>
            </a:solidFill>
            <a:prstDash val="solid"/>
          </a:ln>
        </p:spPr>
      </p:sp>
      <p:sp>
        <p:nvSpPr>
          <p:cNvPr id="105" name="Status time"/>
          <p:cNvSpPr/>
          <p:nvPr/>
        </p:nvSpPr>
        <p:spPr>
          <a:xfrm>
            <a:off x="6519672" y="1271016"/>
            <a:ext cx="320040" cy="109728"/>
          </a:xfrm>
          <a:prstGeom prst="rect">
            <a:avLst/>
          </a:prstGeom>
          <a:noFill/>
          <a:ln>
            <a:noFill/>
          </a:ln>
        </p:spPr>
        <p:txBody>
          <a:bodyPr wrap="none" lIns="0" tIns="0" rIns="0" bIns="0" rtlCol="0" anchor="ctr"/>
          <a:lstStyle/>
          <a:p>
            <a:pPr marL="0" indent="0" algn="l">
              <a:buNone/>
            </a:pPr>
            <a:r>
              <a:rPr lang="en-US" sz="700" b="1" dirty="0">
                <a:solidFill>
                  <a:srgbClr val="3B2F5C"/>
                </a:solidFill>
                <a:latin typeface="Calibri"/>
              </a:rPr>
              <a:t>9:41</a:t>
            </a:r>
          </a:p>
        </p:txBody>
      </p:sp>
      <p:sp>
        <p:nvSpPr>
          <p:cNvPr id="106" name="Phone camera notch"/>
          <p:cNvSpPr/>
          <p:nvPr/>
        </p:nvSpPr>
        <p:spPr>
          <a:xfrm>
            <a:off x="7155180" y="1243584"/>
            <a:ext cx="228600" cy="82296"/>
          </a:xfrm>
          <a:prstGeom prst="roundRect">
            <a:avLst>
              <a:gd name="adj" fmla="val 50000"/>
            </a:avLst>
          </a:prstGeom>
          <a:solidFill>
            <a:srgbClr val="3B2F5C"/>
          </a:solidFill>
          <a:ln>
            <a:noFill/>
          </a:ln>
        </p:spPr>
      </p:sp>
      <p:sp>
        <p:nvSpPr>
          <p:cNvPr id="107" name="Signal bar 1"/>
          <p:cNvSpPr/>
          <p:nvPr/>
        </p:nvSpPr>
        <p:spPr>
          <a:xfrm>
            <a:off x="7626096" y="1335024"/>
            <a:ext cx="27432" cy="36576"/>
          </a:xfrm>
          <a:prstGeom prst="rect">
            <a:avLst/>
          </a:prstGeom>
          <a:solidFill>
            <a:srgbClr val="3B2F5C"/>
          </a:solidFill>
          <a:ln>
            <a:noFill/>
          </a:ln>
        </p:spPr>
      </p:sp>
      <p:sp>
        <p:nvSpPr>
          <p:cNvPr id="108" name="Signal bar 2"/>
          <p:cNvSpPr/>
          <p:nvPr/>
        </p:nvSpPr>
        <p:spPr>
          <a:xfrm>
            <a:off x="7671816" y="1316736"/>
            <a:ext cx="27432" cy="54864"/>
          </a:xfrm>
          <a:prstGeom prst="rect">
            <a:avLst/>
          </a:prstGeom>
          <a:solidFill>
            <a:srgbClr val="3B2F5C"/>
          </a:solidFill>
          <a:ln>
            <a:noFill/>
          </a:ln>
        </p:spPr>
      </p:sp>
      <p:sp>
        <p:nvSpPr>
          <p:cNvPr id="109" name="Signal bar 3"/>
          <p:cNvSpPr/>
          <p:nvPr/>
        </p:nvSpPr>
        <p:spPr>
          <a:xfrm>
            <a:off x="7717536" y="1298448"/>
            <a:ext cx="27432" cy="73152"/>
          </a:xfrm>
          <a:prstGeom prst="rect">
            <a:avLst/>
          </a:prstGeom>
          <a:solidFill>
            <a:srgbClr val="3B2F5C"/>
          </a:solidFill>
          <a:ln>
            <a:noFill/>
          </a:ln>
        </p:spPr>
      </p:sp>
      <p:sp>
        <p:nvSpPr>
          <p:cNvPr id="110" name="Signal bar 4"/>
          <p:cNvSpPr/>
          <p:nvPr/>
        </p:nvSpPr>
        <p:spPr>
          <a:xfrm>
            <a:off x="7763256" y="1280160"/>
            <a:ext cx="27432" cy="91440"/>
          </a:xfrm>
          <a:prstGeom prst="rect">
            <a:avLst/>
          </a:prstGeom>
          <a:solidFill>
            <a:srgbClr val="3B2F5C"/>
          </a:solidFill>
          <a:ln>
            <a:noFill/>
          </a:ln>
        </p:spPr>
      </p:sp>
      <p:sp>
        <p:nvSpPr>
          <p:cNvPr id="111" name="Battery"/>
          <p:cNvSpPr/>
          <p:nvPr/>
        </p:nvSpPr>
        <p:spPr>
          <a:xfrm>
            <a:off x="7836408" y="1307592"/>
            <a:ext cx="201168" cy="73152"/>
          </a:xfrm>
          <a:prstGeom prst="roundRect">
            <a:avLst>
              <a:gd name="adj" fmla="val 25000"/>
            </a:avLst>
          </a:prstGeom>
          <a:solidFill>
            <a:srgbClr val="FFFFFF"/>
          </a:solidFill>
          <a:ln w="9525">
            <a:solidFill>
              <a:srgbClr val="3B2F5C"/>
            </a:solidFill>
            <a:prstDash val="solid"/>
          </a:ln>
        </p:spPr>
      </p:sp>
      <p:sp>
        <p:nvSpPr>
          <p:cNvPr id="112" name="Battery level"/>
          <p:cNvSpPr/>
          <p:nvPr/>
        </p:nvSpPr>
        <p:spPr>
          <a:xfrm>
            <a:off x="7854696" y="1321308"/>
            <a:ext cx="128016" cy="45720"/>
          </a:xfrm>
          <a:prstGeom prst="roundRect">
            <a:avLst>
              <a:gd name="adj" fmla="val 25000"/>
            </a:avLst>
          </a:prstGeom>
          <a:solidFill>
            <a:srgbClr val="7ED3B2"/>
          </a:solidFill>
          <a:ln>
            <a:noFill/>
          </a:ln>
        </p:spPr>
      </p:sp>
      <p:sp>
        <p:nvSpPr>
          <p:cNvPr id="113" name="Chat header"/>
          <p:cNvSpPr/>
          <p:nvPr/>
        </p:nvSpPr>
        <p:spPr>
          <a:xfrm>
            <a:off x="6492240" y="1440180"/>
            <a:ext cx="1554480" cy="283464"/>
          </a:xfrm>
          <a:prstGeom prst="roundRect">
            <a:avLst>
              <a:gd name="adj" fmla="val 22000"/>
            </a:avLst>
          </a:prstGeom>
          <a:solidFill>
            <a:srgbClr val="E9DDFB"/>
          </a:solidFill>
          <a:ln w="9525">
            <a:solidFill>
              <a:srgbClr val="3B2F5C"/>
            </a:solidFill>
            <a:prstDash val="solid"/>
          </a:ln>
        </p:spPr>
      </p:sp>
      <p:sp>
        <p:nvSpPr>
          <p:cNvPr id="114" name="Header avatar"/>
          <p:cNvSpPr/>
          <p:nvPr/>
        </p:nvSpPr>
        <p:spPr>
          <a:xfrm>
            <a:off x="6547104" y="1490472"/>
            <a:ext cx="182880" cy="182880"/>
          </a:xfrm>
          <a:prstGeom prst="ellipse">
            <a:avLst/>
          </a:prstGeom>
          <a:solidFill>
            <a:srgbClr val="F9B8CC"/>
          </a:solidFill>
          <a:ln w="9525">
            <a:solidFill>
              <a:srgbClr val="3B2F5C"/>
            </a:solidFill>
            <a:prstDash val="solid"/>
          </a:ln>
        </p:spPr>
      </p:sp>
      <p:sp>
        <p:nvSpPr>
          <p:cNvPr id="115" name="Header title"/>
          <p:cNvSpPr/>
          <p:nvPr/>
        </p:nvSpPr>
        <p:spPr>
          <a:xfrm>
            <a:off x="6784848" y="1485900"/>
            <a:ext cx="900000" cy="109728"/>
          </a:xfrm>
          <a:prstGeom prst="rect">
            <a:avLst/>
          </a:prstGeom>
          <a:noFill/>
          <a:ln>
            <a:noFill/>
          </a:ln>
        </p:spPr>
        <p:txBody>
          <a:bodyPr wrap="none" lIns="0" tIns="0" rIns="0" bIns="0" rtlCol="0" anchor="ctr"/>
          <a:lstStyle/>
          <a:p>
            <a:pPr marL="0" indent="0" algn="l">
              <a:buNone/>
            </a:pPr>
            <a:r>
              <a:rPr lang="en-US" sz="800" b="1" dirty="0">
                <a:solidFill>
                  <a:srgbClr val="3B2F5C"/>
                </a:solidFill>
                <a:latin typeface="Calibri"/>
              </a:rPr>
              <a:t>Study Group</a:t>
            </a:r>
          </a:p>
        </p:txBody>
      </p:sp>
      <p:sp>
        <p:nvSpPr>
          <p:cNvPr id="116" name="Online dot"/>
          <p:cNvSpPr/>
          <p:nvPr/>
        </p:nvSpPr>
        <p:spPr>
          <a:xfrm>
            <a:off x="6784848" y="1618488"/>
            <a:ext cx="64008" cy="64008"/>
          </a:xfrm>
          <a:prstGeom prst="ellipse">
            <a:avLst/>
          </a:prstGeom>
          <a:solidFill>
            <a:srgbClr val="4CC38A"/>
          </a:solidFill>
          <a:ln>
            <a:noFill/>
          </a:ln>
        </p:spPr>
      </p:sp>
      <p:sp>
        <p:nvSpPr>
          <p:cNvPr id="117" name="Header status"/>
          <p:cNvSpPr/>
          <p:nvPr/>
        </p:nvSpPr>
        <p:spPr>
          <a:xfrm>
            <a:off x="6876288" y="1595628"/>
            <a:ext cx="800000" cy="109728"/>
          </a:xfrm>
          <a:prstGeom prst="rect">
            <a:avLst/>
          </a:prstGeom>
          <a:noFill/>
          <a:ln>
            <a:noFill/>
          </a:ln>
        </p:spPr>
        <p:txBody>
          <a:bodyPr wrap="none" lIns="0" tIns="0" rIns="0" bIns="0" rtlCol="0" anchor="ctr"/>
          <a:lstStyle/>
          <a:p>
            <a:pPr marL="0" indent="0" algn="l">
              <a:buNone/>
            </a:pPr>
            <a:r>
              <a:rPr lang="en-US" sz="600" dirty="0">
                <a:solidFill>
                  <a:srgbClr val="6B5F8A"/>
                </a:solidFill>
                <a:latin typeface="Calibri"/>
              </a:rPr>
              <a:t>24 members</a:t>
            </a:r>
          </a:p>
        </p:txBody>
      </p:sp>
      <p:sp>
        <p:nvSpPr>
          <p:cNvPr id="118" name="Chat bubble 1"/>
          <p:cNvSpPr/>
          <p:nvPr/>
        </p:nvSpPr>
        <p:spPr>
          <a:xfrm>
            <a:off x="6547104" y="1805940"/>
            <a:ext cx="1005840" cy="292608"/>
          </a:xfrm>
          <a:prstGeom prst="roundRect">
            <a:avLst>
              <a:gd name="adj" fmla="val 22000"/>
            </a:avLst>
          </a:prstGeom>
          <a:solidFill>
            <a:srgbClr val="F9B8CC"/>
          </a:solidFill>
          <a:ln w="12700">
            <a:solidFill>
              <a:srgbClr val="3B2F5C"/>
            </a:solidFill>
            <a:prstDash val="solid"/>
          </a:ln>
        </p:spPr>
      </p:sp>
      <p:sp>
        <p:nvSpPr>
          <p:cNvPr id="119" name="Bubble 1 line 1"/>
          <p:cNvSpPr/>
          <p:nvPr/>
        </p:nvSpPr>
        <p:spPr>
          <a:xfrm>
            <a:off x="6615684" y="1879092"/>
            <a:ext cx="738378" cy="36576"/>
          </a:xfrm>
          <a:prstGeom prst="roundRect">
            <a:avLst>
              <a:gd name="adj" fmla="val 50000"/>
            </a:avLst>
          </a:prstGeom>
          <a:solidFill>
            <a:srgbClr val="3B2F5C">
              <a:alpha val="55000"/>
            </a:srgbClr>
          </a:solidFill>
          <a:ln>
            <a:noFill/>
          </a:ln>
        </p:spPr>
      </p:sp>
      <p:sp>
        <p:nvSpPr>
          <p:cNvPr id="120" name="Bubble 1 line 2"/>
          <p:cNvSpPr/>
          <p:nvPr/>
        </p:nvSpPr>
        <p:spPr>
          <a:xfrm>
            <a:off x="6615684" y="1988820"/>
            <a:ext cx="477774" cy="36576"/>
          </a:xfrm>
          <a:prstGeom prst="roundRect">
            <a:avLst>
              <a:gd name="adj" fmla="val 50000"/>
            </a:avLst>
          </a:prstGeom>
          <a:solidFill>
            <a:srgbClr val="3B2F5C">
              <a:alpha val="55000"/>
            </a:srgbClr>
          </a:solidFill>
          <a:ln>
            <a:noFill/>
          </a:ln>
        </p:spPr>
      </p:sp>
      <p:sp>
        <p:nvSpPr>
          <p:cNvPr id="121" name="Chat bubble 2"/>
          <p:cNvSpPr/>
          <p:nvPr/>
        </p:nvSpPr>
        <p:spPr>
          <a:xfrm>
            <a:off x="7123176" y="2153412"/>
            <a:ext cx="868680" cy="292608"/>
          </a:xfrm>
          <a:prstGeom prst="roundRect">
            <a:avLst>
              <a:gd name="adj" fmla="val 22000"/>
            </a:avLst>
          </a:prstGeom>
          <a:solidFill>
            <a:srgbClr val="FFE08A"/>
          </a:solidFill>
          <a:ln w="12700">
            <a:solidFill>
              <a:srgbClr val="3B2F5C"/>
            </a:solidFill>
            <a:prstDash val="solid"/>
          </a:ln>
        </p:spPr>
      </p:sp>
      <p:sp>
        <p:nvSpPr>
          <p:cNvPr id="122" name="Bubble 2 line 1"/>
          <p:cNvSpPr/>
          <p:nvPr/>
        </p:nvSpPr>
        <p:spPr>
          <a:xfrm>
            <a:off x="7191756" y="2226564"/>
            <a:ext cx="585216" cy="36576"/>
          </a:xfrm>
          <a:prstGeom prst="roundRect">
            <a:avLst>
              <a:gd name="adj" fmla="val 50000"/>
            </a:avLst>
          </a:prstGeom>
          <a:solidFill>
            <a:srgbClr val="3B2F5C">
              <a:alpha val="55000"/>
            </a:srgbClr>
          </a:solidFill>
          <a:ln>
            <a:noFill/>
          </a:ln>
        </p:spPr>
      </p:sp>
      <p:sp>
        <p:nvSpPr>
          <p:cNvPr id="123" name="Bubble 2 line 2"/>
          <p:cNvSpPr/>
          <p:nvPr/>
        </p:nvSpPr>
        <p:spPr>
          <a:xfrm>
            <a:off x="7191756" y="2336292"/>
            <a:ext cx="365760" cy="36576"/>
          </a:xfrm>
          <a:prstGeom prst="roundRect">
            <a:avLst>
              <a:gd name="adj" fmla="val 50000"/>
            </a:avLst>
          </a:prstGeom>
          <a:solidFill>
            <a:srgbClr val="3B2F5C">
              <a:alpha val="55000"/>
            </a:srgbClr>
          </a:solidFill>
          <a:ln>
            <a:noFill/>
          </a:ln>
        </p:spPr>
      </p:sp>
      <p:sp>
        <p:nvSpPr>
          <p:cNvPr id="124" name="Chat bubble 3"/>
          <p:cNvSpPr/>
          <p:nvPr/>
        </p:nvSpPr>
        <p:spPr>
          <a:xfrm>
            <a:off x="6547104" y="2500884"/>
            <a:ext cx="1097280" cy="292608"/>
          </a:xfrm>
          <a:prstGeom prst="roundRect">
            <a:avLst>
              <a:gd name="adj" fmla="val 22000"/>
            </a:avLst>
          </a:prstGeom>
          <a:solidFill>
            <a:srgbClr val="A8E6CF"/>
          </a:solidFill>
          <a:ln w="12700">
            <a:solidFill>
              <a:srgbClr val="3B2F5C"/>
            </a:solidFill>
            <a:prstDash val="solid"/>
          </a:ln>
        </p:spPr>
      </p:sp>
      <p:sp>
        <p:nvSpPr>
          <p:cNvPr id="125" name="Bubble 3 line 1"/>
          <p:cNvSpPr/>
          <p:nvPr/>
        </p:nvSpPr>
        <p:spPr>
          <a:xfrm>
            <a:off x="6615684" y="2574036"/>
            <a:ext cx="864108" cy="36576"/>
          </a:xfrm>
          <a:prstGeom prst="roundRect">
            <a:avLst>
              <a:gd name="adj" fmla="val 50000"/>
            </a:avLst>
          </a:prstGeom>
          <a:solidFill>
            <a:srgbClr val="3B2F5C">
              <a:alpha val="55000"/>
            </a:srgbClr>
          </a:solidFill>
          <a:ln>
            <a:noFill/>
          </a:ln>
        </p:spPr>
      </p:sp>
      <p:sp>
        <p:nvSpPr>
          <p:cNvPr id="126" name="Bubble 3 line 2"/>
          <p:cNvSpPr/>
          <p:nvPr/>
        </p:nvSpPr>
        <p:spPr>
          <a:xfrm>
            <a:off x="6615684" y="2683764"/>
            <a:ext cx="576072" cy="36576"/>
          </a:xfrm>
          <a:prstGeom prst="roundRect">
            <a:avLst>
              <a:gd name="adj" fmla="val 50000"/>
            </a:avLst>
          </a:prstGeom>
          <a:solidFill>
            <a:srgbClr val="3B2F5C">
              <a:alpha val="55000"/>
            </a:srgbClr>
          </a:solidFill>
          <a:ln>
            <a:noFill/>
          </a:ln>
        </p:spPr>
      </p:sp>
      <p:sp>
        <p:nvSpPr>
          <p:cNvPr id="127" name="Chat bubble 4"/>
          <p:cNvSpPr/>
          <p:nvPr/>
        </p:nvSpPr>
        <p:spPr>
          <a:xfrm>
            <a:off x="7351776" y="2848356"/>
            <a:ext cx="640080" cy="292608"/>
          </a:xfrm>
          <a:prstGeom prst="roundRect">
            <a:avLst>
              <a:gd name="adj" fmla="val 22000"/>
            </a:avLst>
          </a:prstGeom>
          <a:solidFill>
            <a:srgbClr val="D3BDF7"/>
          </a:solidFill>
          <a:ln w="12700">
            <a:solidFill>
              <a:srgbClr val="3B2F5C"/>
            </a:solidFill>
            <a:prstDash val="solid"/>
          </a:ln>
        </p:spPr>
      </p:sp>
      <p:sp>
        <p:nvSpPr>
          <p:cNvPr id="128" name="Typing dot 1"/>
          <p:cNvSpPr/>
          <p:nvPr/>
        </p:nvSpPr>
        <p:spPr>
          <a:xfrm>
            <a:off x="7571232" y="2967228"/>
            <a:ext cx="54864" cy="54864"/>
          </a:xfrm>
          <a:prstGeom prst="ellipse">
            <a:avLst/>
          </a:prstGeom>
          <a:solidFill>
            <a:srgbClr val="3B2F5C">
              <a:alpha val="70000"/>
            </a:srgbClr>
          </a:solidFill>
          <a:ln>
            <a:noFill/>
          </a:ln>
        </p:spPr>
      </p:sp>
      <p:sp>
        <p:nvSpPr>
          <p:cNvPr id="129" name="Typing dot 2"/>
          <p:cNvSpPr/>
          <p:nvPr/>
        </p:nvSpPr>
        <p:spPr>
          <a:xfrm>
            <a:off x="7671816" y="2967228"/>
            <a:ext cx="54864" cy="54864"/>
          </a:xfrm>
          <a:prstGeom prst="ellipse">
            <a:avLst/>
          </a:prstGeom>
          <a:solidFill>
            <a:srgbClr val="3B2F5C">
              <a:alpha val="55000"/>
            </a:srgbClr>
          </a:solidFill>
          <a:ln>
            <a:noFill/>
          </a:ln>
        </p:spPr>
      </p:sp>
      <p:sp>
        <p:nvSpPr>
          <p:cNvPr id="130" name="Typing dot 3"/>
          <p:cNvSpPr/>
          <p:nvPr/>
        </p:nvSpPr>
        <p:spPr>
          <a:xfrm>
            <a:off x="7772400" y="2967228"/>
            <a:ext cx="54864" cy="54864"/>
          </a:xfrm>
          <a:prstGeom prst="ellipse">
            <a:avLst/>
          </a:prstGeom>
          <a:solidFill>
            <a:srgbClr val="3B2F5C">
              <a:alpha val="40000"/>
            </a:srgbClr>
          </a:solidFill>
          <a:ln>
            <a:noFill/>
          </a:ln>
        </p:spPr>
      </p:sp>
      <p:sp>
        <p:nvSpPr>
          <p:cNvPr id="131" name="Notification badge"/>
          <p:cNvSpPr/>
          <p:nvPr/>
        </p:nvSpPr>
        <p:spPr>
          <a:xfrm>
            <a:off x="7988160" y="1088136"/>
            <a:ext cx="246888" cy="246888"/>
          </a:xfrm>
          <a:prstGeom prst="ellipse">
            <a:avLst/>
          </a:prstGeom>
          <a:solidFill>
            <a:srgbClr val="FF6B81"/>
          </a:solidFill>
          <a:ln w="19050">
            <a:solidFill>
              <a:srgbClr val="FFFFFF"/>
            </a:solidFill>
            <a:prstDash val="solid"/>
          </a:ln>
        </p:spPr>
        <p:txBody>
          <a:bodyPr wrap="none" lIns="0" tIns="0" rIns="0" bIns="0" rtlCol="0" anchor="ctr"/>
          <a:lstStyle/>
          <a:p>
            <a:pPr marL="0" indent="0" algn="ctr">
              <a:buNone/>
            </a:pPr>
            <a:r>
              <a:rPr lang="en-US" sz="1000" b="1" dirty="0">
                <a:solidFill>
                  <a:srgbClr val="FFFFFF"/>
                </a:solidFill>
                <a:latin typeface="Calibri"/>
              </a:rPr>
              <a:t>5</a:t>
            </a:r>
          </a:p>
        </p:txBody>
      </p:sp>
      <p:sp>
        <p:nvSpPr>
          <p:cNvPr id="132" name="Input bar"/>
          <p:cNvSpPr/>
          <p:nvPr/>
        </p:nvSpPr>
        <p:spPr>
          <a:xfrm>
            <a:off x="6492240" y="3175828"/>
            <a:ext cx="1554480" cy="201168"/>
          </a:xfrm>
          <a:prstGeom prst="roundRect">
            <a:avLst>
              <a:gd name="adj" fmla="val 50000"/>
            </a:avLst>
          </a:prstGeom>
          <a:solidFill>
            <a:srgbClr val="F3EEFB"/>
          </a:solidFill>
          <a:ln w="9525">
            <a:solidFill>
              <a:srgbClr val="3B2F5C"/>
            </a:solidFill>
            <a:prstDash val="solid"/>
          </a:ln>
        </p:spPr>
      </p:sp>
      <p:sp>
        <p:nvSpPr>
          <p:cNvPr id="133" name="Input placeholder"/>
          <p:cNvSpPr/>
          <p:nvPr/>
        </p:nvSpPr>
        <p:spPr>
          <a:xfrm>
            <a:off x="6583680" y="3258124"/>
            <a:ext cx="640080" cy="36576"/>
          </a:xfrm>
          <a:prstGeom prst="roundRect">
            <a:avLst>
              <a:gd name="adj" fmla="val 50000"/>
            </a:avLst>
          </a:prstGeom>
          <a:solidFill>
            <a:srgbClr val="3B2F5C">
              <a:alpha val="30000"/>
            </a:srgbClr>
          </a:solidFill>
          <a:ln>
            <a:noFill/>
          </a:ln>
        </p:spPr>
      </p:sp>
      <p:sp>
        <p:nvSpPr>
          <p:cNvPr id="134" name="Send button"/>
          <p:cNvSpPr/>
          <p:nvPr/>
        </p:nvSpPr>
        <p:spPr>
          <a:xfrm>
            <a:off x="7872984" y="3203260"/>
            <a:ext cx="146304" cy="146304"/>
          </a:xfrm>
          <a:prstGeom prst="ellipse">
            <a:avLst/>
          </a:prstGeom>
          <a:solidFill>
            <a:srgbClr val="A8E6CF"/>
          </a:solidFill>
          <a:ln w="9525">
            <a:solidFill>
              <a:srgbClr val="3B2F5C"/>
            </a:solidFill>
            <a:prstDash val="solid"/>
          </a:ln>
        </p:spPr>
      </p:sp>
      <p:sp>
        <p:nvSpPr>
          <p:cNvPr id="135" name="Home indicator"/>
          <p:cNvSpPr/>
          <p:nvPr/>
        </p:nvSpPr>
        <p:spPr>
          <a:xfrm>
            <a:off x="6995160" y="3566160"/>
            <a:ext cx="548640" cy="36576"/>
          </a:xfrm>
          <a:prstGeom prst="roundRect">
            <a:avLst>
              <a:gd name="adj" fmla="val 50000"/>
            </a:avLst>
          </a:prstGeom>
          <a:solidFill>
            <a:srgbClr val="3B2F5C"/>
          </a:solidFill>
          <a:ln>
            <a:noFill/>
          </a:ln>
        </p:spPr>
      </p:sp>
      <p:sp>
        <p:nvSpPr>
          <p:cNvPr id="12" name="Quote card"/>
          <p:cNvSpPr/>
          <p:nvPr/>
        </p:nvSpPr>
        <p:spPr>
          <a:xfrm>
            <a:off x="457200" y="3886200"/>
            <a:ext cx="8229600" cy="868680"/>
          </a:xfrm>
          <a:prstGeom prst="roundRect">
            <a:avLst>
              <a:gd name="adj" fmla="val 18947"/>
            </a:avLst>
          </a:prstGeom>
          <a:solidFill>
            <a:srgbClr val="FFF3CC"/>
          </a:solidFill>
          <a:ln w="19050">
            <a:solidFill>
              <a:srgbClr val="3B2F5C"/>
            </a:solidFill>
            <a:prstDash val="solid"/>
          </a:ln>
        </p:spPr>
      </p:sp>
      <p:sp>
        <p:nvSpPr>
          <p:cNvPr id="13" name="Text 11"/>
          <p:cNvSpPr txBox="1"/>
          <p:nvPr/>
        </p:nvSpPr>
        <p:spPr>
          <a:xfrm>
            <a:off x="640080" y="3931920"/>
            <a:ext cx="7863840" cy="777240"/>
          </a:xfrm>
          <a:prstGeom prst="rect">
            <a:avLst/>
          </a:prstGeom>
          <a:noFill/>
          <a:ln/>
        </p:spPr>
        <p:txBody>
          <a:bodyPr wrap="square" lIns="0" tIns="0" rIns="0" bIns="0" rtlCol="0" anchor="ctr"/>
          <a:lstStyle/>
          <a:p>
            <a:pPr marL="0" indent="0">
              <a:buNone/>
            </a:pPr>
            <a:r>
              <a:rPr lang="en-US" sz="1400" b="1" i="1" dirty="0">
                <a:solidFill>
                  <a:srgbClr val="3B2F5C"/>
                </a:solidFill>
                <a:latin typeface="Calibri" pitchFamily="34" charset="0"/>
                <a:ea typeface="Calibri" pitchFamily="34" charset="-122"/>
                <a:cs typeface="Calibri" pitchFamily="34" charset="-120"/>
              </a:rPr>
              <a:t>“Nobody complains about these small moments. We just sigh, mute the chat, retype the word and move on. Our phones should be the ones adapting.”</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B"/>
        </a:solidFill>
        <a:effectLst/>
      </p:bgPr>
    </p:bg>
    <p:spTree>
      <p:nvGrpSpPr>
        <p:cNvPr id="1" name=""/>
        <p:cNvGrpSpPr/>
        <p:nvPr/>
      </p:nvGrpSpPr>
      <p:grpSpPr>
        <a:xfrm>
          <a:off x="0" y="0"/>
          <a:ext cx="0" cy="0"/>
          <a:chOff x="0" y="0"/>
          <a:chExt cx="0" cy="0"/>
        </a:xfrm>
      </p:grpSpPr>
      <p:sp>
        <p:nvSpPr>
          <p:cNvPr id="2" name="Doodle blob 1"/>
          <p:cNvSpPr/>
          <p:nvPr/>
        </p:nvSpPr>
        <p:spPr>
          <a:xfrm>
            <a:off x="7772400" y="-548640"/>
            <a:ext cx="1737360" cy="1737360"/>
          </a:xfrm>
          <a:prstGeom prst="ellipse">
            <a:avLst/>
          </a:prstGeom>
          <a:solidFill>
            <a:srgbClr val="ECE1FB"/>
          </a:solidFill>
          <a:ln w="12700">
            <a:solidFill>
              <a:srgbClr val="ECE1FB"/>
            </a:solidFill>
            <a:prstDash val="solid"/>
          </a:ln>
        </p:spPr>
      </p:sp>
      <p:sp>
        <p:nvSpPr>
          <p:cNvPr id="3" name="Doodle blob 2"/>
          <p:cNvSpPr/>
          <p:nvPr/>
        </p:nvSpPr>
        <p:spPr>
          <a:xfrm>
            <a:off x="-640080" y="4114800"/>
            <a:ext cx="1463040" cy="1463040"/>
          </a:xfrm>
          <a:prstGeom prst="ellipse">
            <a:avLst/>
          </a:prstGeom>
          <a:solidFill>
            <a:srgbClr val="DDF6EA"/>
          </a:solidFill>
          <a:ln w="12700">
            <a:solidFill>
              <a:srgbClr val="DDF6EA"/>
            </a:solidFill>
            <a:prstDash val="solid"/>
          </a:ln>
        </p:spPr>
      </p:sp>
      <p:sp>
        <p:nvSpPr>
          <p:cNvPr id="4" name="Title"/>
          <p:cNvSpPr txBox="1"/>
          <p:nvPr/>
        </p:nvSpPr>
        <p:spPr>
          <a:xfrm>
            <a:off x="457200" y="274320"/>
            <a:ext cx="6675120" cy="731520"/>
          </a:xfrm>
          <a:prstGeom prst="rect">
            <a:avLst/>
          </a:prstGeom>
          <a:noFill/>
          <a:ln/>
        </p:spPr>
        <p:txBody>
          <a:bodyPr wrap="square" lIns="0" tIns="0" rIns="0" bIns="0" rtlCol="0" anchor="ctr"/>
          <a:lstStyle/>
          <a:p>
            <a:pPr marL="0" indent="0">
              <a:buNone/>
            </a:pPr>
            <a:r>
              <a:rPr lang="en-US" sz="2400" b="1" dirty="0">
                <a:solidFill>
                  <a:srgbClr val="3B2F5C"/>
                </a:solidFill>
                <a:latin typeface="Arial" pitchFamily="34" charset="0"/>
                <a:ea typeface="Arial" pitchFamily="34" charset="-122"/>
                <a:cs typeface="Arial" pitchFamily="34" charset="-120"/>
              </a:rPr>
              <a:t>Our shared approach</a:t>
            </a:r>
            <a:endParaRPr lang="en-US" sz="2400" dirty="0"/>
          </a:p>
        </p:txBody>
      </p:sp>
      <p:sp>
        <p:nvSpPr>
          <p:cNvPr id="5" name="Text 3"/>
          <p:cNvSpPr txBox="1"/>
          <p:nvPr/>
        </p:nvSpPr>
        <p:spPr>
          <a:xfrm>
            <a:off x="457200" y="1097280"/>
            <a:ext cx="8229600" cy="731520"/>
          </a:xfrm>
          <a:prstGeom prst="rect">
            <a:avLst/>
          </a:prstGeom>
          <a:noFill/>
          <a:ln/>
        </p:spPr>
        <p:txBody>
          <a:bodyPr wrap="square" lIns="0" tIns="0" rIns="0" bIns="0" rtlCol="0" anchor="ctr"/>
          <a:lstStyle/>
          <a:p>
            <a:pPr marL="0" indent="0">
              <a:buNone/>
            </a:pPr>
            <a:r>
              <a:rPr lang="en-US" sz="1600" dirty="0">
                <a:solidFill>
                  <a:srgbClr val="3B2F5C"/>
                </a:solidFill>
                <a:latin typeface="Calibri" pitchFamily="34" charset="0"/>
                <a:ea typeface="Calibri" pitchFamily="34" charset="-122"/>
                <a:cs typeface="Calibri" pitchFamily="34" charset="-120"/>
              </a:rPr>
              <a:t>In every case, the phone already has a signal or sensor available, but it isn’t using it, or it treats every person and moment the same.</a:t>
            </a:r>
            <a:endParaRPr lang="en-US" sz="1600" dirty="0"/>
          </a:p>
        </p:txBody>
      </p:sp>
      <p:sp>
        <p:nvSpPr>
          <p:cNvPr id="6" name="Step 1"/>
          <p:cNvSpPr/>
          <p:nvPr/>
        </p:nvSpPr>
        <p:spPr>
          <a:xfrm>
            <a:off x="594360" y="2011680"/>
            <a:ext cx="1188720" cy="1188720"/>
          </a:xfrm>
          <a:prstGeom prst="ellipse">
            <a:avLst/>
          </a:prstGeom>
          <a:solidFill>
            <a:srgbClr val="F9B8CC"/>
          </a:solidFill>
          <a:ln w="19050">
            <a:solidFill>
              <a:srgbClr val="3B2F5C"/>
            </a:solidFill>
            <a:prstDash val="solid"/>
          </a:ln>
        </p:spPr>
      </p:sp>
      <p:sp>
        <p:nvSpPr>
          <p:cNvPr id="7" name="Text 5"/>
          <p:cNvSpPr txBox="1"/>
          <p:nvPr/>
        </p:nvSpPr>
        <p:spPr>
          <a:xfrm>
            <a:off x="594360" y="2011680"/>
            <a:ext cx="1188720" cy="1188720"/>
          </a:xfrm>
          <a:prstGeom prst="rect">
            <a:avLst/>
          </a:prstGeom>
          <a:noFill/>
          <a:ln/>
        </p:spPr>
        <p:txBody>
          <a:bodyPr wrap="square" lIns="0" tIns="0" rIns="0" bIns="0" rtlCol="0" anchor="ctr"/>
          <a:lstStyle/>
          <a:p>
            <a:pPr marL="0" indent="0" algn="ctr">
              <a:buNone/>
            </a:pPr>
            <a:r>
              <a:rPr lang="en-US" sz="1300" b="1" dirty="0">
                <a:solidFill>
                  <a:srgbClr val="3B2F5C"/>
                </a:solidFill>
                <a:latin typeface="Arial" pitchFamily="34" charset="0"/>
                <a:ea typeface="Arial" pitchFamily="34" charset="-122"/>
                <a:cs typeface="Arial" pitchFamily="34" charset="-120"/>
              </a:rPr>
              <a:t>Sense</a:t>
            </a:r>
            <a:endParaRPr lang="en-US" sz="1300" dirty="0"/>
          </a:p>
        </p:txBody>
      </p:sp>
      <p:sp>
        <p:nvSpPr>
          <p:cNvPr id="8" name="Text 6"/>
          <p:cNvSpPr txBox="1"/>
          <p:nvPr/>
        </p:nvSpPr>
        <p:spPr>
          <a:xfrm>
            <a:off x="1737360" y="2331720"/>
            <a:ext cx="411480" cy="548640"/>
          </a:xfrm>
          <a:prstGeom prst="rect">
            <a:avLst/>
          </a:prstGeom>
          <a:noFill/>
          <a:ln/>
        </p:spPr>
        <p:txBody>
          <a:bodyPr wrap="square" lIns="0" tIns="0" rIns="0" bIns="0" rtlCol="0" anchor="ctr"/>
          <a:lstStyle/>
          <a:p>
            <a:pPr marL="0" indent="0" algn="ctr">
              <a:buNone/>
            </a:pPr>
            <a:r>
              <a:rPr lang="en-US" sz="2400" b="1" dirty="0">
                <a:solidFill>
                  <a:srgbClr val="3B2F5C"/>
                </a:solidFill>
                <a:latin typeface="Calibri" pitchFamily="34" charset="0"/>
                <a:ea typeface="Calibri" pitchFamily="34" charset="-122"/>
                <a:cs typeface="Calibri" pitchFamily="34" charset="-120"/>
              </a:rPr>
              <a:t>→</a:t>
            </a:r>
            <a:endParaRPr lang="en-US" sz="2400" dirty="0"/>
          </a:p>
        </p:txBody>
      </p:sp>
      <p:sp>
        <p:nvSpPr>
          <p:cNvPr id="9" name="Step 2"/>
          <p:cNvSpPr/>
          <p:nvPr/>
        </p:nvSpPr>
        <p:spPr>
          <a:xfrm>
            <a:off x="2240280" y="2011680"/>
            <a:ext cx="1188720" cy="1188720"/>
          </a:xfrm>
          <a:prstGeom prst="ellipse">
            <a:avLst/>
          </a:prstGeom>
          <a:solidFill>
            <a:srgbClr val="FFBE85"/>
          </a:solidFill>
          <a:ln w="19050">
            <a:solidFill>
              <a:srgbClr val="3B2F5C"/>
            </a:solidFill>
            <a:prstDash val="solid"/>
          </a:ln>
        </p:spPr>
      </p:sp>
      <p:sp>
        <p:nvSpPr>
          <p:cNvPr id="10" name="Text 8"/>
          <p:cNvSpPr txBox="1"/>
          <p:nvPr/>
        </p:nvSpPr>
        <p:spPr>
          <a:xfrm>
            <a:off x="2240280" y="2011680"/>
            <a:ext cx="1188720" cy="1188720"/>
          </a:xfrm>
          <a:prstGeom prst="rect">
            <a:avLst/>
          </a:prstGeom>
          <a:noFill/>
          <a:ln/>
        </p:spPr>
        <p:txBody>
          <a:bodyPr wrap="square" lIns="0" tIns="0" rIns="0" bIns="0" rtlCol="0" anchor="ctr"/>
          <a:lstStyle/>
          <a:p>
            <a:pPr marL="0" indent="0" algn="ctr">
              <a:buNone/>
            </a:pPr>
            <a:r>
              <a:rPr lang="en-US" sz="1300" b="1" dirty="0">
                <a:solidFill>
                  <a:srgbClr val="3B2F5C"/>
                </a:solidFill>
                <a:latin typeface="Arial" pitchFamily="34" charset="0"/>
                <a:ea typeface="Arial" pitchFamily="34" charset="-122"/>
                <a:cs typeface="Arial" pitchFamily="34" charset="-120"/>
              </a:rPr>
              <a:t>Understand</a:t>
            </a:r>
            <a:endParaRPr lang="en-US" sz="1300" dirty="0"/>
          </a:p>
        </p:txBody>
      </p:sp>
      <p:sp>
        <p:nvSpPr>
          <p:cNvPr id="11" name="Text 9"/>
          <p:cNvSpPr txBox="1"/>
          <p:nvPr/>
        </p:nvSpPr>
        <p:spPr>
          <a:xfrm>
            <a:off x="3383280" y="2331720"/>
            <a:ext cx="411480" cy="548640"/>
          </a:xfrm>
          <a:prstGeom prst="rect">
            <a:avLst/>
          </a:prstGeom>
          <a:noFill/>
          <a:ln/>
        </p:spPr>
        <p:txBody>
          <a:bodyPr wrap="square" lIns="0" tIns="0" rIns="0" bIns="0" rtlCol="0" anchor="ctr"/>
          <a:lstStyle/>
          <a:p>
            <a:pPr marL="0" indent="0" algn="ctr">
              <a:buNone/>
            </a:pPr>
            <a:r>
              <a:rPr lang="en-US" sz="2400" b="1" dirty="0">
                <a:solidFill>
                  <a:srgbClr val="3B2F5C"/>
                </a:solidFill>
                <a:latin typeface="Calibri" pitchFamily="34" charset="0"/>
                <a:ea typeface="Calibri" pitchFamily="34" charset="-122"/>
                <a:cs typeface="Calibri" pitchFamily="34" charset="-120"/>
              </a:rPr>
              <a:t>→</a:t>
            </a:r>
            <a:endParaRPr lang="en-US" sz="2400" dirty="0"/>
          </a:p>
        </p:txBody>
      </p:sp>
      <p:sp>
        <p:nvSpPr>
          <p:cNvPr id="12" name="Step 3"/>
          <p:cNvSpPr/>
          <p:nvPr/>
        </p:nvSpPr>
        <p:spPr>
          <a:xfrm>
            <a:off x="3886200" y="2011680"/>
            <a:ext cx="1188720" cy="1188720"/>
          </a:xfrm>
          <a:prstGeom prst="ellipse">
            <a:avLst/>
          </a:prstGeom>
          <a:solidFill>
            <a:srgbClr val="A8E6CF"/>
          </a:solidFill>
          <a:ln w="19050">
            <a:solidFill>
              <a:srgbClr val="3B2F5C"/>
            </a:solidFill>
            <a:prstDash val="solid"/>
          </a:ln>
        </p:spPr>
      </p:sp>
      <p:sp>
        <p:nvSpPr>
          <p:cNvPr id="13" name="Text 11"/>
          <p:cNvSpPr txBox="1"/>
          <p:nvPr/>
        </p:nvSpPr>
        <p:spPr>
          <a:xfrm>
            <a:off x="3886200" y="2011680"/>
            <a:ext cx="1188720" cy="1188720"/>
          </a:xfrm>
          <a:prstGeom prst="rect">
            <a:avLst/>
          </a:prstGeom>
          <a:noFill/>
          <a:ln/>
        </p:spPr>
        <p:txBody>
          <a:bodyPr wrap="square" lIns="0" tIns="0" rIns="0" bIns="0" rtlCol="0" anchor="ctr"/>
          <a:lstStyle/>
          <a:p>
            <a:pPr marL="0" indent="0" algn="ctr">
              <a:buNone/>
            </a:pPr>
            <a:r>
              <a:rPr lang="en-US" sz="1300" b="1" dirty="0">
                <a:solidFill>
                  <a:srgbClr val="3B2F5C"/>
                </a:solidFill>
                <a:latin typeface="Arial" pitchFamily="34" charset="0"/>
                <a:ea typeface="Arial" pitchFamily="34" charset="-122"/>
                <a:cs typeface="Arial" pitchFamily="34" charset="-120"/>
              </a:rPr>
              <a:t>Adapt</a:t>
            </a:r>
            <a:endParaRPr lang="en-US" sz="1300" dirty="0"/>
          </a:p>
        </p:txBody>
      </p:sp>
      <p:sp>
        <p:nvSpPr>
          <p:cNvPr id="14" name="Text 12"/>
          <p:cNvSpPr txBox="1"/>
          <p:nvPr/>
        </p:nvSpPr>
        <p:spPr>
          <a:xfrm>
            <a:off x="5029200" y="2331720"/>
            <a:ext cx="411480" cy="548640"/>
          </a:xfrm>
          <a:prstGeom prst="rect">
            <a:avLst/>
          </a:prstGeom>
          <a:noFill/>
          <a:ln/>
        </p:spPr>
        <p:txBody>
          <a:bodyPr wrap="square" lIns="0" tIns="0" rIns="0" bIns="0" rtlCol="0" anchor="ctr"/>
          <a:lstStyle/>
          <a:p>
            <a:pPr marL="0" indent="0" algn="ctr">
              <a:buNone/>
            </a:pPr>
            <a:r>
              <a:rPr lang="en-US" sz="2400" b="1" dirty="0">
                <a:solidFill>
                  <a:srgbClr val="3B2F5C"/>
                </a:solidFill>
                <a:latin typeface="Calibri" pitchFamily="34" charset="0"/>
                <a:ea typeface="Calibri" pitchFamily="34" charset="-122"/>
                <a:cs typeface="Calibri" pitchFamily="34" charset="-120"/>
              </a:rPr>
              <a:t>→</a:t>
            </a:r>
            <a:endParaRPr lang="en-US" sz="2400" dirty="0"/>
          </a:p>
        </p:txBody>
      </p:sp>
      <p:sp>
        <p:nvSpPr>
          <p:cNvPr id="15" name="Step 4"/>
          <p:cNvSpPr/>
          <p:nvPr/>
        </p:nvSpPr>
        <p:spPr>
          <a:xfrm>
            <a:off x="5532120" y="2011680"/>
            <a:ext cx="1188720" cy="1188720"/>
          </a:xfrm>
          <a:prstGeom prst="ellipse">
            <a:avLst/>
          </a:prstGeom>
          <a:solidFill>
            <a:srgbClr val="A9D6F5"/>
          </a:solidFill>
          <a:ln w="19050">
            <a:solidFill>
              <a:srgbClr val="3B2F5C"/>
            </a:solidFill>
            <a:prstDash val="solid"/>
          </a:ln>
        </p:spPr>
      </p:sp>
      <p:sp>
        <p:nvSpPr>
          <p:cNvPr id="16" name="Text 14"/>
          <p:cNvSpPr txBox="1"/>
          <p:nvPr/>
        </p:nvSpPr>
        <p:spPr>
          <a:xfrm>
            <a:off x="5532120" y="2011680"/>
            <a:ext cx="1188720" cy="1188720"/>
          </a:xfrm>
          <a:prstGeom prst="rect">
            <a:avLst/>
          </a:prstGeom>
          <a:noFill/>
          <a:ln/>
        </p:spPr>
        <p:txBody>
          <a:bodyPr wrap="square" lIns="0" tIns="0" rIns="0" bIns="0" rtlCol="0" anchor="ctr"/>
          <a:lstStyle/>
          <a:p>
            <a:pPr marL="0" indent="0" algn="ctr">
              <a:buNone/>
            </a:pPr>
            <a:r>
              <a:rPr lang="en-US" sz="1300" b="1" dirty="0">
                <a:solidFill>
                  <a:srgbClr val="3B2F5C"/>
                </a:solidFill>
                <a:latin typeface="Arial" pitchFamily="34" charset="0"/>
                <a:ea typeface="Arial" pitchFamily="34" charset="-122"/>
                <a:cs typeface="Arial" pitchFamily="34" charset="-120"/>
              </a:rPr>
              <a:t>Protect</a:t>
            </a:r>
            <a:endParaRPr lang="en-US" sz="1300" dirty="0"/>
          </a:p>
        </p:txBody>
      </p:sp>
      <p:sp>
        <p:nvSpPr>
          <p:cNvPr id="17" name="Text 15"/>
          <p:cNvSpPr txBox="1"/>
          <p:nvPr/>
        </p:nvSpPr>
        <p:spPr>
          <a:xfrm>
            <a:off x="6675120" y="2331720"/>
            <a:ext cx="411480" cy="548640"/>
          </a:xfrm>
          <a:prstGeom prst="rect">
            <a:avLst/>
          </a:prstGeom>
          <a:noFill/>
          <a:ln/>
        </p:spPr>
        <p:txBody>
          <a:bodyPr wrap="square" lIns="0" tIns="0" rIns="0" bIns="0" rtlCol="0" anchor="ctr"/>
          <a:lstStyle/>
          <a:p>
            <a:pPr marL="0" indent="0" algn="ctr">
              <a:buNone/>
            </a:pPr>
            <a:r>
              <a:rPr lang="en-US" sz="2400" b="1" dirty="0">
                <a:solidFill>
                  <a:srgbClr val="3B2F5C"/>
                </a:solidFill>
                <a:latin typeface="Calibri" pitchFamily="34" charset="0"/>
                <a:ea typeface="Calibri" pitchFamily="34" charset="-122"/>
                <a:cs typeface="Calibri" pitchFamily="34" charset="-120"/>
              </a:rPr>
              <a:t>→</a:t>
            </a:r>
            <a:endParaRPr lang="en-US" sz="2400" dirty="0"/>
          </a:p>
        </p:txBody>
      </p:sp>
      <p:sp>
        <p:nvSpPr>
          <p:cNvPr id="18" name="Step 5"/>
          <p:cNvSpPr/>
          <p:nvPr/>
        </p:nvSpPr>
        <p:spPr>
          <a:xfrm>
            <a:off x="7178040" y="2011680"/>
            <a:ext cx="1188720" cy="1188720"/>
          </a:xfrm>
          <a:prstGeom prst="ellipse">
            <a:avLst/>
          </a:prstGeom>
          <a:solidFill>
            <a:srgbClr val="D3BDF7"/>
          </a:solidFill>
          <a:ln w="19050">
            <a:solidFill>
              <a:srgbClr val="3B2F5C"/>
            </a:solidFill>
            <a:prstDash val="solid"/>
          </a:ln>
        </p:spPr>
      </p:sp>
      <p:sp>
        <p:nvSpPr>
          <p:cNvPr id="19" name="Text 17"/>
          <p:cNvSpPr txBox="1"/>
          <p:nvPr/>
        </p:nvSpPr>
        <p:spPr>
          <a:xfrm>
            <a:off x="7178040" y="2011680"/>
            <a:ext cx="1188720" cy="1188720"/>
          </a:xfrm>
          <a:prstGeom prst="rect">
            <a:avLst/>
          </a:prstGeom>
          <a:noFill/>
          <a:ln/>
        </p:spPr>
        <p:txBody>
          <a:bodyPr wrap="square" lIns="0" tIns="0" rIns="0" bIns="0" rtlCol="0" anchor="ctr"/>
          <a:lstStyle/>
          <a:p>
            <a:pPr marL="0" indent="0" algn="ctr">
              <a:buNone/>
            </a:pPr>
            <a:r>
              <a:rPr lang="en-US" sz="1300" b="1" dirty="0">
                <a:solidFill>
                  <a:srgbClr val="3B2F5C"/>
                </a:solidFill>
                <a:latin typeface="Arial" pitchFamily="34" charset="0"/>
                <a:ea typeface="Arial" pitchFamily="34" charset="-122"/>
                <a:cs typeface="Arial" pitchFamily="34" charset="-120"/>
              </a:rPr>
              <a:t>Care</a:t>
            </a:r>
            <a:endParaRPr lang="en-US" sz="1300" dirty="0"/>
          </a:p>
        </p:txBody>
      </p:sp>
      <p:sp>
        <p:nvSpPr>
          <p:cNvPr id="20" name="Goal card"/>
          <p:cNvSpPr/>
          <p:nvPr/>
        </p:nvSpPr>
        <p:spPr>
          <a:xfrm>
            <a:off x="457200" y="3520440"/>
            <a:ext cx="8229600" cy="1188720"/>
          </a:xfrm>
          <a:prstGeom prst="roundRect">
            <a:avLst>
              <a:gd name="adj" fmla="val 13846"/>
            </a:avLst>
          </a:prstGeom>
          <a:solidFill>
            <a:srgbClr val="DDF6EA"/>
          </a:solidFill>
          <a:ln w="19050">
            <a:solidFill>
              <a:srgbClr val="3B2F5C"/>
            </a:solidFill>
            <a:prstDash val="solid"/>
          </a:ln>
        </p:spPr>
      </p:sp>
      <p:sp>
        <p:nvSpPr>
          <p:cNvPr id="21" name="Text 19"/>
          <p:cNvSpPr txBox="1"/>
          <p:nvPr/>
        </p:nvSpPr>
        <p:spPr>
          <a:xfrm>
            <a:off x="685800" y="3566160"/>
            <a:ext cx="7772400" cy="548640"/>
          </a:xfrm>
          <a:prstGeom prst="rect">
            <a:avLst/>
          </a:prstGeom>
          <a:noFill/>
          <a:ln/>
        </p:spPr>
        <p:txBody>
          <a:bodyPr wrap="square" lIns="0" tIns="0" rIns="0" bIns="0" rtlCol="0" anchor="ctr"/>
          <a:lstStyle/>
          <a:p>
            <a:pPr marL="0" indent="0">
              <a:buNone/>
            </a:pPr>
            <a:r>
              <a:rPr lang="en-US" sz="1500" b="1" dirty="0">
                <a:solidFill>
                  <a:srgbClr val="3B2F5C"/>
                </a:solidFill>
                <a:latin typeface="Calibri" pitchFamily="34" charset="0"/>
                <a:ea typeface="Calibri" pitchFamily="34" charset="-122"/>
                <a:cs typeface="Calibri" pitchFamily="34" charset="-120"/>
              </a:rPr>
              <a:t>Goal: a phone that fits the person using it and distracts them less.</a:t>
            </a:r>
            <a:endParaRPr lang="en-US" sz="1500" dirty="0"/>
          </a:p>
        </p:txBody>
      </p:sp>
      <p:sp>
        <p:nvSpPr>
          <p:cNvPr id="22" name="Pill"/>
          <p:cNvSpPr/>
          <p:nvPr/>
        </p:nvSpPr>
        <p:spPr>
          <a:xfrm>
            <a:off x="685800" y="4206240"/>
            <a:ext cx="1325880" cy="365760"/>
          </a:xfrm>
          <a:prstGeom prst="roundRect">
            <a:avLst>
              <a:gd name="adj" fmla="val 50000"/>
            </a:avLst>
          </a:prstGeom>
          <a:solidFill>
            <a:srgbClr val="F9B8CC"/>
          </a:solidFill>
          <a:ln w="19050">
            <a:solidFill>
              <a:srgbClr val="3B2F5C"/>
            </a:solidFill>
            <a:prstDash val="solid"/>
          </a:ln>
        </p:spPr>
      </p:sp>
      <p:sp>
        <p:nvSpPr>
          <p:cNvPr id="23" name="Pill text"/>
          <p:cNvSpPr txBox="1"/>
          <p:nvPr/>
        </p:nvSpPr>
        <p:spPr>
          <a:xfrm>
            <a:off x="685800" y="4206240"/>
            <a:ext cx="1325880" cy="365760"/>
          </a:xfrm>
          <a:prstGeom prst="rect">
            <a:avLst/>
          </a:prstGeom>
          <a:noFill/>
          <a:ln/>
        </p:spPr>
        <p:txBody>
          <a:bodyPr wrap="square" lIns="0" tIns="0" rIns="0" bIns="0" rtlCol="0" anchor="ctr"/>
          <a:lstStyle/>
          <a:p>
            <a:pPr marL="0" indent="0" algn="ctr">
              <a:buNone/>
            </a:pPr>
            <a:r>
              <a:rPr lang="en-US" sz="1300" b="1" dirty="0">
                <a:solidFill>
                  <a:srgbClr val="3B2F5C"/>
                </a:solidFill>
                <a:latin typeface="Calibri" pitchFamily="34" charset="0"/>
                <a:ea typeface="Calibri" pitchFamily="34" charset="-122"/>
                <a:cs typeface="Calibri" pitchFamily="34" charset="-120"/>
              </a:rPr>
              <a:t>Less friction</a:t>
            </a:r>
            <a:endParaRPr lang="en-US" sz="1300" dirty="0"/>
          </a:p>
        </p:txBody>
      </p:sp>
      <p:sp>
        <p:nvSpPr>
          <p:cNvPr id="24" name="Pill"/>
          <p:cNvSpPr/>
          <p:nvPr/>
        </p:nvSpPr>
        <p:spPr>
          <a:xfrm>
            <a:off x="2103120" y="4206240"/>
            <a:ext cx="1325880" cy="365760"/>
          </a:xfrm>
          <a:prstGeom prst="roundRect">
            <a:avLst>
              <a:gd name="adj" fmla="val 50000"/>
            </a:avLst>
          </a:prstGeom>
          <a:solidFill>
            <a:srgbClr val="FFBE85"/>
          </a:solidFill>
          <a:ln w="19050">
            <a:solidFill>
              <a:srgbClr val="3B2F5C"/>
            </a:solidFill>
            <a:prstDash val="solid"/>
          </a:ln>
        </p:spPr>
      </p:sp>
      <p:sp>
        <p:nvSpPr>
          <p:cNvPr id="25" name="Pill text"/>
          <p:cNvSpPr txBox="1"/>
          <p:nvPr/>
        </p:nvSpPr>
        <p:spPr>
          <a:xfrm>
            <a:off x="2103120" y="4206240"/>
            <a:ext cx="1325880" cy="365760"/>
          </a:xfrm>
          <a:prstGeom prst="rect">
            <a:avLst/>
          </a:prstGeom>
          <a:noFill/>
          <a:ln/>
        </p:spPr>
        <p:txBody>
          <a:bodyPr wrap="square" lIns="0" tIns="0" rIns="0" bIns="0" rtlCol="0" anchor="ctr"/>
          <a:lstStyle/>
          <a:p>
            <a:pPr marL="0" indent="0" algn="ctr">
              <a:buNone/>
            </a:pPr>
            <a:r>
              <a:rPr lang="en-US" sz="1300" b="1" dirty="0">
                <a:solidFill>
                  <a:srgbClr val="3B2F5C"/>
                </a:solidFill>
                <a:latin typeface="Calibri" pitchFamily="34" charset="0"/>
                <a:ea typeface="Calibri" pitchFamily="34" charset="-122"/>
                <a:cs typeface="Calibri" pitchFamily="34" charset="-120"/>
              </a:rPr>
              <a:t>More focus</a:t>
            </a:r>
            <a:endParaRPr lang="en-US" sz="1300" dirty="0"/>
          </a:p>
        </p:txBody>
      </p:sp>
      <p:sp>
        <p:nvSpPr>
          <p:cNvPr id="26" name="Pill"/>
          <p:cNvSpPr/>
          <p:nvPr/>
        </p:nvSpPr>
        <p:spPr>
          <a:xfrm>
            <a:off x="3520440" y="4206240"/>
            <a:ext cx="1325880" cy="365760"/>
          </a:xfrm>
          <a:prstGeom prst="roundRect">
            <a:avLst>
              <a:gd name="adj" fmla="val 50000"/>
            </a:avLst>
          </a:prstGeom>
          <a:solidFill>
            <a:srgbClr val="A9D6F5"/>
          </a:solidFill>
          <a:ln w="19050">
            <a:solidFill>
              <a:srgbClr val="3B2F5C"/>
            </a:solidFill>
            <a:prstDash val="solid"/>
          </a:ln>
        </p:spPr>
      </p:sp>
      <p:sp>
        <p:nvSpPr>
          <p:cNvPr id="27" name="Pill text"/>
          <p:cNvSpPr txBox="1"/>
          <p:nvPr/>
        </p:nvSpPr>
        <p:spPr>
          <a:xfrm>
            <a:off x="3520440" y="4206240"/>
            <a:ext cx="1325880" cy="365760"/>
          </a:xfrm>
          <a:prstGeom prst="rect">
            <a:avLst/>
          </a:prstGeom>
          <a:noFill/>
          <a:ln/>
        </p:spPr>
        <p:txBody>
          <a:bodyPr wrap="square" lIns="0" tIns="0" rIns="0" bIns="0" rtlCol="0" anchor="ctr"/>
          <a:lstStyle/>
          <a:p>
            <a:pPr marL="0" indent="0" algn="ctr">
              <a:buNone/>
            </a:pPr>
            <a:r>
              <a:rPr lang="en-US" sz="1300" b="1" dirty="0">
                <a:solidFill>
                  <a:srgbClr val="3B2F5C"/>
                </a:solidFill>
                <a:latin typeface="Calibri" pitchFamily="34" charset="0"/>
                <a:ea typeface="Calibri" pitchFamily="34" charset="-122"/>
                <a:cs typeface="Calibri" pitchFamily="34" charset="-120"/>
              </a:rPr>
              <a:t>Happier users</a:t>
            </a:r>
            <a:endParaRPr lang="en-US" sz="1300" dirty="0"/>
          </a:p>
        </p:txBody>
      </p:sp>
      <p:sp>
        <p:nvSpPr>
          <p:cNvPr id="28" name="Pill"/>
          <p:cNvSpPr/>
          <p:nvPr/>
        </p:nvSpPr>
        <p:spPr>
          <a:xfrm>
            <a:off x="4983480" y="4206240"/>
            <a:ext cx="3566160" cy="365760"/>
          </a:xfrm>
          <a:prstGeom prst="roundRect">
            <a:avLst>
              <a:gd name="adj" fmla="val 50000"/>
            </a:avLst>
          </a:prstGeom>
          <a:solidFill>
            <a:srgbClr val="D3BDF7"/>
          </a:solidFill>
          <a:ln w="19050">
            <a:solidFill>
              <a:srgbClr val="3B2F5C"/>
            </a:solidFill>
            <a:prstDash val="solid"/>
          </a:ln>
        </p:spPr>
      </p:sp>
      <p:sp>
        <p:nvSpPr>
          <p:cNvPr id="29" name="Pill text"/>
          <p:cNvSpPr txBox="1"/>
          <p:nvPr/>
        </p:nvSpPr>
        <p:spPr>
          <a:xfrm>
            <a:off x="4983480" y="4206240"/>
            <a:ext cx="3566160" cy="365760"/>
          </a:xfrm>
          <a:prstGeom prst="rect">
            <a:avLst/>
          </a:prstGeom>
          <a:noFill/>
          <a:ln/>
        </p:spPr>
        <p:txBody>
          <a:bodyPr wrap="square" lIns="0" tIns="0" rIns="0" bIns="0" rtlCol="0" anchor="ctr"/>
          <a:lstStyle/>
          <a:p>
            <a:pPr marL="0" indent="0" algn="ctr">
              <a:buNone/>
            </a:pPr>
            <a:r>
              <a:rPr lang="en-US" sz="1300" b="1" dirty="0">
                <a:solidFill>
                  <a:srgbClr val="3B2F5C"/>
                </a:solidFill>
                <a:latin typeface="Calibri" pitchFamily="34" charset="0"/>
                <a:ea typeface="Calibri" pitchFamily="34" charset="-122"/>
                <a:cs typeface="Calibri" pitchFamily="34" charset="-120"/>
              </a:rPr>
              <a:t>Built around people and context</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B"/>
        </a:solidFill>
        <a:effectLst/>
      </p:bgPr>
    </p:bg>
    <p:spTree>
      <p:nvGrpSpPr>
        <p:cNvPr id="1" name=""/>
        <p:cNvGrpSpPr/>
        <p:nvPr/>
      </p:nvGrpSpPr>
      <p:grpSpPr>
        <a:xfrm>
          <a:off x="0" y="0"/>
          <a:ext cx="0" cy="0"/>
          <a:chOff x="0" y="0"/>
          <a:chExt cx="0" cy="0"/>
        </a:xfrm>
      </p:grpSpPr>
      <p:sp>
        <p:nvSpPr>
          <p:cNvPr id="2" name="Doodle blob 1"/>
          <p:cNvSpPr/>
          <p:nvPr/>
        </p:nvSpPr>
        <p:spPr>
          <a:xfrm>
            <a:off x="7863840" y="3566160"/>
            <a:ext cx="1828800" cy="1828800"/>
          </a:xfrm>
          <a:prstGeom prst="ellipse">
            <a:avLst/>
          </a:prstGeom>
          <a:solidFill>
            <a:srgbClr val="FDE4EC"/>
          </a:solidFill>
          <a:ln w="12700">
            <a:solidFill>
              <a:srgbClr val="FDE4EC"/>
            </a:solidFill>
            <a:prstDash val="solid"/>
          </a:ln>
        </p:spPr>
      </p:sp>
      <p:sp>
        <p:nvSpPr>
          <p:cNvPr id="3" name="Doodle blob 2"/>
          <p:cNvSpPr/>
          <p:nvPr/>
        </p:nvSpPr>
        <p:spPr>
          <a:xfrm>
            <a:off x="-731520" y="-731520"/>
            <a:ext cx="1645920" cy="1645920"/>
          </a:xfrm>
          <a:prstGeom prst="ellipse">
            <a:avLst/>
          </a:prstGeom>
          <a:solidFill>
            <a:srgbClr val="F9B8CC"/>
          </a:solidFill>
          <a:ln w="12700">
            <a:solidFill>
              <a:srgbClr val="F9B8CC"/>
            </a:solidFill>
            <a:prstDash val="solid"/>
          </a:ln>
        </p:spPr>
      </p:sp>
      <p:sp>
        <p:nvSpPr>
          <p:cNvPr id="4" name="Title"/>
          <p:cNvSpPr txBox="1"/>
          <p:nvPr/>
        </p:nvSpPr>
        <p:spPr>
          <a:xfrm>
            <a:off x="457200" y="713232"/>
            <a:ext cx="6675120" cy="457200"/>
          </a:xfrm>
          <a:prstGeom prst="rect">
            <a:avLst/>
          </a:prstGeom>
          <a:noFill/>
          <a:ln/>
        </p:spPr>
        <p:txBody>
          <a:bodyPr wrap="square" lIns="0" tIns="0" rIns="0" bIns="0" rtlCol="0" anchor="ctr"/>
          <a:lstStyle/>
          <a:p>
            <a:pPr marL="0" indent="0">
              <a:buNone/>
            </a:pPr>
            <a:r>
              <a:rPr lang="en-US" sz="2400" b="1" dirty="0">
                <a:solidFill>
                  <a:srgbClr val="3B2F5C"/>
                </a:solidFill>
                <a:latin typeface="Arial" pitchFamily="34" charset="0"/>
                <a:ea typeface="Arial" pitchFamily="34" charset="-122"/>
                <a:cs typeface="Arial" pitchFamily="34" charset="-120"/>
              </a:rPr>
              <a:t>Group Chat Notification Problem</a:t>
            </a:r>
            <a:endParaRPr lang="en-US" sz="2400" dirty="0"/>
          </a:p>
        </p:txBody>
      </p:sp>
      <p:sp>
        <p:nvSpPr>
          <p:cNvPr id="5" name="Idea badge"/>
          <p:cNvSpPr/>
          <p:nvPr/>
        </p:nvSpPr>
        <p:spPr>
          <a:xfrm>
            <a:off x="7589520" y="365760"/>
            <a:ext cx="777240" cy="777240"/>
          </a:xfrm>
          <a:prstGeom prst="ellipse">
            <a:avLst/>
          </a:prstGeom>
          <a:solidFill>
            <a:srgbClr val="F9B8CC"/>
          </a:solidFill>
          <a:ln w="25400">
            <a:solidFill>
              <a:srgbClr val="3B2F5C"/>
            </a:solidFill>
            <a:prstDash val="solid"/>
          </a:ln>
        </p:spPr>
      </p:sp>
      <p:sp>
        <p:nvSpPr>
          <p:cNvPr id="6" name="Idea number"/>
          <p:cNvSpPr txBox="1"/>
          <p:nvPr/>
        </p:nvSpPr>
        <p:spPr>
          <a:xfrm>
            <a:off x="7589520" y="365760"/>
            <a:ext cx="777240" cy="777240"/>
          </a:xfrm>
          <a:prstGeom prst="rect">
            <a:avLst/>
          </a:prstGeom>
          <a:noFill/>
          <a:ln/>
        </p:spPr>
        <p:txBody>
          <a:bodyPr wrap="square" lIns="0" tIns="0" rIns="0" bIns="0" rtlCol="0" anchor="ctr"/>
          <a:lstStyle/>
          <a:p>
            <a:pPr marL="0" indent="0" algn="ctr">
              <a:buNone/>
            </a:pPr>
            <a:r>
              <a:rPr lang="en-US" sz="2800" b="1" dirty="0">
                <a:solidFill>
                  <a:srgbClr val="3B2F5C"/>
                </a:solidFill>
                <a:latin typeface="Arial" pitchFamily="34" charset="0"/>
                <a:ea typeface="Arial" pitchFamily="34" charset="-122"/>
                <a:cs typeface="Arial" pitchFamily="34" charset="-120"/>
              </a:rPr>
              <a:t>1</a:t>
            </a:r>
            <a:endParaRPr lang="en-US" sz="2800" dirty="0"/>
          </a:p>
        </p:txBody>
      </p:sp>
      <p:sp>
        <p:nvSpPr>
          <p:cNvPr id="7" name="Text 5"/>
          <p:cNvSpPr txBox="1"/>
          <p:nvPr/>
        </p:nvSpPr>
        <p:spPr>
          <a:xfrm>
            <a:off x="457200" y="1188720"/>
            <a:ext cx="4572000" cy="228600"/>
          </a:xfrm>
          <a:prstGeom prst="rect">
            <a:avLst/>
          </a:prstGeom>
          <a:noFill/>
          <a:ln/>
        </p:spPr>
        <p:txBody>
          <a:bodyPr wrap="square" lIns="0" tIns="0" rIns="0" bIns="0" rtlCol="0" anchor="ctr"/>
          <a:lstStyle/>
          <a:p>
            <a:pPr marL="0" indent="0">
              <a:buNone/>
            </a:pPr>
            <a:r>
              <a:rPr lang="en-US" sz="1200" b="1" kern="0" spc="200" dirty="0">
                <a:solidFill>
                  <a:srgbClr val="6B6285"/>
                </a:solidFill>
                <a:latin typeface="Calibri" pitchFamily="34" charset="0"/>
                <a:ea typeface="Calibri" pitchFamily="34" charset="-122"/>
                <a:cs typeface="Calibri" pitchFamily="34" charset="-120"/>
              </a:rPr>
              <a:t>IDEA 1: THE PROBLEM</a:t>
            </a:r>
            <a:endParaRPr lang="en-US" sz="1200" dirty="0"/>
          </a:p>
        </p:txBody>
      </p:sp>
      <p:sp>
        <p:nvSpPr>
          <p:cNvPr id="8" name="Problem card"/>
          <p:cNvSpPr/>
          <p:nvPr/>
        </p:nvSpPr>
        <p:spPr>
          <a:xfrm>
            <a:off x="457200" y="1463040"/>
            <a:ext cx="8229600" cy="1005840"/>
          </a:xfrm>
          <a:prstGeom prst="roundRect">
            <a:avLst>
              <a:gd name="adj" fmla="val 12121"/>
            </a:avLst>
          </a:prstGeom>
          <a:solidFill>
            <a:srgbClr val="FDE4EC"/>
          </a:solidFill>
          <a:ln w="25400">
            <a:solidFill>
              <a:srgbClr val="3B2F5C"/>
            </a:solidFill>
            <a:prstDash val="solid"/>
          </a:ln>
        </p:spPr>
      </p:sp>
      <p:sp>
        <p:nvSpPr>
          <p:cNvPr id="9" name="Text 7"/>
          <p:cNvSpPr txBox="1"/>
          <p:nvPr/>
        </p:nvSpPr>
        <p:spPr>
          <a:xfrm>
            <a:off x="731520" y="1508760"/>
            <a:ext cx="7680960" cy="914400"/>
          </a:xfrm>
          <a:prstGeom prst="rect">
            <a:avLst/>
          </a:prstGeom>
          <a:noFill/>
          <a:ln/>
        </p:spPr>
        <p:txBody>
          <a:bodyPr wrap="square" lIns="0" tIns="0" rIns="0" bIns="0" rtlCol="0" anchor="ctr"/>
          <a:lstStyle/>
          <a:p>
            <a:pPr marL="0" indent="0">
              <a:buNone/>
            </a:pPr>
            <a:r>
              <a:rPr lang="en-US" sz="1700" b="1" dirty="0">
                <a:solidFill>
                  <a:srgbClr val="3B2F5C"/>
                </a:solidFill>
                <a:latin typeface="Arial" pitchFamily="34" charset="0"/>
                <a:ea typeface="Arial" pitchFamily="34" charset="-122"/>
                <a:cs typeface="Arial" pitchFamily="34" charset="-120"/>
              </a:rPr>
              <a:t>“A meme and an urgent exam reminder get the same ping. The app can’t tell which one matters.”</a:t>
            </a:r>
            <a:endParaRPr lang="en-US" sz="1700" dirty="0"/>
          </a:p>
        </p:txBody>
      </p:sp>
      <p:sp>
        <p:nvSpPr>
          <p:cNvPr id="10" name="Empathy card"/>
          <p:cNvSpPr/>
          <p:nvPr/>
        </p:nvSpPr>
        <p:spPr>
          <a:xfrm>
            <a:off x="5532120" y="2834640"/>
            <a:ext cx="3154680" cy="1965960"/>
          </a:xfrm>
          <a:prstGeom prst="roundRect">
            <a:avLst>
              <a:gd name="adj" fmla="val 13333"/>
            </a:avLst>
          </a:prstGeom>
          <a:solidFill>
            <a:srgbClr val="FFFFFF"/>
          </a:solidFill>
          <a:ln w="19050">
            <a:solidFill>
              <a:srgbClr val="3B2F5C"/>
            </a:solidFill>
            <a:prstDash val="solid"/>
          </a:ln>
        </p:spPr>
      </p:sp>
      <p:sp>
        <p:nvSpPr>
          <p:cNvPr id="501" name="Story card"/>
          <p:cNvSpPr/>
          <p:nvPr/>
        </p:nvSpPr>
        <p:spPr>
          <a:xfrm>
            <a:off x="457200" y="2834640"/>
            <a:ext cx="4937760" cy="1965960"/>
          </a:xfrm>
          <a:prstGeom prst="roundRect">
            <a:avLst>
              <a:gd name="adj" fmla="val 13333"/>
            </a:avLst>
          </a:prstGeom>
          <a:solidFill>
            <a:srgbClr val="FDE4EC"/>
          </a:solidFill>
          <a:ln w="19050">
            <a:solidFill>
              <a:srgbClr val="3B2F5C"/>
            </a:solidFill>
            <a:prstDash val="solid"/>
          </a:ln>
        </p:spPr>
      </p:sp>
      <p:sp>
        <p:nvSpPr>
          <p:cNvPr id="502" name="Story pill"/>
          <p:cNvSpPr/>
          <p:nvPr/>
        </p:nvSpPr>
        <p:spPr>
          <a:xfrm>
            <a:off x="640080" y="2651760"/>
            <a:ext cx="1920240" cy="365760"/>
          </a:xfrm>
          <a:prstGeom prst="roundRect">
            <a:avLst>
              <a:gd name="adj" fmla="val 50000"/>
            </a:avLst>
          </a:prstGeom>
          <a:solidFill>
            <a:srgbClr val="F9B8CC"/>
          </a:solidFill>
          <a:ln w="19050">
            <a:solidFill>
              <a:srgbClr val="3B2F5C"/>
            </a:solidFill>
            <a:prstDash val="solid"/>
          </a:ln>
        </p:spPr>
      </p:sp>
      <p:sp>
        <p:nvSpPr>
          <p:cNvPr id="503" name="Story pill text"/>
          <p:cNvSpPr txBox="1"/>
          <p:nvPr/>
        </p:nvSpPr>
        <p:spPr>
          <a:xfrm>
            <a:off x="640080" y="2651760"/>
            <a:ext cx="1920240" cy="365760"/>
          </a:xfrm>
          <a:prstGeom prst="rect">
            <a:avLst/>
          </a:prstGeom>
          <a:noFill/>
          <a:ln/>
        </p:spPr>
        <p:txBody>
          <a:bodyPr wrap="square" lIns="0" tIns="0" rIns="0" bIns="0" rtlCol="0" anchor="ctr"/>
          <a:lstStyle/>
          <a:p>
            <a:pPr marL="0" indent="0" algn="ctr">
              <a:buNone/>
            </a:pPr>
            <a:r>
              <a:rPr lang="en-US" sz="1300" b="1" dirty="0">
                <a:solidFill>
                  <a:srgbClr val="3B2F5C"/>
                </a:solidFill>
                <a:latin typeface="Calibri"/>
              </a:rPr>
              <a:t>Meet Varun</a:t>
            </a:r>
          </a:p>
        </p:txBody>
      </p:sp>
      <p:sp>
        <p:nvSpPr>
          <p:cNvPr id="504" name="Story text"/>
          <p:cNvSpPr txBox="1"/>
          <p:nvPr/>
        </p:nvSpPr>
        <p:spPr>
          <a:xfrm>
            <a:off x="640080" y="2971800"/>
            <a:ext cx="4572000" cy="1737360"/>
          </a:xfrm>
          <a:prstGeom prst="rect">
            <a:avLst/>
          </a:prstGeom>
          <a:noFill/>
          <a:ln/>
        </p:spPr>
        <p:txBody>
          <a:bodyPr wrap="square" lIns="0" tIns="0" rIns="0" bIns="0" rtlCol="0" anchor="ctr"/>
          <a:lstStyle/>
          <a:p>
            <a:pPr marL="0" indent="0" algn="l">
              <a:buNone/>
            </a:pPr>
            <a:r>
              <a:rPr lang="en-US" sz="1300" dirty="0">
                <a:solidFill>
                  <a:srgbClr val="3B2F5C"/>
                </a:solidFill>
                <a:latin typeface="Calibri"/>
              </a:rPr>
              <a:t>Varun is a first-year student. His 24-member class group pings all day with memes, “anyone have notes?” and good-morning forwards, so he muted it. Last Thursday the one message about a changed exam hall got buried in there. He found out 20 minutes before the paper and ran across campus with his heart pounding.</a:t>
            </a:r>
          </a:p>
        </p:txBody>
      </p:sp>
      <p:sp>
        <p:nvSpPr>
          <p:cNvPr id="11" name="Pill"/>
          <p:cNvSpPr/>
          <p:nvPr/>
        </p:nvSpPr>
        <p:spPr>
          <a:xfrm>
            <a:off x="5715000" y="2651760"/>
            <a:ext cx="1463040" cy="365760"/>
          </a:xfrm>
          <a:prstGeom prst="roundRect">
            <a:avLst>
              <a:gd name="adj" fmla="val 50000"/>
            </a:avLst>
          </a:prstGeom>
          <a:solidFill>
            <a:srgbClr val="F9B8CC"/>
          </a:solidFill>
          <a:ln w="19050">
            <a:solidFill>
              <a:srgbClr val="3B2F5C"/>
            </a:solidFill>
            <a:prstDash val="solid"/>
          </a:ln>
        </p:spPr>
      </p:sp>
      <p:sp>
        <p:nvSpPr>
          <p:cNvPr id="12" name="Pill text"/>
          <p:cNvSpPr txBox="1"/>
          <p:nvPr/>
        </p:nvSpPr>
        <p:spPr>
          <a:xfrm>
            <a:off x="5715000" y="2651760"/>
            <a:ext cx="1463040" cy="365760"/>
          </a:xfrm>
          <a:prstGeom prst="rect">
            <a:avLst/>
          </a:prstGeom>
          <a:noFill/>
          <a:ln/>
        </p:spPr>
        <p:txBody>
          <a:bodyPr wrap="square" lIns="0" tIns="0" rIns="0" bIns="0" rtlCol="0" anchor="ctr"/>
          <a:lstStyle/>
          <a:p>
            <a:pPr marL="0" indent="0" algn="ctr">
              <a:buNone/>
            </a:pPr>
            <a:r>
              <a:rPr lang="en-US" sz="1300" b="1" dirty="0">
                <a:solidFill>
                  <a:srgbClr val="3B2F5C"/>
                </a:solidFill>
                <a:latin typeface="Calibri" pitchFamily="34" charset="0"/>
                <a:ea typeface="Calibri" pitchFamily="34" charset="-122"/>
                <a:cs typeface="Calibri" pitchFamily="34" charset="-120"/>
              </a:rPr>
              <a:t>Why it hurts</a:t>
            </a:r>
            <a:endParaRPr lang="en-US" sz="1300" dirty="0"/>
          </a:p>
        </p:txBody>
      </p:sp>
      <p:sp>
        <p:nvSpPr>
          <p:cNvPr id="13" name="Text 11"/>
          <p:cNvSpPr txBox="1"/>
          <p:nvPr/>
        </p:nvSpPr>
        <p:spPr>
          <a:xfrm>
            <a:off x="5715000" y="2971800"/>
            <a:ext cx="2788920" cy="1737360"/>
          </a:xfrm>
          <a:prstGeom prst="rect">
            <a:avLst/>
          </a:prstGeom>
          <a:noFill/>
          <a:ln/>
        </p:spPr>
        <p:txBody>
          <a:bodyPr wrap="square" lIns="0" tIns="0" rIns="0" bIns="0" rtlCol="0" anchor="ctr"/>
          <a:lstStyle/>
          <a:p>
            <a:pPr marL="0" indent="0">
              <a:buNone/>
            </a:pPr>
            <a:r>
              <a:rPr lang="en-US" sz="1300" dirty="0">
                <a:solidFill>
                  <a:srgbClr val="3B2F5C"/>
                </a:solidFill>
                <a:latin typeface="Calibri" pitchFamily="34" charset="0"/>
                <a:ea typeface="Calibri" pitchFamily="34" charset="-122"/>
                <a:cs typeface="Calibri" pitchFamily="34" charset="-120"/>
              </a:rPr>
              <a:t>Most notifications are noise, so we stop trusting all of them, and then we miss the one that matters. It leaves us anxious and a bit guilty.</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B"/>
        </a:solidFill>
        <a:effectLst/>
      </p:bgPr>
    </p:bg>
    <p:spTree>
      <p:nvGrpSpPr>
        <p:cNvPr id="1" name=""/>
        <p:cNvGrpSpPr/>
        <p:nvPr/>
      </p:nvGrpSpPr>
      <p:grpSpPr>
        <a:xfrm>
          <a:off x="0" y="0"/>
          <a:ext cx="0" cy="0"/>
          <a:chOff x="0" y="0"/>
          <a:chExt cx="0" cy="0"/>
        </a:xfrm>
      </p:grpSpPr>
      <p:sp>
        <p:nvSpPr>
          <p:cNvPr id="2" name="Doodle blob 1"/>
          <p:cNvSpPr/>
          <p:nvPr/>
        </p:nvSpPr>
        <p:spPr>
          <a:xfrm>
            <a:off x="8046720" y="4206240"/>
            <a:ext cx="1645920" cy="1645920"/>
          </a:xfrm>
          <a:prstGeom prst="ellipse">
            <a:avLst/>
          </a:prstGeom>
          <a:solidFill>
            <a:srgbClr val="FDE4EC"/>
          </a:solidFill>
          <a:ln w="12700">
            <a:solidFill>
              <a:srgbClr val="FDE4EC"/>
            </a:solidFill>
            <a:prstDash val="solid"/>
          </a:ln>
        </p:spPr>
      </p:sp>
      <p:sp>
        <p:nvSpPr>
          <p:cNvPr id="3" name="Doodle blob 2"/>
          <p:cNvSpPr/>
          <p:nvPr/>
        </p:nvSpPr>
        <p:spPr>
          <a:xfrm>
            <a:off x="-731520" y="4389120"/>
            <a:ext cx="1280160" cy="1280160"/>
          </a:xfrm>
          <a:prstGeom prst="ellipse">
            <a:avLst/>
          </a:prstGeom>
          <a:solidFill>
            <a:srgbClr val="FDE4EC"/>
          </a:solidFill>
          <a:ln w="12700">
            <a:solidFill>
              <a:srgbClr val="FDE4EC"/>
            </a:solidFill>
            <a:prstDash val="solid"/>
          </a:ln>
        </p:spPr>
      </p:sp>
      <p:sp>
        <p:nvSpPr>
          <p:cNvPr id="4" name="Title"/>
          <p:cNvSpPr txBox="1"/>
          <p:nvPr/>
        </p:nvSpPr>
        <p:spPr>
          <a:xfrm>
            <a:off x="457200" y="274320"/>
            <a:ext cx="6675120" cy="731520"/>
          </a:xfrm>
          <a:prstGeom prst="rect">
            <a:avLst/>
          </a:prstGeom>
          <a:noFill/>
          <a:ln/>
        </p:spPr>
        <p:txBody>
          <a:bodyPr wrap="square" lIns="0" tIns="0" rIns="0" bIns="0" rtlCol="0" anchor="ctr"/>
          <a:lstStyle/>
          <a:p>
            <a:pPr marL="0" indent="0">
              <a:buNone/>
            </a:pPr>
            <a:r>
              <a:rPr lang="en-US" sz="2400" b="1" dirty="0">
                <a:solidFill>
                  <a:srgbClr val="3B2F5C"/>
                </a:solidFill>
                <a:latin typeface="Arial" pitchFamily="34" charset="0"/>
                <a:ea typeface="Arial" pitchFamily="34" charset="-122"/>
                <a:cs typeface="Arial" pitchFamily="34" charset="-120"/>
              </a:rPr>
              <a:t>Idea 1: Our approach</a:t>
            </a:r>
            <a:endParaRPr lang="en-US" sz="2400" dirty="0"/>
          </a:p>
        </p:txBody>
      </p:sp>
      <p:sp>
        <p:nvSpPr>
          <p:cNvPr id="5" name="Idea badge"/>
          <p:cNvSpPr/>
          <p:nvPr/>
        </p:nvSpPr>
        <p:spPr>
          <a:xfrm>
            <a:off x="7589520" y="256032"/>
            <a:ext cx="777240" cy="777240"/>
          </a:xfrm>
          <a:prstGeom prst="ellipse">
            <a:avLst/>
          </a:prstGeom>
          <a:solidFill>
            <a:srgbClr val="F9B8CC"/>
          </a:solidFill>
          <a:ln w="25400">
            <a:solidFill>
              <a:srgbClr val="3B2F5C"/>
            </a:solidFill>
            <a:prstDash val="solid"/>
          </a:ln>
        </p:spPr>
      </p:sp>
      <p:sp>
        <p:nvSpPr>
          <p:cNvPr id="6" name="Idea number"/>
          <p:cNvSpPr txBox="1"/>
          <p:nvPr/>
        </p:nvSpPr>
        <p:spPr>
          <a:xfrm>
            <a:off x="7589520" y="256032"/>
            <a:ext cx="777240" cy="777240"/>
          </a:xfrm>
          <a:prstGeom prst="rect">
            <a:avLst/>
          </a:prstGeom>
          <a:noFill/>
          <a:ln/>
        </p:spPr>
        <p:txBody>
          <a:bodyPr wrap="square" lIns="0" tIns="0" rIns="0" bIns="0" rtlCol="0" anchor="ctr"/>
          <a:lstStyle/>
          <a:p>
            <a:pPr marL="0" indent="0" algn="ctr">
              <a:buNone/>
            </a:pPr>
            <a:r>
              <a:rPr lang="en-US" sz="2800" b="1" dirty="0">
                <a:solidFill>
                  <a:srgbClr val="3B2F5C"/>
                </a:solidFill>
                <a:latin typeface="Arial" pitchFamily="34" charset="0"/>
                <a:ea typeface="Arial" pitchFamily="34" charset="-122"/>
                <a:cs typeface="Arial" pitchFamily="34" charset="-120"/>
              </a:rPr>
              <a:t>1</a:t>
            </a:r>
            <a:endParaRPr lang="en-US" sz="2800" dirty="0"/>
          </a:p>
        </p:txBody>
      </p:sp>
      <p:sp>
        <p:nvSpPr>
          <p:cNvPr id="7" name="Card Our Approach"/>
          <p:cNvSpPr/>
          <p:nvPr/>
        </p:nvSpPr>
        <p:spPr>
          <a:xfrm>
            <a:off x="457200" y="1371600"/>
            <a:ext cx="2743200" cy="1828800"/>
          </a:xfrm>
          <a:prstGeom prst="roundRect">
            <a:avLst>
              <a:gd name="adj" fmla="val 7660"/>
            </a:avLst>
          </a:prstGeom>
          <a:solidFill>
            <a:srgbClr val="FDE4EC"/>
          </a:solidFill>
          <a:ln w="19050">
            <a:solidFill>
              <a:srgbClr val="3B2F5C"/>
            </a:solidFill>
            <a:prstDash val="solid"/>
          </a:ln>
        </p:spPr>
      </p:sp>
      <p:sp>
        <p:nvSpPr>
          <p:cNvPr id="8" name="Pill"/>
          <p:cNvSpPr/>
          <p:nvPr/>
        </p:nvSpPr>
        <p:spPr>
          <a:xfrm>
            <a:off x="640080" y="1188720"/>
            <a:ext cx="1737360" cy="365760"/>
          </a:xfrm>
          <a:prstGeom prst="roundRect">
            <a:avLst>
              <a:gd name="adj" fmla="val 50000"/>
            </a:avLst>
          </a:prstGeom>
          <a:solidFill>
            <a:srgbClr val="F9B8CC"/>
          </a:solidFill>
          <a:ln w="19050">
            <a:solidFill>
              <a:srgbClr val="3B2F5C"/>
            </a:solidFill>
            <a:prstDash val="solid"/>
          </a:ln>
        </p:spPr>
      </p:sp>
      <p:sp>
        <p:nvSpPr>
          <p:cNvPr id="9" name="Pill text"/>
          <p:cNvSpPr txBox="1"/>
          <p:nvPr/>
        </p:nvSpPr>
        <p:spPr>
          <a:xfrm>
            <a:off x="640080" y="1188720"/>
            <a:ext cx="1737360" cy="365760"/>
          </a:xfrm>
          <a:prstGeom prst="rect">
            <a:avLst/>
          </a:prstGeom>
          <a:noFill/>
          <a:ln/>
        </p:spPr>
        <p:txBody>
          <a:bodyPr wrap="square" lIns="0" tIns="0" rIns="0" bIns="0" rtlCol="0" anchor="ctr"/>
          <a:lstStyle/>
          <a:p>
            <a:pPr marL="0" indent="0" algn="ctr">
              <a:buNone/>
            </a:pPr>
            <a:r>
              <a:rPr lang="en-US" sz="1300" b="1" dirty="0">
                <a:solidFill>
                  <a:srgbClr val="3B2F5C"/>
                </a:solidFill>
                <a:latin typeface="Calibri" pitchFamily="34" charset="0"/>
                <a:ea typeface="Calibri" pitchFamily="34" charset="-122"/>
                <a:cs typeface="Calibri" pitchFamily="34" charset="-120"/>
              </a:rPr>
              <a:t>Our Approach</a:t>
            </a:r>
            <a:endParaRPr lang="en-US" sz="1300" dirty="0"/>
          </a:p>
        </p:txBody>
      </p:sp>
      <p:sp>
        <p:nvSpPr>
          <p:cNvPr id="10" name="Text 8"/>
          <p:cNvSpPr txBox="1"/>
          <p:nvPr/>
        </p:nvSpPr>
        <p:spPr>
          <a:xfrm>
            <a:off x="621792" y="1645920"/>
            <a:ext cx="2423160" cy="1463040"/>
          </a:xfrm>
          <a:prstGeom prst="rect">
            <a:avLst/>
          </a:prstGeom>
          <a:noFill/>
          <a:ln/>
        </p:spPr>
        <p:txBody>
          <a:bodyPr wrap="square" lIns="0" tIns="0" rIns="0" bIns="0" rtlCol="0" anchor="ctr"/>
          <a:lstStyle/>
          <a:p>
            <a:pPr marL="0" indent="0">
              <a:buNone/>
            </a:pPr>
            <a:r>
              <a:rPr lang="en-US" sz="1300" dirty="0">
                <a:solidFill>
                  <a:srgbClr val="3B2F5C"/>
                </a:solidFill>
                <a:latin typeface="Calibri" pitchFamily="34" charset="0"/>
                <a:ea typeface="Calibri" pitchFamily="34" charset="-122"/>
                <a:cs typeface="Calibri" pitchFamily="34" charset="-120"/>
              </a:rPr>
              <a:t>Ranks notifications by who sent them and how urgent the message sounds (NLP), and learns from how you respond over time.</a:t>
            </a:r>
            <a:endParaRPr lang="en-US" sz="1300" dirty="0"/>
          </a:p>
        </p:txBody>
      </p:sp>
      <p:sp>
        <p:nvSpPr>
          <p:cNvPr id="11" name="Card Key Inputs"/>
          <p:cNvSpPr/>
          <p:nvPr/>
        </p:nvSpPr>
        <p:spPr>
          <a:xfrm>
            <a:off x="3337560" y="1371600"/>
            <a:ext cx="2743200" cy="1828800"/>
          </a:xfrm>
          <a:prstGeom prst="roundRect">
            <a:avLst>
              <a:gd name="adj" fmla="val 7660"/>
            </a:avLst>
          </a:prstGeom>
          <a:solidFill>
            <a:srgbClr val="FFFFFF"/>
          </a:solidFill>
          <a:ln w="19050">
            <a:solidFill>
              <a:srgbClr val="3B2F5C"/>
            </a:solidFill>
            <a:prstDash val="solid"/>
          </a:ln>
        </p:spPr>
      </p:sp>
      <p:sp>
        <p:nvSpPr>
          <p:cNvPr id="12" name="Pill"/>
          <p:cNvSpPr/>
          <p:nvPr/>
        </p:nvSpPr>
        <p:spPr>
          <a:xfrm>
            <a:off x="3520440" y="1188720"/>
            <a:ext cx="1737360" cy="365760"/>
          </a:xfrm>
          <a:prstGeom prst="roundRect">
            <a:avLst>
              <a:gd name="adj" fmla="val 50000"/>
            </a:avLst>
          </a:prstGeom>
          <a:solidFill>
            <a:srgbClr val="F9B8CC"/>
          </a:solidFill>
          <a:ln w="19050">
            <a:solidFill>
              <a:srgbClr val="3B2F5C"/>
            </a:solidFill>
            <a:prstDash val="solid"/>
          </a:ln>
        </p:spPr>
      </p:sp>
      <p:sp>
        <p:nvSpPr>
          <p:cNvPr id="13" name="Pill text"/>
          <p:cNvSpPr txBox="1"/>
          <p:nvPr/>
        </p:nvSpPr>
        <p:spPr>
          <a:xfrm>
            <a:off x="3520440" y="1188720"/>
            <a:ext cx="1737360" cy="365760"/>
          </a:xfrm>
          <a:prstGeom prst="rect">
            <a:avLst/>
          </a:prstGeom>
          <a:noFill/>
          <a:ln/>
        </p:spPr>
        <p:txBody>
          <a:bodyPr wrap="square" lIns="0" tIns="0" rIns="0" bIns="0" rtlCol="0" anchor="ctr"/>
          <a:lstStyle/>
          <a:p>
            <a:pPr marL="0" indent="0" algn="ctr">
              <a:buNone/>
            </a:pPr>
            <a:r>
              <a:rPr lang="en-US" sz="1300" b="1" dirty="0">
                <a:solidFill>
                  <a:srgbClr val="3B2F5C"/>
                </a:solidFill>
                <a:latin typeface="Calibri" pitchFamily="34" charset="0"/>
                <a:ea typeface="Calibri" pitchFamily="34" charset="-122"/>
                <a:cs typeface="Calibri" pitchFamily="34" charset="-120"/>
              </a:rPr>
              <a:t>Key Inputs</a:t>
            </a:r>
            <a:endParaRPr lang="en-US" sz="1300" dirty="0"/>
          </a:p>
        </p:txBody>
      </p:sp>
      <p:sp>
        <p:nvSpPr>
          <p:cNvPr id="14" name="Text 12"/>
          <p:cNvSpPr txBox="1"/>
          <p:nvPr/>
        </p:nvSpPr>
        <p:spPr>
          <a:xfrm>
            <a:off x="3502152" y="1645920"/>
            <a:ext cx="2423160" cy="1463040"/>
          </a:xfrm>
          <a:prstGeom prst="rect">
            <a:avLst/>
          </a:prstGeom>
          <a:noFill/>
          <a:ln/>
        </p:spPr>
        <p:txBody>
          <a:bodyPr wrap="square" lIns="0" tIns="0" rIns="0" bIns="0" rtlCol="0" anchor="ctr"/>
          <a:lstStyle/>
          <a:p>
            <a:pPr marL="342900" indent="-342900">
              <a:spcAft>
                <a:spcPts val="400"/>
              </a:spcAft>
              <a:buSzPct val="100000"/>
              <a:buChar char="•"/>
            </a:pPr>
            <a:r>
              <a:rPr lang="en-US" sz="1300" dirty="0">
                <a:solidFill>
                  <a:srgbClr val="3B2F5C"/>
                </a:solidFill>
                <a:latin typeface="Calibri" pitchFamily="34" charset="0"/>
                <a:ea typeface="Calibri" pitchFamily="34" charset="-122"/>
                <a:cs typeface="Calibri" pitchFamily="34" charset="-120"/>
              </a:rPr>
              <a:t>Sender (friend, family, class, etc.)</a:t>
            </a:r>
            <a:endParaRPr lang="en-US" sz="1300" dirty="0"/>
          </a:p>
          <a:p>
            <a:pPr marL="342900" indent="-342900">
              <a:spcAft>
                <a:spcPts val="400"/>
              </a:spcAft>
              <a:buSzPct val="100000"/>
              <a:buChar char="•"/>
            </a:pPr>
            <a:r>
              <a:rPr lang="en-US" sz="1300" dirty="0">
                <a:solidFill>
                  <a:srgbClr val="3B2F5C"/>
                </a:solidFill>
                <a:latin typeface="Calibri" pitchFamily="34" charset="0"/>
                <a:ea typeface="Calibri" pitchFamily="34" charset="-122"/>
                <a:cs typeface="Calibri" pitchFamily="34" charset="-120"/>
              </a:rPr>
              <a:t>Message content (text analysis)</a:t>
            </a:r>
            <a:endParaRPr lang="en-US" sz="1300" dirty="0"/>
          </a:p>
          <a:p>
            <a:pPr marL="342900" indent="-342900">
              <a:spcAft>
                <a:spcPts val="400"/>
              </a:spcAft>
              <a:buSzPct val="100000"/>
              <a:buChar char="•"/>
            </a:pPr>
            <a:r>
              <a:rPr lang="en-US" sz="1300" dirty="0">
                <a:solidFill>
                  <a:srgbClr val="3B2F5C"/>
                </a:solidFill>
                <a:latin typeface="Calibri" pitchFamily="34" charset="0"/>
                <a:ea typeface="Calibri" pitchFamily="34" charset="-122"/>
                <a:cs typeface="Calibri" pitchFamily="34" charset="-120"/>
              </a:rPr>
              <a:t>Past response behaviour</a:t>
            </a:r>
            <a:endParaRPr lang="en-US" sz="1300" dirty="0"/>
          </a:p>
        </p:txBody>
      </p:sp>
      <p:sp>
        <p:nvSpPr>
          <p:cNvPr id="15" name="Card Expected Outcome"/>
          <p:cNvSpPr/>
          <p:nvPr/>
        </p:nvSpPr>
        <p:spPr>
          <a:xfrm>
            <a:off x="6217920" y="1371600"/>
            <a:ext cx="2468880" cy="1828800"/>
          </a:xfrm>
          <a:prstGeom prst="roundRect">
            <a:avLst>
              <a:gd name="adj" fmla="val 7660"/>
            </a:avLst>
          </a:prstGeom>
          <a:solidFill>
            <a:srgbClr val="FDE4EC"/>
          </a:solidFill>
          <a:ln w="19050">
            <a:solidFill>
              <a:srgbClr val="3B2F5C"/>
            </a:solidFill>
            <a:prstDash val="solid"/>
          </a:ln>
        </p:spPr>
      </p:sp>
      <p:sp>
        <p:nvSpPr>
          <p:cNvPr id="16" name="Pill"/>
          <p:cNvSpPr/>
          <p:nvPr/>
        </p:nvSpPr>
        <p:spPr>
          <a:xfrm>
            <a:off x="6400800" y="1188720"/>
            <a:ext cx="1737360" cy="365760"/>
          </a:xfrm>
          <a:prstGeom prst="roundRect">
            <a:avLst>
              <a:gd name="adj" fmla="val 50000"/>
            </a:avLst>
          </a:prstGeom>
          <a:solidFill>
            <a:srgbClr val="F9B8CC"/>
          </a:solidFill>
          <a:ln w="19050">
            <a:solidFill>
              <a:srgbClr val="3B2F5C"/>
            </a:solidFill>
            <a:prstDash val="solid"/>
          </a:ln>
        </p:spPr>
      </p:sp>
      <p:sp>
        <p:nvSpPr>
          <p:cNvPr id="17" name="Pill text"/>
          <p:cNvSpPr txBox="1"/>
          <p:nvPr/>
        </p:nvSpPr>
        <p:spPr>
          <a:xfrm>
            <a:off x="6400800" y="1188720"/>
            <a:ext cx="1737360" cy="365760"/>
          </a:xfrm>
          <a:prstGeom prst="rect">
            <a:avLst/>
          </a:prstGeom>
          <a:noFill/>
          <a:ln/>
        </p:spPr>
        <p:txBody>
          <a:bodyPr wrap="square" lIns="0" tIns="0" rIns="0" bIns="0" rtlCol="0" anchor="ctr"/>
          <a:lstStyle/>
          <a:p>
            <a:pPr marL="0" indent="0" algn="ctr">
              <a:buNone/>
            </a:pPr>
            <a:r>
              <a:rPr lang="en-US" sz="1300" b="1" dirty="0">
                <a:solidFill>
                  <a:srgbClr val="3B2F5C"/>
                </a:solidFill>
                <a:latin typeface="Calibri" pitchFamily="34" charset="0"/>
                <a:ea typeface="Calibri" pitchFamily="34" charset="-122"/>
                <a:cs typeface="Calibri" pitchFamily="34" charset="-120"/>
              </a:rPr>
              <a:t>Expected Outcome</a:t>
            </a:r>
            <a:endParaRPr lang="en-US" sz="1300" dirty="0"/>
          </a:p>
        </p:txBody>
      </p:sp>
      <p:sp>
        <p:nvSpPr>
          <p:cNvPr id="18" name="Text 16"/>
          <p:cNvSpPr txBox="1"/>
          <p:nvPr/>
        </p:nvSpPr>
        <p:spPr>
          <a:xfrm>
            <a:off x="6382512" y="1645920"/>
            <a:ext cx="2148840" cy="1463040"/>
          </a:xfrm>
          <a:prstGeom prst="rect">
            <a:avLst/>
          </a:prstGeom>
          <a:noFill/>
          <a:ln/>
        </p:spPr>
        <p:txBody>
          <a:bodyPr wrap="square" lIns="0" tIns="0" rIns="0" bIns="0" rtlCol="0" anchor="ctr"/>
          <a:lstStyle/>
          <a:p>
            <a:pPr marL="0" indent="0">
              <a:buNone/>
            </a:pPr>
            <a:r>
              <a:rPr lang="en-US" sz="1300" dirty="0">
                <a:solidFill>
                  <a:srgbClr val="3B2F5C"/>
                </a:solidFill>
                <a:latin typeface="Calibri" pitchFamily="34" charset="0"/>
                <a:ea typeface="Calibri" pitchFamily="34" charset="-122"/>
                <a:cs typeface="Calibri" pitchFamily="34" charset="-120"/>
              </a:rPr>
              <a:t>Important messages stand out. Less distraction, more focus.</a:t>
            </a:r>
            <a:endParaRPr lang="en-US" sz="1300" dirty="0"/>
          </a:p>
        </p:txBody>
      </p:sp>
      <p:sp>
        <p:nvSpPr>
          <p:cNvPr id="505" name="Who card"/>
          <p:cNvSpPr/>
          <p:nvPr/>
        </p:nvSpPr>
        <p:spPr>
          <a:xfrm>
            <a:off x="457200" y="3520440"/>
            <a:ext cx="3131820" cy="1371600"/>
          </a:xfrm>
          <a:prstGeom prst="roundRect">
            <a:avLst>
              <a:gd name="adj" fmla="val 13333"/>
            </a:avLst>
          </a:prstGeom>
          <a:solidFill>
            <a:srgbClr val="FDE4EC"/>
          </a:solidFill>
          <a:ln w="19050">
            <a:solidFill>
              <a:srgbClr val="3B2F5C"/>
            </a:solidFill>
            <a:prstDash val="solid"/>
          </a:ln>
        </p:spPr>
      </p:sp>
      <p:sp>
        <p:nvSpPr>
          <p:cNvPr id="506" name="Buyer card"/>
          <p:cNvSpPr/>
          <p:nvPr/>
        </p:nvSpPr>
        <p:spPr>
          <a:xfrm>
            <a:off x="3726180" y="3520440"/>
            <a:ext cx="3131820" cy="1371600"/>
          </a:xfrm>
          <a:prstGeom prst="roundRect">
            <a:avLst>
              <a:gd name="adj" fmla="val 13333"/>
            </a:avLst>
          </a:prstGeom>
          <a:solidFill>
            <a:srgbClr val="FFFFFF"/>
          </a:solidFill>
          <a:ln w="19050">
            <a:solidFill>
              <a:srgbClr val="3B2F5C"/>
            </a:solidFill>
            <a:prstDash val="solid"/>
          </a:ln>
        </p:spPr>
      </p:sp>
      <p:sp>
        <p:nvSpPr>
          <p:cNvPr id="507" name="Who pill"/>
          <p:cNvSpPr/>
          <p:nvPr/>
        </p:nvSpPr>
        <p:spPr>
          <a:xfrm>
            <a:off x="640080" y="3337560"/>
            <a:ext cx="1828800" cy="365760"/>
          </a:xfrm>
          <a:prstGeom prst="roundRect">
            <a:avLst>
              <a:gd name="adj" fmla="val 50000"/>
            </a:avLst>
          </a:prstGeom>
          <a:solidFill>
            <a:srgbClr val="F9B8CC"/>
          </a:solidFill>
          <a:ln w="19050">
            <a:solidFill>
              <a:srgbClr val="3B2F5C"/>
            </a:solidFill>
            <a:prstDash val="solid"/>
          </a:ln>
        </p:spPr>
      </p:sp>
      <p:sp>
        <p:nvSpPr>
          <p:cNvPr id="508" name="Who pill text"/>
          <p:cNvSpPr txBox="1"/>
          <p:nvPr/>
        </p:nvSpPr>
        <p:spPr>
          <a:xfrm>
            <a:off x="640080" y="3337560"/>
            <a:ext cx="1828800" cy="365760"/>
          </a:xfrm>
          <a:prstGeom prst="rect">
            <a:avLst/>
          </a:prstGeom>
          <a:noFill/>
          <a:ln/>
        </p:spPr>
        <p:txBody>
          <a:bodyPr wrap="square" lIns="0" tIns="0" rIns="0" bIns="0" rtlCol="0" anchor="ctr"/>
          <a:lstStyle/>
          <a:p>
            <a:pPr marL="0" indent="0" algn="ctr">
              <a:buNone/>
            </a:pPr>
            <a:r>
              <a:rPr lang="en-US" sz="1300" b="1" dirty="0">
                <a:solidFill>
                  <a:srgbClr val="3B2F5C"/>
                </a:solidFill>
                <a:latin typeface="Calibri"/>
              </a:rPr>
              <a:t>Who it’s for</a:t>
            </a:r>
          </a:p>
        </p:txBody>
      </p:sp>
      <p:sp>
        <p:nvSpPr>
          <p:cNvPr id="509" name="Buyer pill"/>
          <p:cNvSpPr/>
          <p:nvPr/>
        </p:nvSpPr>
        <p:spPr>
          <a:xfrm>
            <a:off x="3909060" y="3337560"/>
            <a:ext cx="2286000" cy="365760"/>
          </a:xfrm>
          <a:prstGeom prst="roundRect">
            <a:avLst>
              <a:gd name="adj" fmla="val 50000"/>
            </a:avLst>
          </a:prstGeom>
          <a:solidFill>
            <a:srgbClr val="F9B8CC"/>
          </a:solidFill>
          <a:ln w="19050">
            <a:solidFill>
              <a:srgbClr val="3B2F5C"/>
            </a:solidFill>
            <a:prstDash val="solid"/>
          </a:ln>
        </p:spPr>
      </p:sp>
      <p:sp>
        <p:nvSpPr>
          <p:cNvPr id="510" name="Buyer pill text"/>
          <p:cNvSpPr txBox="1"/>
          <p:nvPr/>
        </p:nvSpPr>
        <p:spPr>
          <a:xfrm>
            <a:off x="3909060" y="3337560"/>
            <a:ext cx="2286000" cy="365760"/>
          </a:xfrm>
          <a:prstGeom prst="rect">
            <a:avLst/>
          </a:prstGeom>
          <a:noFill/>
          <a:ln/>
        </p:spPr>
        <p:txBody>
          <a:bodyPr wrap="square" lIns="0" tIns="0" rIns="0" bIns="0" rtlCol="0" anchor="ctr"/>
          <a:lstStyle/>
          <a:p>
            <a:pPr marL="0" indent="0" algn="ctr">
              <a:buNone/>
            </a:pPr>
            <a:r>
              <a:rPr lang="en-US" sz="1300" b="1" dirty="0">
                <a:solidFill>
                  <a:srgbClr val="3B2F5C"/>
                </a:solidFill>
                <a:latin typeface="Calibri"/>
              </a:rPr>
              <a:t>Who would buy it</a:t>
            </a:r>
          </a:p>
        </p:txBody>
      </p:sp>
      <p:sp>
        <p:nvSpPr>
          <p:cNvPr id="511" name="Who text"/>
          <p:cNvSpPr txBox="1"/>
          <p:nvPr/>
        </p:nvSpPr>
        <p:spPr>
          <a:xfrm>
            <a:off x="640080" y="3703320"/>
            <a:ext cx="2766060" cy="1143000"/>
          </a:xfrm>
          <a:prstGeom prst="rect">
            <a:avLst/>
          </a:prstGeom>
          <a:noFill/>
          <a:ln/>
        </p:spPr>
        <p:txBody>
          <a:bodyPr wrap="square" lIns="0" tIns="0" rIns="0" bIns="0" rtlCol="0" anchor="ctr"/>
          <a:lstStyle/>
          <a:p>
            <a:pPr marL="0" indent="0" algn="l">
              <a:buNone/>
            </a:pPr>
            <a:r>
              <a:rPr lang="en-US" sz="1200" dirty="0">
                <a:solidFill>
                  <a:srgbClr val="3B2F5C"/>
                </a:solidFill>
                <a:latin typeface="Calibri"/>
              </a:rPr>
              <a:t>Students and young professionals stuck in group chats. They muted a noisy chat once for some peace and paid for it when something important slipped past.</a:t>
            </a:r>
          </a:p>
        </p:txBody>
      </p:sp>
      <p:sp>
        <p:nvSpPr>
          <p:cNvPr id="512" name="Buyer text"/>
          <p:cNvSpPr txBox="1"/>
          <p:nvPr/>
        </p:nvSpPr>
        <p:spPr>
          <a:xfrm>
            <a:off x="3909060" y="3703320"/>
            <a:ext cx="2766060" cy="1143000"/>
          </a:xfrm>
          <a:prstGeom prst="rect">
            <a:avLst/>
          </a:prstGeom>
          <a:noFill/>
          <a:ln/>
        </p:spPr>
        <p:txBody>
          <a:bodyPr wrap="square" lIns="0" tIns="0" rIns="0" bIns="0" rtlCol="0" anchor="ctr"/>
          <a:lstStyle/>
          <a:p>
            <a:pPr marL="0" indent="0" algn="l">
              <a:buNone/>
            </a:pPr>
            <a:r>
              <a:rPr lang="en-US" sz="1200" dirty="0">
                <a:solidFill>
                  <a:srgbClr val="3B2F5C"/>
                </a:solidFill>
                <a:latin typeface="Calibri"/>
              </a:rPr>
              <a:t>Phone makers and messaging apps that want a premium Focus feature, and universities and employers who need urgent messages to be seen.</a:t>
            </a:r>
          </a:p>
        </p:txBody>
      </p:sp>
      <p:sp>
        <p:nvSpPr>
          <p:cNvPr id="21" name="Team tag"/>
          <p:cNvSpPr/>
          <p:nvPr/>
        </p:nvSpPr>
        <p:spPr>
          <a:xfrm>
            <a:off x="7040880" y="3520440"/>
            <a:ext cx="1645920" cy="1371600"/>
          </a:xfrm>
          <a:prstGeom prst="roundRect">
            <a:avLst>
              <a:gd name="adj" fmla="val 16364"/>
            </a:avLst>
          </a:prstGeom>
          <a:solidFill>
            <a:srgbClr val="F9B8CC"/>
          </a:solidFill>
          <a:ln w="19050">
            <a:solidFill>
              <a:srgbClr val="3B2F5C"/>
            </a:solidFill>
            <a:prstDash val="solid"/>
          </a:ln>
        </p:spPr>
      </p:sp>
      <p:sp>
        <p:nvSpPr>
          <p:cNvPr id="22" name="Text 20"/>
          <p:cNvSpPr txBox="1"/>
          <p:nvPr/>
        </p:nvSpPr>
        <p:spPr>
          <a:xfrm>
            <a:off x="7040880" y="3520440"/>
            <a:ext cx="1645920" cy="1371600"/>
          </a:xfrm>
          <a:prstGeom prst="rect">
            <a:avLst/>
          </a:prstGeom>
          <a:noFill/>
          <a:ln/>
        </p:spPr>
        <p:txBody>
          <a:bodyPr wrap="square" lIns="0" tIns="0" rIns="0" bIns="0" rtlCol="0" anchor="ctr"/>
          <a:lstStyle/>
          <a:p>
            <a:pPr marL="0" indent="0" algn="ctr">
              <a:buNone/>
            </a:pPr>
            <a:r>
              <a:rPr lang="en-US" sz="1200" b="1" dirty="0">
                <a:solidFill>
                  <a:srgbClr val="3B2F5C"/>
                </a:solidFill>
                <a:latin typeface="Calibri" pitchFamily="34" charset="0"/>
                <a:ea typeface="Calibri" pitchFamily="34" charset="-122"/>
                <a:cs typeface="Calibri" pitchFamily="34" charset="-120"/>
              </a:rPr>
              <a:t>Team</a:t>
            </a:r>
            <a:endParaRPr lang="en-US" sz="1200" dirty="0"/>
          </a:p>
          <a:p>
            <a:pPr marL="0" indent="0" algn="ctr">
              <a:buNone/>
            </a:pPr>
            <a:r>
              <a:rPr lang="en-US" sz="1300" dirty="0">
                <a:solidFill>
                  <a:srgbClr val="3B2F5C"/>
                </a:solidFill>
                <a:latin typeface="Calibri" pitchFamily="34" charset="0"/>
                <a:ea typeface="Calibri" pitchFamily="34" charset="-122"/>
                <a:cs typeface="Calibri" pitchFamily="34" charset="-120"/>
              </a:rPr>
              <a:t>Aman, Prince</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B"/>
        </a:solidFill>
        <a:effectLst/>
      </p:bgPr>
    </p:bg>
    <p:spTree>
      <p:nvGrpSpPr>
        <p:cNvPr id="1" name=""/>
        <p:cNvGrpSpPr/>
        <p:nvPr/>
      </p:nvGrpSpPr>
      <p:grpSpPr>
        <a:xfrm>
          <a:off x="0" y="0"/>
          <a:ext cx="0" cy="0"/>
          <a:chOff x="0" y="0"/>
          <a:chExt cx="0" cy="0"/>
        </a:xfrm>
      </p:grpSpPr>
      <p:sp>
        <p:nvSpPr>
          <p:cNvPr id="2" name="Doodle blob 1"/>
          <p:cNvSpPr/>
          <p:nvPr/>
        </p:nvSpPr>
        <p:spPr>
          <a:xfrm>
            <a:off x="7863840" y="3566160"/>
            <a:ext cx="1828800" cy="1828800"/>
          </a:xfrm>
          <a:prstGeom prst="ellipse">
            <a:avLst/>
          </a:prstGeom>
          <a:solidFill>
            <a:srgbClr val="FFE8D1"/>
          </a:solidFill>
          <a:ln w="12700">
            <a:solidFill>
              <a:srgbClr val="FFE8D1"/>
            </a:solidFill>
            <a:prstDash val="solid"/>
          </a:ln>
        </p:spPr>
      </p:sp>
      <p:sp>
        <p:nvSpPr>
          <p:cNvPr id="3" name="Doodle blob 2"/>
          <p:cNvSpPr/>
          <p:nvPr/>
        </p:nvSpPr>
        <p:spPr>
          <a:xfrm>
            <a:off x="-731520" y="-731520"/>
            <a:ext cx="1645920" cy="1645920"/>
          </a:xfrm>
          <a:prstGeom prst="ellipse">
            <a:avLst/>
          </a:prstGeom>
          <a:solidFill>
            <a:srgbClr val="FFBE85"/>
          </a:solidFill>
          <a:ln w="12700">
            <a:solidFill>
              <a:srgbClr val="FFBE85"/>
            </a:solidFill>
            <a:prstDash val="solid"/>
          </a:ln>
        </p:spPr>
      </p:sp>
      <p:sp>
        <p:nvSpPr>
          <p:cNvPr id="4" name="Title"/>
          <p:cNvSpPr txBox="1"/>
          <p:nvPr/>
        </p:nvSpPr>
        <p:spPr>
          <a:xfrm>
            <a:off x="457200" y="713232"/>
            <a:ext cx="6675120" cy="457200"/>
          </a:xfrm>
          <a:prstGeom prst="rect">
            <a:avLst/>
          </a:prstGeom>
          <a:noFill/>
          <a:ln/>
        </p:spPr>
        <p:txBody>
          <a:bodyPr wrap="square" lIns="0" tIns="0" rIns="0" bIns="0" rtlCol="0" anchor="ctr"/>
          <a:lstStyle/>
          <a:p>
            <a:pPr marL="0" indent="0">
              <a:buNone/>
            </a:pPr>
            <a:r>
              <a:rPr lang="en-US" sz="2100" b="1" dirty="0">
                <a:solidFill>
                  <a:srgbClr val="3B2F5C"/>
                </a:solidFill>
                <a:latin typeface="Arial" pitchFamily="34" charset="0"/>
                <a:ea typeface="Arial" pitchFamily="34" charset="-122"/>
                <a:cs typeface="Arial" pitchFamily="34" charset="-120"/>
              </a:rPr>
              <a:t>Autocorrect / Code-Switching Problem</a:t>
            </a:r>
            <a:endParaRPr lang="en-US" sz="2100" dirty="0"/>
          </a:p>
        </p:txBody>
      </p:sp>
      <p:sp>
        <p:nvSpPr>
          <p:cNvPr id="5" name="Idea badge"/>
          <p:cNvSpPr/>
          <p:nvPr/>
        </p:nvSpPr>
        <p:spPr>
          <a:xfrm>
            <a:off x="7589520" y="365760"/>
            <a:ext cx="777240" cy="777240"/>
          </a:xfrm>
          <a:prstGeom prst="ellipse">
            <a:avLst/>
          </a:prstGeom>
          <a:solidFill>
            <a:srgbClr val="FFBE85"/>
          </a:solidFill>
          <a:ln w="25400">
            <a:solidFill>
              <a:srgbClr val="3B2F5C"/>
            </a:solidFill>
            <a:prstDash val="solid"/>
          </a:ln>
        </p:spPr>
      </p:sp>
      <p:sp>
        <p:nvSpPr>
          <p:cNvPr id="6" name="Idea number"/>
          <p:cNvSpPr txBox="1"/>
          <p:nvPr/>
        </p:nvSpPr>
        <p:spPr>
          <a:xfrm>
            <a:off x="7589520" y="365760"/>
            <a:ext cx="777240" cy="777240"/>
          </a:xfrm>
          <a:prstGeom prst="rect">
            <a:avLst/>
          </a:prstGeom>
          <a:noFill/>
          <a:ln/>
        </p:spPr>
        <p:txBody>
          <a:bodyPr wrap="square" lIns="0" tIns="0" rIns="0" bIns="0" rtlCol="0" anchor="ctr"/>
          <a:lstStyle/>
          <a:p>
            <a:pPr marL="0" indent="0" algn="ctr">
              <a:buNone/>
            </a:pPr>
            <a:r>
              <a:rPr lang="en-US" sz="2800" b="1" dirty="0">
                <a:solidFill>
                  <a:srgbClr val="3B2F5C"/>
                </a:solidFill>
                <a:latin typeface="Arial" pitchFamily="34" charset="0"/>
                <a:ea typeface="Arial" pitchFamily="34" charset="-122"/>
                <a:cs typeface="Arial" pitchFamily="34" charset="-120"/>
              </a:rPr>
              <a:t>2</a:t>
            </a:r>
            <a:endParaRPr lang="en-US" sz="2800" dirty="0"/>
          </a:p>
        </p:txBody>
      </p:sp>
      <p:sp>
        <p:nvSpPr>
          <p:cNvPr id="7" name="Text 5"/>
          <p:cNvSpPr txBox="1"/>
          <p:nvPr/>
        </p:nvSpPr>
        <p:spPr>
          <a:xfrm>
            <a:off x="457200" y="1188720"/>
            <a:ext cx="4572000" cy="228600"/>
          </a:xfrm>
          <a:prstGeom prst="rect">
            <a:avLst/>
          </a:prstGeom>
          <a:noFill/>
          <a:ln/>
        </p:spPr>
        <p:txBody>
          <a:bodyPr wrap="square" lIns="0" tIns="0" rIns="0" bIns="0" rtlCol="0" anchor="ctr"/>
          <a:lstStyle/>
          <a:p>
            <a:pPr marL="0" indent="0">
              <a:buNone/>
            </a:pPr>
            <a:r>
              <a:rPr lang="en-US" sz="1200" b="1" kern="0" spc="200" dirty="0">
                <a:solidFill>
                  <a:srgbClr val="6B6285"/>
                </a:solidFill>
                <a:latin typeface="Calibri" pitchFamily="34" charset="0"/>
                <a:ea typeface="Calibri" pitchFamily="34" charset="-122"/>
                <a:cs typeface="Calibri" pitchFamily="34" charset="-120"/>
              </a:rPr>
              <a:t>IDEA 2: THE PROBLEM</a:t>
            </a:r>
            <a:endParaRPr lang="en-US" sz="1200" dirty="0"/>
          </a:p>
        </p:txBody>
      </p:sp>
      <p:sp>
        <p:nvSpPr>
          <p:cNvPr id="8" name="Problem card"/>
          <p:cNvSpPr/>
          <p:nvPr/>
        </p:nvSpPr>
        <p:spPr>
          <a:xfrm>
            <a:off x="457200" y="1463040"/>
            <a:ext cx="8229600" cy="1005840"/>
          </a:xfrm>
          <a:prstGeom prst="roundRect">
            <a:avLst>
              <a:gd name="adj" fmla="val 12121"/>
            </a:avLst>
          </a:prstGeom>
          <a:solidFill>
            <a:srgbClr val="FFE8D1"/>
          </a:solidFill>
          <a:ln w="25400">
            <a:solidFill>
              <a:srgbClr val="3B2F5C"/>
            </a:solidFill>
            <a:prstDash val="solid"/>
          </a:ln>
        </p:spPr>
      </p:sp>
      <p:sp>
        <p:nvSpPr>
          <p:cNvPr id="9" name="Text 7"/>
          <p:cNvSpPr txBox="1"/>
          <p:nvPr/>
        </p:nvSpPr>
        <p:spPr>
          <a:xfrm>
            <a:off x="731520" y="1508760"/>
            <a:ext cx="7680960" cy="914400"/>
          </a:xfrm>
          <a:prstGeom prst="rect">
            <a:avLst/>
          </a:prstGeom>
          <a:noFill/>
          <a:ln/>
        </p:spPr>
        <p:txBody>
          <a:bodyPr wrap="square" lIns="0" tIns="0" rIns="0" bIns="0" rtlCol="0" anchor="ctr"/>
          <a:lstStyle/>
          <a:p>
            <a:pPr marL="0" indent="0">
              <a:buNone/>
            </a:pPr>
            <a:r>
              <a:rPr lang="en-US" sz="1700" b="1" dirty="0">
                <a:solidFill>
                  <a:srgbClr val="3B2F5C"/>
                </a:solidFill>
                <a:latin typeface="Arial" pitchFamily="34" charset="0"/>
                <a:ea typeface="Arial" pitchFamily="34" charset="-122"/>
                <a:cs typeface="Arial" pitchFamily="34" charset="-120"/>
              </a:rPr>
              <a:t>“Keyboards are trained on default English, so typing in Hinglish or a regional language means fighting the phone instead of being helped by it.”</a:t>
            </a:r>
            <a:endParaRPr lang="en-US" sz="1700" dirty="0"/>
          </a:p>
        </p:txBody>
      </p:sp>
      <p:sp>
        <p:nvSpPr>
          <p:cNvPr id="10" name="Empathy card"/>
          <p:cNvSpPr/>
          <p:nvPr/>
        </p:nvSpPr>
        <p:spPr>
          <a:xfrm>
            <a:off x="5532120" y="2834640"/>
            <a:ext cx="3154680" cy="1965960"/>
          </a:xfrm>
          <a:prstGeom prst="roundRect">
            <a:avLst>
              <a:gd name="adj" fmla="val 13333"/>
            </a:avLst>
          </a:prstGeom>
          <a:solidFill>
            <a:srgbClr val="FFFFFF"/>
          </a:solidFill>
          <a:ln w="19050">
            <a:solidFill>
              <a:srgbClr val="3B2F5C"/>
            </a:solidFill>
            <a:prstDash val="solid"/>
          </a:ln>
        </p:spPr>
      </p:sp>
      <p:sp>
        <p:nvSpPr>
          <p:cNvPr id="513" name="Story card"/>
          <p:cNvSpPr/>
          <p:nvPr/>
        </p:nvSpPr>
        <p:spPr>
          <a:xfrm>
            <a:off x="457200" y="2834640"/>
            <a:ext cx="4937760" cy="1965960"/>
          </a:xfrm>
          <a:prstGeom prst="roundRect">
            <a:avLst>
              <a:gd name="adj" fmla="val 13333"/>
            </a:avLst>
          </a:prstGeom>
          <a:solidFill>
            <a:srgbClr val="FFE8D1"/>
          </a:solidFill>
          <a:ln w="19050">
            <a:solidFill>
              <a:srgbClr val="3B2F5C"/>
            </a:solidFill>
            <a:prstDash val="solid"/>
          </a:ln>
        </p:spPr>
      </p:sp>
      <p:sp>
        <p:nvSpPr>
          <p:cNvPr id="514" name="Story pill"/>
          <p:cNvSpPr/>
          <p:nvPr/>
        </p:nvSpPr>
        <p:spPr>
          <a:xfrm>
            <a:off x="640080" y="2651760"/>
            <a:ext cx="1920240" cy="365760"/>
          </a:xfrm>
          <a:prstGeom prst="roundRect">
            <a:avLst>
              <a:gd name="adj" fmla="val 50000"/>
            </a:avLst>
          </a:prstGeom>
          <a:solidFill>
            <a:srgbClr val="FFBE85"/>
          </a:solidFill>
          <a:ln w="19050">
            <a:solidFill>
              <a:srgbClr val="3B2F5C"/>
            </a:solidFill>
            <a:prstDash val="solid"/>
          </a:ln>
        </p:spPr>
      </p:sp>
      <p:sp>
        <p:nvSpPr>
          <p:cNvPr id="515" name="Story pill text"/>
          <p:cNvSpPr txBox="1"/>
          <p:nvPr/>
        </p:nvSpPr>
        <p:spPr>
          <a:xfrm>
            <a:off x="640080" y="2651760"/>
            <a:ext cx="1920240" cy="365760"/>
          </a:xfrm>
          <a:prstGeom prst="rect">
            <a:avLst/>
          </a:prstGeom>
          <a:noFill/>
          <a:ln/>
        </p:spPr>
        <p:txBody>
          <a:bodyPr wrap="square" lIns="0" tIns="0" rIns="0" bIns="0" rtlCol="0" anchor="ctr"/>
          <a:lstStyle/>
          <a:p>
            <a:pPr marL="0" indent="0" algn="ctr">
              <a:buNone/>
            </a:pPr>
            <a:r>
              <a:rPr lang="en-US" sz="1300" b="1" dirty="0">
                <a:solidFill>
                  <a:srgbClr val="3B2F5C"/>
                </a:solidFill>
                <a:latin typeface="Calibri"/>
              </a:rPr>
              <a:t>Meet Aryan</a:t>
            </a:r>
          </a:p>
        </p:txBody>
      </p:sp>
      <p:sp>
        <p:nvSpPr>
          <p:cNvPr id="516" name="Story text"/>
          <p:cNvSpPr txBox="1"/>
          <p:nvPr/>
        </p:nvSpPr>
        <p:spPr>
          <a:xfrm>
            <a:off x="640080" y="2971800"/>
            <a:ext cx="4572000" cy="1737360"/>
          </a:xfrm>
          <a:prstGeom prst="rect">
            <a:avLst/>
          </a:prstGeom>
          <a:noFill/>
          <a:ln/>
        </p:spPr>
        <p:txBody>
          <a:bodyPr wrap="square" lIns="0" tIns="0" rIns="0" bIns="0" rtlCol="0" anchor="ctr"/>
          <a:lstStyle/>
          <a:p>
            <a:pPr marL="0" indent="0" algn="l">
              <a:buNone/>
            </a:pPr>
            <a:r>
              <a:rPr lang="en-US" sz="1300" dirty="0">
                <a:solidFill>
                  <a:srgbClr val="3B2F5C"/>
                </a:solidFill>
                <a:latin typeface="Calibri"/>
              </a:rPr>
              <a:t>Aryan texts his mum in Hinglish, the way he actually speaks. His keyboard keeps “fixing” his words into ones he never meant, so his mum gets a message that makes no sense. He retypes it, sighs, and some days just writes stiff English to stop fighting his own phone.</a:t>
            </a:r>
          </a:p>
        </p:txBody>
      </p:sp>
      <p:sp>
        <p:nvSpPr>
          <p:cNvPr id="11" name="Pill"/>
          <p:cNvSpPr/>
          <p:nvPr/>
        </p:nvSpPr>
        <p:spPr>
          <a:xfrm>
            <a:off x="5715000" y="2651760"/>
            <a:ext cx="1463040" cy="365760"/>
          </a:xfrm>
          <a:prstGeom prst="roundRect">
            <a:avLst>
              <a:gd name="adj" fmla="val 50000"/>
            </a:avLst>
          </a:prstGeom>
          <a:solidFill>
            <a:srgbClr val="FFBE85"/>
          </a:solidFill>
          <a:ln w="19050">
            <a:solidFill>
              <a:srgbClr val="3B2F5C"/>
            </a:solidFill>
            <a:prstDash val="solid"/>
          </a:ln>
        </p:spPr>
      </p:sp>
      <p:sp>
        <p:nvSpPr>
          <p:cNvPr id="12" name="Pill text"/>
          <p:cNvSpPr txBox="1"/>
          <p:nvPr/>
        </p:nvSpPr>
        <p:spPr>
          <a:xfrm>
            <a:off x="5715000" y="2651760"/>
            <a:ext cx="1463040" cy="365760"/>
          </a:xfrm>
          <a:prstGeom prst="rect">
            <a:avLst/>
          </a:prstGeom>
          <a:noFill/>
          <a:ln/>
        </p:spPr>
        <p:txBody>
          <a:bodyPr wrap="square" lIns="0" tIns="0" rIns="0" bIns="0" rtlCol="0" anchor="ctr"/>
          <a:lstStyle/>
          <a:p>
            <a:pPr marL="0" indent="0" algn="ctr">
              <a:buNone/>
            </a:pPr>
            <a:r>
              <a:rPr lang="en-US" sz="1300" b="1" dirty="0">
                <a:solidFill>
                  <a:srgbClr val="3B2F5C"/>
                </a:solidFill>
                <a:latin typeface="Calibri" pitchFamily="34" charset="0"/>
                <a:ea typeface="Calibri" pitchFamily="34" charset="-122"/>
                <a:cs typeface="Calibri" pitchFamily="34" charset="-120"/>
              </a:rPr>
              <a:t>Why it hurts</a:t>
            </a:r>
            <a:endParaRPr lang="en-US" sz="1300" dirty="0"/>
          </a:p>
        </p:txBody>
      </p:sp>
      <p:sp>
        <p:nvSpPr>
          <p:cNvPr id="13" name="Text 11"/>
          <p:cNvSpPr txBox="1"/>
          <p:nvPr/>
        </p:nvSpPr>
        <p:spPr>
          <a:xfrm>
            <a:off x="5715000" y="2971800"/>
            <a:ext cx="2788920" cy="1737360"/>
          </a:xfrm>
          <a:prstGeom prst="rect">
            <a:avLst/>
          </a:prstGeom>
          <a:noFill/>
          <a:ln/>
        </p:spPr>
        <p:txBody>
          <a:bodyPr wrap="square" lIns="0" tIns="0" rIns="0" bIns="0" rtlCol="0" anchor="ctr"/>
          <a:lstStyle/>
          <a:p>
            <a:pPr marL="0" indent="0">
              <a:buNone/>
            </a:pPr>
            <a:r>
              <a:rPr lang="en-US" sz="1300" dirty="0">
                <a:solidFill>
                  <a:srgbClr val="3B2F5C"/>
                </a:solidFill>
                <a:latin typeface="Calibri" pitchFamily="34" charset="0"/>
                <a:ea typeface="Calibri" pitchFamily="34" charset="-122"/>
                <a:cs typeface="Calibri" pitchFamily="34" charset="-120"/>
              </a:rPr>
              <a:t>Mixing languages mid-sentence is how millions of us naturally talk. When a keyboard treats that as a mistake, it quietly tells us our way of speaking is wrong.</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B"/>
        </a:solidFill>
        <a:effectLst/>
      </p:bgPr>
    </p:bg>
    <p:spTree>
      <p:nvGrpSpPr>
        <p:cNvPr id="1" name=""/>
        <p:cNvGrpSpPr/>
        <p:nvPr/>
      </p:nvGrpSpPr>
      <p:grpSpPr>
        <a:xfrm>
          <a:off x="0" y="0"/>
          <a:ext cx="0" cy="0"/>
          <a:chOff x="0" y="0"/>
          <a:chExt cx="0" cy="0"/>
        </a:xfrm>
      </p:grpSpPr>
      <p:sp>
        <p:nvSpPr>
          <p:cNvPr id="2" name="Doodle blob 1"/>
          <p:cNvSpPr/>
          <p:nvPr/>
        </p:nvSpPr>
        <p:spPr>
          <a:xfrm>
            <a:off x="8046720" y="4206240"/>
            <a:ext cx="1645920" cy="1645920"/>
          </a:xfrm>
          <a:prstGeom prst="ellipse">
            <a:avLst/>
          </a:prstGeom>
          <a:solidFill>
            <a:srgbClr val="FFE8D1"/>
          </a:solidFill>
          <a:ln w="12700">
            <a:solidFill>
              <a:srgbClr val="FFE8D1"/>
            </a:solidFill>
            <a:prstDash val="solid"/>
          </a:ln>
        </p:spPr>
      </p:sp>
      <p:sp>
        <p:nvSpPr>
          <p:cNvPr id="3" name="Doodle blob 2"/>
          <p:cNvSpPr/>
          <p:nvPr/>
        </p:nvSpPr>
        <p:spPr>
          <a:xfrm>
            <a:off x="-731520" y="4389120"/>
            <a:ext cx="1280160" cy="1280160"/>
          </a:xfrm>
          <a:prstGeom prst="ellipse">
            <a:avLst/>
          </a:prstGeom>
          <a:solidFill>
            <a:srgbClr val="FFE8D1"/>
          </a:solidFill>
          <a:ln w="12700">
            <a:solidFill>
              <a:srgbClr val="FFE8D1"/>
            </a:solidFill>
            <a:prstDash val="solid"/>
          </a:ln>
        </p:spPr>
      </p:sp>
      <p:sp>
        <p:nvSpPr>
          <p:cNvPr id="4" name="Title"/>
          <p:cNvSpPr txBox="1"/>
          <p:nvPr/>
        </p:nvSpPr>
        <p:spPr>
          <a:xfrm>
            <a:off x="457200" y="274320"/>
            <a:ext cx="6675120" cy="731520"/>
          </a:xfrm>
          <a:prstGeom prst="rect">
            <a:avLst/>
          </a:prstGeom>
          <a:noFill/>
          <a:ln/>
        </p:spPr>
        <p:txBody>
          <a:bodyPr wrap="square" lIns="0" tIns="0" rIns="0" bIns="0" rtlCol="0" anchor="ctr"/>
          <a:lstStyle/>
          <a:p>
            <a:pPr marL="0" indent="0">
              <a:buNone/>
            </a:pPr>
            <a:r>
              <a:rPr lang="en-US" sz="2400" b="1" dirty="0">
                <a:solidFill>
                  <a:srgbClr val="3B2F5C"/>
                </a:solidFill>
                <a:latin typeface="Arial" pitchFamily="34" charset="0"/>
                <a:ea typeface="Arial" pitchFamily="34" charset="-122"/>
                <a:cs typeface="Arial" pitchFamily="34" charset="-120"/>
              </a:rPr>
              <a:t>Idea 2: Our approach</a:t>
            </a:r>
            <a:endParaRPr lang="en-US" sz="2400" dirty="0"/>
          </a:p>
        </p:txBody>
      </p:sp>
      <p:sp>
        <p:nvSpPr>
          <p:cNvPr id="5" name="Idea badge"/>
          <p:cNvSpPr/>
          <p:nvPr/>
        </p:nvSpPr>
        <p:spPr>
          <a:xfrm>
            <a:off x="7589520" y="256032"/>
            <a:ext cx="777240" cy="777240"/>
          </a:xfrm>
          <a:prstGeom prst="ellipse">
            <a:avLst/>
          </a:prstGeom>
          <a:solidFill>
            <a:srgbClr val="FFBE85"/>
          </a:solidFill>
          <a:ln w="25400">
            <a:solidFill>
              <a:srgbClr val="3B2F5C"/>
            </a:solidFill>
            <a:prstDash val="solid"/>
          </a:ln>
        </p:spPr>
      </p:sp>
      <p:sp>
        <p:nvSpPr>
          <p:cNvPr id="6" name="Idea number"/>
          <p:cNvSpPr txBox="1"/>
          <p:nvPr/>
        </p:nvSpPr>
        <p:spPr>
          <a:xfrm>
            <a:off x="7589520" y="256032"/>
            <a:ext cx="777240" cy="777240"/>
          </a:xfrm>
          <a:prstGeom prst="rect">
            <a:avLst/>
          </a:prstGeom>
          <a:noFill/>
          <a:ln/>
        </p:spPr>
        <p:txBody>
          <a:bodyPr wrap="square" lIns="0" tIns="0" rIns="0" bIns="0" rtlCol="0" anchor="ctr"/>
          <a:lstStyle/>
          <a:p>
            <a:pPr marL="0" indent="0" algn="ctr">
              <a:buNone/>
            </a:pPr>
            <a:r>
              <a:rPr lang="en-US" sz="2800" b="1" dirty="0">
                <a:solidFill>
                  <a:srgbClr val="3B2F5C"/>
                </a:solidFill>
                <a:latin typeface="Arial" pitchFamily="34" charset="0"/>
                <a:ea typeface="Arial" pitchFamily="34" charset="-122"/>
                <a:cs typeface="Arial" pitchFamily="34" charset="-120"/>
              </a:rPr>
              <a:t>2</a:t>
            </a:r>
            <a:endParaRPr lang="en-US" sz="2800" dirty="0"/>
          </a:p>
        </p:txBody>
      </p:sp>
      <p:sp>
        <p:nvSpPr>
          <p:cNvPr id="7" name="Card Our Approach"/>
          <p:cNvSpPr/>
          <p:nvPr/>
        </p:nvSpPr>
        <p:spPr>
          <a:xfrm>
            <a:off x="457200" y="1371600"/>
            <a:ext cx="2743200" cy="1828800"/>
          </a:xfrm>
          <a:prstGeom prst="roundRect">
            <a:avLst>
              <a:gd name="adj" fmla="val 7660"/>
            </a:avLst>
          </a:prstGeom>
          <a:solidFill>
            <a:srgbClr val="FFE8D1"/>
          </a:solidFill>
          <a:ln w="19050">
            <a:solidFill>
              <a:srgbClr val="3B2F5C"/>
            </a:solidFill>
            <a:prstDash val="solid"/>
          </a:ln>
        </p:spPr>
      </p:sp>
      <p:sp>
        <p:nvSpPr>
          <p:cNvPr id="8" name="Pill"/>
          <p:cNvSpPr/>
          <p:nvPr/>
        </p:nvSpPr>
        <p:spPr>
          <a:xfrm>
            <a:off x="640080" y="1188720"/>
            <a:ext cx="1737360" cy="365760"/>
          </a:xfrm>
          <a:prstGeom prst="roundRect">
            <a:avLst>
              <a:gd name="adj" fmla="val 50000"/>
            </a:avLst>
          </a:prstGeom>
          <a:solidFill>
            <a:srgbClr val="FFBE85"/>
          </a:solidFill>
          <a:ln w="19050">
            <a:solidFill>
              <a:srgbClr val="3B2F5C"/>
            </a:solidFill>
            <a:prstDash val="solid"/>
          </a:ln>
        </p:spPr>
      </p:sp>
      <p:sp>
        <p:nvSpPr>
          <p:cNvPr id="9" name="Pill text"/>
          <p:cNvSpPr txBox="1"/>
          <p:nvPr/>
        </p:nvSpPr>
        <p:spPr>
          <a:xfrm>
            <a:off x="640080" y="1188720"/>
            <a:ext cx="1737360" cy="365760"/>
          </a:xfrm>
          <a:prstGeom prst="rect">
            <a:avLst/>
          </a:prstGeom>
          <a:noFill/>
          <a:ln/>
        </p:spPr>
        <p:txBody>
          <a:bodyPr wrap="square" lIns="0" tIns="0" rIns="0" bIns="0" rtlCol="0" anchor="ctr"/>
          <a:lstStyle/>
          <a:p>
            <a:pPr marL="0" indent="0" algn="ctr">
              <a:buNone/>
            </a:pPr>
            <a:r>
              <a:rPr lang="en-US" sz="1300" b="1" dirty="0">
                <a:solidFill>
                  <a:srgbClr val="3B2F5C"/>
                </a:solidFill>
                <a:latin typeface="Calibri" pitchFamily="34" charset="0"/>
                <a:ea typeface="Calibri" pitchFamily="34" charset="-122"/>
                <a:cs typeface="Calibri" pitchFamily="34" charset="-120"/>
              </a:rPr>
              <a:t>Our Approach</a:t>
            </a:r>
            <a:endParaRPr lang="en-US" sz="1300" dirty="0"/>
          </a:p>
        </p:txBody>
      </p:sp>
      <p:sp>
        <p:nvSpPr>
          <p:cNvPr id="10" name="Text 8"/>
          <p:cNvSpPr txBox="1"/>
          <p:nvPr/>
        </p:nvSpPr>
        <p:spPr>
          <a:xfrm>
            <a:off x="621792" y="1645920"/>
            <a:ext cx="2423160" cy="1463040"/>
          </a:xfrm>
          <a:prstGeom prst="rect">
            <a:avLst/>
          </a:prstGeom>
          <a:noFill/>
          <a:ln/>
        </p:spPr>
        <p:txBody>
          <a:bodyPr wrap="square" lIns="0" tIns="0" rIns="0" bIns="0" rtlCol="0" anchor="ctr"/>
          <a:lstStyle/>
          <a:p>
            <a:pPr marL="0" indent="0">
              <a:buNone/>
            </a:pPr>
            <a:r>
              <a:rPr lang="en-US" sz="1300" dirty="0">
                <a:solidFill>
                  <a:srgbClr val="3B2F5C"/>
                </a:solidFill>
                <a:latin typeface="Calibri" pitchFamily="34" charset="0"/>
                <a:ea typeface="Calibri" pitchFamily="34" charset="-122"/>
                <a:cs typeface="Calibri" pitchFamily="34" charset="-120"/>
              </a:rPr>
              <a:t>A personalized on-device keyboard using federated learning. It learns your own Hinglish and regional patterns, and no data goes to servers.</a:t>
            </a:r>
            <a:endParaRPr lang="en-US" sz="1300" dirty="0"/>
          </a:p>
        </p:txBody>
      </p:sp>
      <p:sp>
        <p:nvSpPr>
          <p:cNvPr id="11" name="Card Key Inputs"/>
          <p:cNvSpPr/>
          <p:nvPr/>
        </p:nvSpPr>
        <p:spPr>
          <a:xfrm>
            <a:off x="3337560" y="1371600"/>
            <a:ext cx="2743200" cy="1828800"/>
          </a:xfrm>
          <a:prstGeom prst="roundRect">
            <a:avLst>
              <a:gd name="adj" fmla="val 7660"/>
            </a:avLst>
          </a:prstGeom>
          <a:solidFill>
            <a:srgbClr val="FFFFFF"/>
          </a:solidFill>
          <a:ln w="19050">
            <a:solidFill>
              <a:srgbClr val="3B2F5C"/>
            </a:solidFill>
            <a:prstDash val="solid"/>
          </a:ln>
        </p:spPr>
      </p:sp>
      <p:sp>
        <p:nvSpPr>
          <p:cNvPr id="12" name="Pill"/>
          <p:cNvSpPr/>
          <p:nvPr/>
        </p:nvSpPr>
        <p:spPr>
          <a:xfrm>
            <a:off x="3520440" y="1188720"/>
            <a:ext cx="1737360" cy="365760"/>
          </a:xfrm>
          <a:prstGeom prst="roundRect">
            <a:avLst>
              <a:gd name="adj" fmla="val 50000"/>
            </a:avLst>
          </a:prstGeom>
          <a:solidFill>
            <a:srgbClr val="FFBE85"/>
          </a:solidFill>
          <a:ln w="19050">
            <a:solidFill>
              <a:srgbClr val="3B2F5C"/>
            </a:solidFill>
            <a:prstDash val="solid"/>
          </a:ln>
        </p:spPr>
      </p:sp>
      <p:sp>
        <p:nvSpPr>
          <p:cNvPr id="13" name="Pill text"/>
          <p:cNvSpPr txBox="1"/>
          <p:nvPr/>
        </p:nvSpPr>
        <p:spPr>
          <a:xfrm>
            <a:off x="3520440" y="1188720"/>
            <a:ext cx="1737360" cy="365760"/>
          </a:xfrm>
          <a:prstGeom prst="rect">
            <a:avLst/>
          </a:prstGeom>
          <a:noFill/>
          <a:ln/>
        </p:spPr>
        <p:txBody>
          <a:bodyPr wrap="square" lIns="0" tIns="0" rIns="0" bIns="0" rtlCol="0" anchor="ctr"/>
          <a:lstStyle/>
          <a:p>
            <a:pPr marL="0" indent="0" algn="ctr">
              <a:buNone/>
            </a:pPr>
            <a:r>
              <a:rPr lang="en-US" sz="1300" b="1" dirty="0">
                <a:solidFill>
                  <a:srgbClr val="3B2F5C"/>
                </a:solidFill>
                <a:latin typeface="Calibri" pitchFamily="34" charset="0"/>
                <a:ea typeface="Calibri" pitchFamily="34" charset="-122"/>
                <a:cs typeface="Calibri" pitchFamily="34" charset="-120"/>
              </a:rPr>
              <a:t>Key Inputs</a:t>
            </a:r>
            <a:endParaRPr lang="en-US" sz="1300" dirty="0"/>
          </a:p>
        </p:txBody>
      </p:sp>
      <p:sp>
        <p:nvSpPr>
          <p:cNvPr id="14" name="Text 12"/>
          <p:cNvSpPr txBox="1"/>
          <p:nvPr/>
        </p:nvSpPr>
        <p:spPr>
          <a:xfrm>
            <a:off x="3502152" y="1645920"/>
            <a:ext cx="2423160" cy="1463040"/>
          </a:xfrm>
          <a:prstGeom prst="rect">
            <a:avLst/>
          </a:prstGeom>
          <a:noFill/>
          <a:ln/>
        </p:spPr>
        <p:txBody>
          <a:bodyPr wrap="square" lIns="0" tIns="0" rIns="0" bIns="0" rtlCol="0" anchor="ctr"/>
          <a:lstStyle/>
          <a:p>
            <a:pPr marL="342900" indent="-342900">
              <a:spcAft>
                <a:spcPts val="400"/>
              </a:spcAft>
              <a:buSzPct val="100000"/>
              <a:buChar char="•"/>
            </a:pPr>
            <a:r>
              <a:rPr lang="en-US" sz="1300" dirty="0">
                <a:solidFill>
                  <a:srgbClr val="3B2F5C"/>
                </a:solidFill>
                <a:latin typeface="Calibri" pitchFamily="34" charset="0"/>
                <a:ea typeface="Calibri" pitchFamily="34" charset="-122"/>
                <a:cs typeface="Calibri" pitchFamily="34" charset="-120"/>
              </a:rPr>
              <a:t>Your typing patterns</a:t>
            </a:r>
            <a:endParaRPr lang="en-US" sz="1300" dirty="0"/>
          </a:p>
          <a:p>
            <a:pPr marL="342900" indent="-342900">
              <a:spcAft>
                <a:spcPts val="400"/>
              </a:spcAft>
              <a:buSzPct val="100000"/>
              <a:buChar char="•"/>
            </a:pPr>
            <a:r>
              <a:rPr lang="en-US" sz="1300" dirty="0">
                <a:solidFill>
                  <a:srgbClr val="3B2F5C"/>
                </a:solidFill>
                <a:latin typeface="Calibri" pitchFamily="34" charset="0"/>
                <a:ea typeface="Calibri" pitchFamily="34" charset="-122"/>
                <a:cs typeface="Calibri" pitchFamily="34" charset="-120"/>
              </a:rPr>
              <a:t>Common words/phrases</a:t>
            </a:r>
            <a:endParaRPr lang="en-US" sz="1300" dirty="0"/>
          </a:p>
          <a:p>
            <a:pPr marL="342900" indent="-342900">
              <a:spcAft>
                <a:spcPts val="400"/>
              </a:spcAft>
              <a:buSzPct val="100000"/>
              <a:buChar char="•"/>
            </a:pPr>
            <a:r>
              <a:rPr lang="en-US" sz="1300" dirty="0">
                <a:solidFill>
                  <a:srgbClr val="3B2F5C"/>
                </a:solidFill>
                <a:latin typeface="Calibri" pitchFamily="34" charset="0"/>
                <a:ea typeface="Calibri" pitchFamily="34" charset="-122"/>
                <a:cs typeface="Calibri" pitchFamily="34" charset="-120"/>
              </a:rPr>
              <a:t>Language mix (English + Hindi/others)</a:t>
            </a:r>
            <a:endParaRPr lang="en-US" sz="1300" dirty="0"/>
          </a:p>
        </p:txBody>
      </p:sp>
      <p:sp>
        <p:nvSpPr>
          <p:cNvPr id="15" name="Card Expected Outcome"/>
          <p:cNvSpPr/>
          <p:nvPr/>
        </p:nvSpPr>
        <p:spPr>
          <a:xfrm>
            <a:off x="6217920" y="1371600"/>
            <a:ext cx="2468880" cy="1828800"/>
          </a:xfrm>
          <a:prstGeom prst="roundRect">
            <a:avLst>
              <a:gd name="adj" fmla="val 7660"/>
            </a:avLst>
          </a:prstGeom>
          <a:solidFill>
            <a:srgbClr val="FFE8D1"/>
          </a:solidFill>
          <a:ln w="19050">
            <a:solidFill>
              <a:srgbClr val="3B2F5C"/>
            </a:solidFill>
            <a:prstDash val="solid"/>
          </a:ln>
        </p:spPr>
      </p:sp>
      <p:sp>
        <p:nvSpPr>
          <p:cNvPr id="16" name="Pill"/>
          <p:cNvSpPr/>
          <p:nvPr/>
        </p:nvSpPr>
        <p:spPr>
          <a:xfrm>
            <a:off x="6400800" y="1188720"/>
            <a:ext cx="1737360" cy="365760"/>
          </a:xfrm>
          <a:prstGeom prst="roundRect">
            <a:avLst>
              <a:gd name="adj" fmla="val 50000"/>
            </a:avLst>
          </a:prstGeom>
          <a:solidFill>
            <a:srgbClr val="FFBE85"/>
          </a:solidFill>
          <a:ln w="19050">
            <a:solidFill>
              <a:srgbClr val="3B2F5C"/>
            </a:solidFill>
            <a:prstDash val="solid"/>
          </a:ln>
        </p:spPr>
      </p:sp>
      <p:sp>
        <p:nvSpPr>
          <p:cNvPr id="17" name="Pill text"/>
          <p:cNvSpPr txBox="1"/>
          <p:nvPr/>
        </p:nvSpPr>
        <p:spPr>
          <a:xfrm>
            <a:off x="6400800" y="1188720"/>
            <a:ext cx="1737360" cy="365760"/>
          </a:xfrm>
          <a:prstGeom prst="rect">
            <a:avLst/>
          </a:prstGeom>
          <a:noFill/>
          <a:ln/>
        </p:spPr>
        <p:txBody>
          <a:bodyPr wrap="square" lIns="0" tIns="0" rIns="0" bIns="0" rtlCol="0" anchor="ctr"/>
          <a:lstStyle/>
          <a:p>
            <a:pPr marL="0" indent="0" algn="ctr">
              <a:buNone/>
            </a:pPr>
            <a:r>
              <a:rPr lang="en-US" sz="1300" b="1" dirty="0">
                <a:solidFill>
                  <a:srgbClr val="3B2F5C"/>
                </a:solidFill>
                <a:latin typeface="Calibri" pitchFamily="34" charset="0"/>
                <a:ea typeface="Calibri" pitchFamily="34" charset="-122"/>
                <a:cs typeface="Calibri" pitchFamily="34" charset="-120"/>
              </a:rPr>
              <a:t>Expected Outcome</a:t>
            </a:r>
            <a:endParaRPr lang="en-US" sz="1300" dirty="0"/>
          </a:p>
        </p:txBody>
      </p:sp>
      <p:sp>
        <p:nvSpPr>
          <p:cNvPr id="18" name="Text 16"/>
          <p:cNvSpPr txBox="1"/>
          <p:nvPr/>
        </p:nvSpPr>
        <p:spPr>
          <a:xfrm>
            <a:off x="6382512" y="1645920"/>
            <a:ext cx="2148840" cy="1463040"/>
          </a:xfrm>
          <a:prstGeom prst="rect">
            <a:avLst/>
          </a:prstGeom>
          <a:noFill/>
          <a:ln/>
        </p:spPr>
        <p:txBody>
          <a:bodyPr wrap="square" lIns="0" tIns="0" rIns="0" bIns="0" rtlCol="0" anchor="ctr"/>
          <a:lstStyle/>
          <a:p>
            <a:pPr marL="0" indent="0">
              <a:buNone/>
            </a:pPr>
            <a:r>
              <a:rPr lang="en-US" sz="1300" dirty="0">
                <a:solidFill>
                  <a:srgbClr val="3B2F5C"/>
                </a:solidFill>
                <a:latin typeface="Calibri" pitchFamily="34" charset="0"/>
                <a:ea typeface="Calibri" pitchFamily="34" charset="-122"/>
                <a:cs typeface="Calibri" pitchFamily="34" charset="-120"/>
              </a:rPr>
              <a:t>Accurate, personalized suggestions that support the way you naturally type.</a:t>
            </a:r>
            <a:endParaRPr lang="en-US" sz="1300" dirty="0"/>
          </a:p>
        </p:txBody>
      </p:sp>
      <p:sp>
        <p:nvSpPr>
          <p:cNvPr id="517" name="Who card"/>
          <p:cNvSpPr/>
          <p:nvPr/>
        </p:nvSpPr>
        <p:spPr>
          <a:xfrm>
            <a:off x="457200" y="3520440"/>
            <a:ext cx="3131820" cy="1371600"/>
          </a:xfrm>
          <a:prstGeom prst="roundRect">
            <a:avLst>
              <a:gd name="adj" fmla="val 13333"/>
            </a:avLst>
          </a:prstGeom>
          <a:solidFill>
            <a:srgbClr val="FFE8D1"/>
          </a:solidFill>
          <a:ln w="19050">
            <a:solidFill>
              <a:srgbClr val="3B2F5C"/>
            </a:solidFill>
            <a:prstDash val="solid"/>
          </a:ln>
        </p:spPr>
      </p:sp>
      <p:sp>
        <p:nvSpPr>
          <p:cNvPr id="518" name="Buyer card"/>
          <p:cNvSpPr/>
          <p:nvPr/>
        </p:nvSpPr>
        <p:spPr>
          <a:xfrm>
            <a:off x="3726180" y="3520440"/>
            <a:ext cx="3131820" cy="1371600"/>
          </a:xfrm>
          <a:prstGeom prst="roundRect">
            <a:avLst>
              <a:gd name="adj" fmla="val 13333"/>
            </a:avLst>
          </a:prstGeom>
          <a:solidFill>
            <a:srgbClr val="FFFFFF"/>
          </a:solidFill>
          <a:ln w="19050">
            <a:solidFill>
              <a:srgbClr val="3B2F5C"/>
            </a:solidFill>
            <a:prstDash val="solid"/>
          </a:ln>
        </p:spPr>
      </p:sp>
      <p:sp>
        <p:nvSpPr>
          <p:cNvPr id="519" name="Who pill"/>
          <p:cNvSpPr/>
          <p:nvPr/>
        </p:nvSpPr>
        <p:spPr>
          <a:xfrm>
            <a:off x="640080" y="3337560"/>
            <a:ext cx="1828800" cy="365760"/>
          </a:xfrm>
          <a:prstGeom prst="roundRect">
            <a:avLst>
              <a:gd name="adj" fmla="val 50000"/>
            </a:avLst>
          </a:prstGeom>
          <a:solidFill>
            <a:srgbClr val="FFBE85"/>
          </a:solidFill>
          <a:ln w="19050">
            <a:solidFill>
              <a:srgbClr val="3B2F5C"/>
            </a:solidFill>
            <a:prstDash val="solid"/>
          </a:ln>
        </p:spPr>
      </p:sp>
      <p:sp>
        <p:nvSpPr>
          <p:cNvPr id="520" name="Who pill text"/>
          <p:cNvSpPr txBox="1"/>
          <p:nvPr/>
        </p:nvSpPr>
        <p:spPr>
          <a:xfrm>
            <a:off x="640080" y="3337560"/>
            <a:ext cx="1828800" cy="365760"/>
          </a:xfrm>
          <a:prstGeom prst="rect">
            <a:avLst/>
          </a:prstGeom>
          <a:noFill/>
          <a:ln/>
        </p:spPr>
        <p:txBody>
          <a:bodyPr wrap="square" lIns="0" tIns="0" rIns="0" bIns="0" rtlCol="0" anchor="ctr"/>
          <a:lstStyle/>
          <a:p>
            <a:pPr marL="0" indent="0" algn="ctr">
              <a:buNone/>
            </a:pPr>
            <a:r>
              <a:rPr lang="en-US" sz="1300" b="1" dirty="0">
                <a:solidFill>
                  <a:srgbClr val="3B2F5C"/>
                </a:solidFill>
                <a:latin typeface="Calibri"/>
              </a:rPr>
              <a:t>Who it’s for</a:t>
            </a:r>
          </a:p>
        </p:txBody>
      </p:sp>
      <p:sp>
        <p:nvSpPr>
          <p:cNvPr id="521" name="Buyer pill"/>
          <p:cNvSpPr/>
          <p:nvPr/>
        </p:nvSpPr>
        <p:spPr>
          <a:xfrm>
            <a:off x="3909060" y="3337560"/>
            <a:ext cx="2286000" cy="365760"/>
          </a:xfrm>
          <a:prstGeom prst="roundRect">
            <a:avLst>
              <a:gd name="adj" fmla="val 50000"/>
            </a:avLst>
          </a:prstGeom>
          <a:solidFill>
            <a:srgbClr val="FFBE85"/>
          </a:solidFill>
          <a:ln w="19050">
            <a:solidFill>
              <a:srgbClr val="3B2F5C"/>
            </a:solidFill>
            <a:prstDash val="solid"/>
          </a:ln>
        </p:spPr>
      </p:sp>
      <p:sp>
        <p:nvSpPr>
          <p:cNvPr id="522" name="Buyer pill text"/>
          <p:cNvSpPr txBox="1"/>
          <p:nvPr/>
        </p:nvSpPr>
        <p:spPr>
          <a:xfrm>
            <a:off x="3909060" y="3337560"/>
            <a:ext cx="2286000" cy="365760"/>
          </a:xfrm>
          <a:prstGeom prst="rect">
            <a:avLst/>
          </a:prstGeom>
          <a:noFill/>
          <a:ln/>
        </p:spPr>
        <p:txBody>
          <a:bodyPr wrap="square" lIns="0" tIns="0" rIns="0" bIns="0" rtlCol="0" anchor="ctr"/>
          <a:lstStyle/>
          <a:p>
            <a:pPr marL="0" indent="0" algn="ctr">
              <a:buNone/>
            </a:pPr>
            <a:r>
              <a:rPr lang="en-US" sz="1300" b="1" dirty="0">
                <a:solidFill>
                  <a:srgbClr val="3B2F5C"/>
                </a:solidFill>
                <a:latin typeface="Calibri"/>
              </a:rPr>
              <a:t>Who would buy it</a:t>
            </a:r>
          </a:p>
        </p:txBody>
      </p:sp>
      <p:sp>
        <p:nvSpPr>
          <p:cNvPr id="523" name="Who text"/>
          <p:cNvSpPr txBox="1"/>
          <p:nvPr/>
        </p:nvSpPr>
        <p:spPr>
          <a:xfrm>
            <a:off x="640080" y="3703320"/>
            <a:ext cx="2766060" cy="1143000"/>
          </a:xfrm>
          <a:prstGeom prst="rect">
            <a:avLst/>
          </a:prstGeom>
          <a:noFill/>
          <a:ln/>
        </p:spPr>
        <p:txBody>
          <a:bodyPr wrap="square" lIns="0" tIns="0" rIns="0" bIns="0" rtlCol="0" anchor="ctr"/>
          <a:lstStyle/>
          <a:p>
            <a:pPr marL="0" indent="0" algn="l">
              <a:buNone/>
            </a:pPr>
            <a:r>
              <a:rPr lang="en-US" sz="1200" dirty="0">
                <a:solidFill>
                  <a:srgbClr val="3B2F5C"/>
                </a:solidFill>
                <a:latin typeface="Calibri"/>
              </a:rPr>
              <a:t>Bilingual and multilingual people, like students, first-generation professionals and whole families, who think in Hinglish or regional languages and want to be understood the way they speak.</a:t>
            </a:r>
          </a:p>
        </p:txBody>
      </p:sp>
      <p:sp>
        <p:nvSpPr>
          <p:cNvPr id="524" name="Buyer text"/>
          <p:cNvSpPr txBox="1"/>
          <p:nvPr/>
        </p:nvSpPr>
        <p:spPr>
          <a:xfrm>
            <a:off x="3909060" y="3703320"/>
            <a:ext cx="2766060" cy="1143000"/>
          </a:xfrm>
          <a:prstGeom prst="rect">
            <a:avLst/>
          </a:prstGeom>
          <a:noFill/>
          <a:ln/>
        </p:spPr>
        <p:txBody>
          <a:bodyPr wrap="square" lIns="0" tIns="0" rIns="0" bIns="0" rtlCol="0" anchor="ctr"/>
          <a:lstStyle/>
          <a:p>
            <a:pPr marL="0" indent="0" algn="l">
              <a:buNone/>
            </a:pPr>
            <a:r>
              <a:rPr lang="en-US" sz="1200" dirty="0">
                <a:solidFill>
                  <a:srgbClr val="3B2F5C"/>
                </a:solidFill>
                <a:latin typeface="Calibri"/>
              </a:rPr>
              <a:t>Keyboard and phone makers growing in regional-language markets, and brands that want a “speaks like me” promise for new users.</a:t>
            </a:r>
          </a:p>
        </p:txBody>
      </p:sp>
      <p:sp>
        <p:nvSpPr>
          <p:cNvPr id="21" name="Team tag"/>
          <p:cNvSpPr/>
          <p:nvPr/>
        </p:nvSpPr>
        <p:spPr>
          <a:xfrm>
            <a:off x="7040880" y="3520440"/>
            <a:ext cx="1645920" cy="1371600"/>
          </a:xfrm>
          <a:prstGeom prst="roundRect">
            <a:avLst>
              <a:gd name="adj" fmla="val 16364"/>
            </a:avLst>
          </a:prstGeom>
          <a:solidFill>
            <a:srgbClr val="FFBE85"/>
          </a:solidFill>
          <a:ln w="19050">
            <a:solidFill>
              <a:srgbClr val="3B2F5C"/>
            </a:solidFill>
            <a:prstDash val="solid"/>
          </a:ln>
        </p:spPr>
      </p:sp>
      <p:sp>
        <p:nvSpPr>
          <p:cNvPr id="22" name="Text 20"/>
          <p:cNvSpPr txBox="1"/>
          <p:nvPr/>
        </p:nvSpPr>
        <p:spPr>
          <a:xfrm>
            <a:off x="7040880" y="3520440"/>
            <a:ext cx="1645920" cy="1371600"/>
          </a:xfrm>
          <a:prstGeom prst="rect">
            <a:avLst/>
          </a:prstGeom>
          <a:noFill/>
          <a:ln/>
        </p:spPr>
        <p:txBody>
          <a:bodyPr wrap="square" lIns="0" tIns="0" rIns="0" bIns="0" rtlCol="0" anchor="ctr"/>
          <a:lstStyle/>
          <a:p>
            <a:pPr marL="0" indent="0" algn="ctr">
              <a:buNone/>
            </a:pPr>
            <a:r>
              <a:rPr lang="en-US" sz="1200" b="1" dirty="0">
                <a:solidFill>
                  <a:srgbClr val="3B2F5C"/>
                </a:solidFill>
                <a:latin typeface="Calibri" pitchFamily="34" charset="0"/>
                <a:ea typeface="Calibri" pitchFamily="34" charset="-122"/>
                <a:cs typeface="Calibri" pitchFamily="34" charset="-120"/>
              </a:rPr>
              <a:t>Team</a:t>
            </a:r>
            <a:endParaRPr lang="en-US" sz="1200" dirty="0"/>
          </a:p>
          <a:p>
            <a:pPr marL="0" indent="0" algn="ctr">
              <a:buNone/>
            </a:pPr>
            <a:r>
              <a:rPr lang="en-US" sz="1300" dirty="0">
                <a:solidFill>
                  <a:srgbClr val="3B2F5C"/>
                </a:solidFill>
                <a:latin typeface="Calibri" pitchFamily="34" charset="0"/>
                <a:ea typeface="Calibri" pitchFamily="34" charset="-122"/>
                <a:cs typeface="Calibri" pitchFamily="34" charset="-120"/>
              </a:rPr>
              <a:t>Riya, Shreya</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B"/>
        </a:solidFill>
        <a:effectLst/>
      </p:bgPr>
    </p:bg>
    <p:spTree>
      <p:nvGrpSpPr>
        <p:cNvPr id="1" name=""/>
        <p:cNvGrpSpPr/>
        <p:nvPr/>
      </p:nvGrpSpPr>
      <p:grpSpPr>
        <a:xfrm>
          <a:off x="0" y="0"/>
          <a:ext cx="0" cy="0"/>
          <a:chOff x="0" y="0"/>
          <a:chExt cx="0" cy="0"/>
        </a:xfrm>
      </p:grpSpPr>
      <p:sp>
        <p:nvSpPr>
          <p:cNvPr id="2" name="Doodle blob 1"/>
          <p:cNvSpPr/>
          <p:nvPr/>
        </p:nvSpPr>
        <p:spPr>
          <a:xfrm>
            <a:off x="7863840" y="3566160"/>
            <a:ext cx="1828800" cy="1828800"/>
          </a:xfrm>
          <a:prstGeom prst="ellipse">
            <a:avLst/>
          </a:prstGeom>
          <a:solidFill>
            <a:srgbClr val="DDF6EA"/>
          </a:solidFill>
          <a:ln w="12700">
            <a:solidFill>
              <a:srgbClr val="DDF6EA"/>
            </a:solidFill>
            <a:prstDash val="solid"/>
          </a:ln>
        </p:spPr>
      </p:sp>
      <p:sp>
        <p:nvSpPr>
          <p:cNvPr id="3" name="Doodle blob 2"/>
          <p:cNvSpPr/>
          <p:nvPr/>
        </p:nvSpPr>
        <p:spPr>
          <a:xfrm>
            <a:off x="-731520" y="-731520"/>
            <a:ext cx="1645920" cy="1645920"/>
          </a:xfrm>
          <a:prstGeom prst="ellipse">
            <a:avLst/>
          </a:prstGeom>
          <a:solidFill>
            <a:srgbClr val="A8E6CF"/>
          </a:solidFill>
          <a:ln w="12700">
            <a:solidFill>
              <a:srgbClr val="A8E6CF"/>
            </a:solidFill>
            <a:prstDash val="solid"/>
          </a:ln>
        </p:spPr>
      </p:sp>
      <p:sp>
        <p:nvSpPr>
          <p:cNvPr id="4" name="Title"/>
          <p:cNvSpPr txBox="1"/>
          <p:nvPr/>
        </p:nvSpPr>
        <p:spPr>
          <a:xfrm>
            <a:off x="457200" y="713232"/>
            <a:ext cx="6675120" cy="457200"/>
          </a:xfrm>
          <a:prstGeom prst="rect">
            <a:avLst/>
          </a:prstGeom>
          <a:noFill/>
          <a:ln/>
        </p:spPr>
        <p:txBody>
          <a:bodyPr wrap="square" lIns="0" tIns="0" rIns="0" bIns="0" rtlCol="0" anchor="ctr"/>
          <a:lstStyle/>
          <a:p>
            <a:pPr marL="0" indent="0">
              <a:buNone/>
            </a:pPr>
            <a:r>
              <a:rPr lang="en-US" sz="2100" b="1" dirty="0">
                <a:solidFill>
                  <a:srgbClr val="3B2F5C"/>
                </a:solidFill>
                <a:latin typeface="Arial" pitchFamily="34" charset="0"/>
                <a:ea typeface="Arial" pitchFamily="34" charset="-122"/>
                <a:cs typeface="Arial" pitchFamily="34" charset="-120"/>
              </a:rPr>
              <a:t>Context-Aware Interruption Problem</a:t>
            </a:r>
            <a:endParaRPr lang="en-US" sz="2100" dirty="0"/>
          </a:p>
        </p:txBody>
      </p:sp>
      <p:sp>
        <p:nvSpPr>
          <p:cNvPr id="5" name="Idea badge"/>
          <p:cNvSpPr/>
          <p:nvPr/>
        </p:nvSpPr>
        <p:spPr>
          <a:xfrm>
            <a:off x="7589520" y="365760"/>
            <a:ext cx="777240" cy="777240"/>
          </a:xfrm>
          <a:prstGeom prst="ellipse">
            <a:avLst/>
          </a:prstGeom>
          <a:solidFill>
            <a:srgbClr val="A8E6CF"/>
          </a:solidFill>
          <a:ln w="25400">
            <a:solidFill>
              <a:srgbClr val="3B2F5C"/>
            </a:solidFill>
            <a:prstDash val="solid"/>
          </a:ln>
        </p:spPr>
      </p:sp>
      <p:sp>
        <p:nvSpPr>
          <p:cNvPr id="6" name="Idea number"/>
          <p:cNvSpPr txBox="1"/>
          <p:nvPr/>
        </p:nvSpPr>
        <p:spPr>
          <a:xfrm>
            <a:off x="7589520" y="365760"/>
            <a:ext cx="777240" cy="777240"/>
          </a:xfrm>
          <a:prstGeom prst="rect">
            <a:avLst/>
          </a:prstGeom>
          <a:noFill/>
          <a:ln/>
        </p:spPr>
        <p:txBody>
          <a:bodyPr wrap="square" lIns="0" tIns="0" rIns="0" bIns="0" rtlCol="0" anchor="ctr"/>
          <a:lstStyle/>
          <a:p>
            <a:pPr marL="0" indent="0" algn="ctr">
              <a:buNone/>
            </a:pPr>
            <a:r>
              <a:rPr lang="en-US" sz="2800" b="1" dirty="0">
                <a:solidFill>
                  <a:srgbClr val="3B2F5C"/>
                </a:solidFill>
                <a:latin typeface="Arial" pitchFamily="34" charset="0"/>
                <a:ea typeface="Arial" pitchFamily="34" charset="-122"/>
                <a:cs typeface="Arial" pitchFamily="34" charset="-120"/>
              </a:rPr>
              <a:t>3</a:t>
            </a:r>
            <a:endParaRPr lang="en-US" sz="2800" dirty="0"/>
          </a:p>
        </p:txBody>
      </p:sp>
      <p:sp>
        <p:nvSpPr>
          <p:cNvPr id="7" name="Text 5"/>
          <p:cNvSpPr txBox="1"/>
          <p:nvPr/>
        </p:nvSpPr>
        <p:spPr>
          <a:xfrm>
            <a:off x="457200" y="1188720"/>
            <a:ext cx="4572000" cy="228600"/>
          </a:xfrm>
          <a:prstGeom prst="rect">
            <a:avLst/>
          </a:prstGeom>
          <a:noFill/>
          <a:ln/>
        </p:spPr>
        <p:txBody>
          <a:bodyPr wrap="square" lIns="0" tIns="0" rIns="0" bIns="0" rtlCol="0" anchor="ctr"/>
          <a:lstStyle/>
          <a:p>
            <a:pPr marL="0" indent="0">
              <a:buNone/>
            </a:pPr>
            <a:r>
              <a:rPr lang="en-US" sz="1200" b="1" kern="0" spc="200" dirty="0">
                <a:solidFill>
                  <a:srgbClr val="6B6285"/>
                </a:solidFill>
                <a:latin typeface="Calibri" pitchFamily="34" charset="0"/>
                <a:ea typeface="Calibri" pitchFamily="34" charset="-122"/>
                <a:cs typeface="Calibri" pitchFamily="34" charset="-120"/>
              </a:rPr>
              <a:t>IDEA 3: THE PROBLEM</a:t>
            </a:r>
            <a:endParaRPr lang="en-US" sz="1200" dirty="0"/>
          </a:p>
        </p:txBody>
      </p:sp>
      <p:sp>
        <p:nvSpPr>
          <p:cNvPr id="8" name="Problem card"/>
          <p:cNvSpPr/>
          <p:nvPr/>
        </p:nvSpPr>
        <p:spPr>
          <a:xfrm>
            <a:off x="457200" y="1463040"/>
            <a:ext cx="8229600" cy="1005840"/>
          </a:xfrm>
          <a:prstGeom prst="roundRect">
            <a:avLst>
              <a:gd name="adj" fmla="val 12121"/>
            </a:avLst>
          </a:prstGeom>
          <a:solidFill>
            <a:srgbClr val="DDF6EA"/>
          </a:solidFill>
          <a:ln w="25400">
            <a:solidFill>
              <a:srgbClr val="3B2F5C"/>
            </a:solidFill>
            <a:prstDash val="solid"/>
          </a:ln>
        </p:spPr>
      </p:sp>
      <p:sp>
        <p:nvSpPr>
          <p:cNvPr id="9" name="Text 7"/>
          <p:cNvSpPr txBox="1"/>
          <p:nvPr/>
        </p:nvSpPr>
        <p:spPr>
          <a:xfrm>
            <a:off x="731520" y="1508760"/>
            <a:ext cx="7680960" cy="914400"/>
          </a:xfrm>
          <a:prstGeom prst="rect">
            <a:avLst/>
          </a:prstGeom>
          <a:noFill/>
          <a:ln/>
        </p:spPr>
        <p:txBody>
          <a:bodyPr wrap="square" lIns="0" tIns="0" rIns="0" bIns="0" rtlCol="0" anchor="ctr"/>
          <a:lstStyle/>
          <a:p>
            <a:pPr marL="0" indent="0">
              <a:buNone/>
            </a:pPr>
            <a:r>
              <a:rPr lang="en-US" sz="1700" b="1" dirty="0">
                <a:solidFill>
                  <a:srgbClr val="3B2F5C"/>
                </a:solidFill>
                <a:latin typeface="Arial" pitchFamily="34" charset="0"/>
                <a:ea typeface="Arial" pitchFamily="34" charset="-122"/>
                <a:cs typeface="Arial" pitchFamily="34" charset="-120"/>
              </a:rPr>
              <a:t>“Do Not Disturb runs on a fixed schedule, but how much interruption we can handle changes minute to minute.”</a:t>
            </a:r>
            <a:endParaRPr lang="en-US" sz="1700" dirty="0"/>
          </a:p>
        </p:txBody>
      </p:sp>
      <p:sp>
        <p:nvSpPr>
          <p:cNvPr id="10" name="Empathy card"/>
          <p:cNvSpPr/>
          <p:nvPr/>
        </p:nvSpPr>
        <p:spPr>
          <a:xfrm>
            <a:off x="5532120" y="2834640"/>
            <a:ext cx="3154680" cy="1965960"/>
          </a:xfrm>
          <a:prstGeom prst="roundRect">
            <a:avLst>
              <a:gd name="adj" fmla="val 13333"/>
            </a:avLst>
          </a:prstGeom>
          <a:solidFill>
            <a:srgbClr val="FFFFFF"/>
          </a:solidFill>
          <a:ln w="19050">
            <a:solidFill>
              <a:srgbClr val="3B2F5C"/>
            </a:solidFill>
            <a:prstDash val="solid"/>
          </a:ln>
        </p:spPr>
      </p:sp>
      <p:sp>
        <p:nvSpPr>
          <p:cNvPr id="525" name="Story card"/>
          <p:cNvSpPr/>
          <p:nvPr/>
        </p:nvSpPr>
        <p:spPr>
          <a:xfrm>
            <a:off x="457200" y="2834640"/>
            <a:ext cx="4937760" cy="1965960"/>
          </a:xfrm>
          <a:prstGeom prst="roundRect">
            <a:avLst>
              <a:gd name="adj" fmla="val 13333"/>
            </a:avLst>
          </a:prstGeom>
          <a:solidFill>
            <a:srgbClr val="DDF6EA"/>
          </a:solidFill>
          <a:ln w="19050">
            <a:solidFill>
              <a:srgbClr val="3B2F5C"/>
            </a:solidFill>
            <a:prstDash val="solid"/>
          </a:ln>
        </p:spPr>
      </p:sp>
      <p:sp>
        <p:nvSpPr>
          <p:cNvPr id="526" name="Story pill"/>
          <p:cNvSpPr/>
          <p:nvPr/>
        </p:nvSpPr>
        <p:spPr>
          <a:xfrm>
            <a:off x="640080" y="2651760"/>
            <a:ext cx="1920240" cy="365760"/>
          </a:xfrm>
          <a:prstGeom prst="roundRect">
            <a:avLst>
              <a:gd name="adj" fmla="val 50000"/>
            </a:avLst>
          </a:prstGeom>
          <a:solidFill>
            <a:srgbClr val="A8E6CF"/>
          </a:solidFill>
          <a:ln w="19050">
            <a:solidFill>
              <a:srgbClr val="3B2F5C"/>
            </a:solidFill>
            <a:prstDash val="solid"/>
          </a:ln>
        </p:spPr>
      </p:sp>
      <p:sp>
        <p:nvSpPr>
          <p:cNvPr id="527" name="Story pill text"/>
          <p:cNvSpPr txBox="1"/>
          <p:nvPr/>
        </p:nvSpPr>
        <p:spPr>
          <a:xfrm>
            <a:off x="640080" y="2651760"/>
            <a:ext cx="1920240" cy="365760"/>
          </a:xfrm>
          <a:prstGeom prst="rect">
            <a:avLst/>
          </a:prstGeom>
          <a:noFill/>
          <a:ln/>
        </p:spPr>
        <p:txBody>
          <a:bodyPr wrap="square" lIns="0" tIns="0" rIns="0" bIns="0" rtlCol="0" anchor="ctr"/>
          <a:lstStyle/>
          <a:p>
            <a:pPr marL="0" indent="0" algn="ctr">
              <a:buNone/>
            </a:pPr>
            <a:r>
              <a:rPr lang="en-US" sz="1300" b="1" dirty="0">
                <a:solidFill>
                  <a:srgbClr val="3B2F5C"/>
                </a:solidFill>
                <a:latin typeface="Calibri"/>
              </a:rPr>
              <a:t>Meet Lakshya</a:t>
            </a:r>
          </a:p>
        </p:txBody>
      </p:sp>
      <p:sp>
        <p:nvSpPr>
          <p:cNvPr id="528" name="Story text"/>
          <p:cNvSpPr txBox="1"/>
          <p:nvPr/>
        </p:nvSpPr>
        <p:spPr>
          <a:xfrm>
            <a:off x="640080" y="2971800"/>
            <a:ext cx="4572000" cy="1737360"/>
          </a:xfrm>
          <a:prstGeom prst="rect">
            <a:avLst/>
          </a:prstGeom>
          <a:noFill/>
          <a:ln/>
        </p:spPr>
        <p:txBody>
          <a:bodyPr wrap="square" lIns="0" tIns="0" rIns="0" bIns="0" rtlCol="0" anchor="ctr"/>
          <a:lstStyle/>
          <a:p>
            <a:pPr marL="0" indent="0" algn="l">
              <a:buNone/>
            </a:pPr>
            <a:r>
              <a:rPr lang="en-US" sz="1300" dirty="0">
                <a:solidFill>
                  <a:srgbClr val="3B2F5C"/>
                </a:solidFill>
                <a:latin typeface="Calibri"/>
              </a:rPr>
              <a:t>Lakshya is in his third year. His phone goes silent on a fixed schedule, so when his sister called three times about their grandfather’s hospital visit, he never heard it. Later that day a loud sale alert went off in the middle of his viva. Same phone, same day, wrong both times.</a:t>
            </a:r>
          </a:p>
        </p:txBody>
      </p:sp>
      <p:sp>
        <p:nvSpPr>
          <p:cNvPr id="11" name="Pill"/>
          <p:cNvSpPr/>
          <p:nvPr/>
        </p:nvSpPr>
        <p:spPr>
          <a:xfrm>
            <a:off x="5715000" y="2651760"/>
            <a:ext cx="1463040" cy="365760"/>
          </a:xfrm>
          <a:prstGeom prst="roundRect">
            <a:avLst>
              <a:gd name="adj" fmla="val 50000"/>
            </a:avLst>
          </a:prstGeom>
          <a:solidFill>
            <a:srgbClr val="A8E6CF"/>
          </a:solidFill>
          <a:ln w="19050">
            <a:solidFill>
              <a:srgbClr val="3B2F5C"/>
            </a:solidFill>
            <a:prstDash val="solid"/>
          </a:ln>
        </p:spPr>
      </p:sp>
      <p:sp>
        <p:nvSpPr>
          <p:cNvPr id="12" name="Pill text"/>
          <p:cNvSpPr txBox="1"/>
          <p:nvPr/>
        </p:nvSpPr>
        <p:spPr>
          <a:xfrm>
            <a:off x="5715000" y="2651760"/>
            <a:ext cx="1463040" cy="365760"/>
          </a:xfrm>
          <a:prstGeom prst="rect">
            <a:avLst/>
          </a:prstGeom>
          <a:noFill/>
          <a:ln/>
        </p:spPr>
        <p:txBody>
          <a:bodyPr wrap="square" lIns="0" tIns="0" rIns="0" bIns="0" rtlCol="0" anchor="ctr"/>
          <a:lstStyle/>
          <a:p>
            <a:pPr marL="0" indent="0" algn="ctr">
              <a:buNone/>
            </a:pPr>
            <a:r>
              <a:rPr lang="en-US" sz="1300" b="1" dirty="0">
                <a:solidFill>
                  <a:srgbClr val="3B2F5C"/>
                </a:solidFill>
                <a:latin typeface="Calibri" pitchFamily="34" charset="0"/>
                <a:ea typeface="Calibri" pitchFamily="34" charset="-122"/>
                <a:cs typeface="Calibri" pitchFamily="34" charset="-120"/>
              </a:rPr>
              <a:t>Why it hurts</a:t>
            </a:r>
            <a:endParaRPr lang="en-US" sz="1300" dirty="0"/>
          </a:p>
        </p:txBody>
      </p:sp>
      <p:sp>
        <p:nvSpPr>
          <p:cNvPr id="13" name="Text 11"/>
          <p:cNvSpPr txBox="1"/>
          <p:nvPr/>
        </p:nvSpPr>
        <p:spPr>
          <a:xfrm>
            <a:off x="5715000" y="2971800"/>
            <a:ext cx="2788920" cy="1737360"/>
          </a:xfrm>
          <a:prstGeom prst="rect">
            <a:avLst/>
          </a:prstGeom>
          <a:noFill/>
          <a:ln/>
        </p:spPr>
        <p:txBody>
          <a:bodyPr wrap="square" lIns="0" tIns="0" rIns="0" bIns="0" rtlCol="0" anchor="ctr"/>
          <a:lstStyle/>
          <a:p>
            <a:pPr marL="0" indent="0">
              <a:buNone/>
            </a:pPr>
            <a:r>
              <a:rPr lang="en-US" sz="1300" dirty="0">
                <a:solidFill>
                  <a:srgbClr val="3B2F5C"/>
                </a:solidFill>
                <a:latin typeface="Calibri" pitchFamily="34" charset="0"/>
                <a:ea typeface="Calibri" pitchFamily="34" charset="-122"/>
                <a:cs typeface="Calibri" pitchFamily="34" charset="-120"/>
              </a:rPr>
              <a:t>Our availability changes through the day with class, the commute, study and family, but the phone only knows the clock. We pay for it with embarrassment, missed moments and the guilt of not being there.</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B"/>
        </a:solidFill>
        <a:effectLst/>
      </p:bgPr>
    </p:bg>
    <p:spTree>
      <p:nvGrpSpPr>
        <p:cNvPr id="1" name=""/>
        <p:cNvGrpSpPr/>
        <p:nvPr/>
      </p:nvGrpSpPr>
      <p:grpSpPr>
        <a:xfrm>
          <a:off x="0" y="0"/>
          <a:ext cx="0" cy="0"/>
          <a:chOff x="0" y="0"/>
          <a:chExt cx="0" cy="0"/>
        </a:xfrm>
      </p:grpSpPr>
      <p:sp>
        <p:nvSpPr>
          <p:cNvPr id="2" name="Doodle blob 1"/>
          <p:cNvSpPr/>
          <p:nvPr/>
        </p:nvSpPr>
        <p:spPr>
          <a:xfrm>
            <a:off x="8046720" y="4206240"/>
            <a:ext cx="1645920" cy="1645920"/>
          </a:xfrm>
          <a:prstGeom prst="ellipse">
            <a:avLst/>
          </a:prstGeom>
          <a:solidFill>
            <a:srgbClr val="DDF6EA"/>
          </a:solidFill>
          <a:ln w="12700">
            <a:solidFill>
              <a:srgbClr val="DDF6EA"/>
            </a:solidFill>
            <a:prstDash val="solid"/>
          </a:ln>
        </p:spPr>
      </p:sp>
      <p:sp>
        <p:nvSpPr>
          <p:cNvPr id="3" name="Doodle blob 2"/>
          <p:cNvSpPr/>
          <p:nvPr/>
        </p:nvSpPr>
        <p:spPr>
          <a:xfrm>
            <a:off x="-731520" y="4389120"/>
            <a:ext cx="1280160" cy="1280160"/>
          </a:xfrm>
          <a:prstGeom prst="ellipse">
            <a:avLst/>
          </a:prstGeom>
          <a:solidFill>
            <a:srgbClr val="DDF6EA"/>
          </a:solidFill>
          <a:ln w="12700">
            <a:solidFill>
              <a:srgbClr val="DDF6EA"/>
            </a:solidFill>
            <a:prstDash val="solid"/>
          </a:ln>
        </p:spPr>
      </p:sp>
      <p:sp>
        <p:nvSpPr>
          <p:cNvPr id="4" name="Title"/>
          <p:cNvSpPr txBox="1"/>
          <p:nvPr/>
        </p:nvSpPr>
        <p:spPr>
          <a:xfrm>
            <a:off x="457200" y="274320"/>
            <a:ext cx="6675120" cy="731520"/>
          </a:xfrm>
          <a:prstGeom prst="rect">
            <a:avLst/>
          </a:prstGeom>
          <a:noFill/>
          <a:ln/>
        </p:spPr>
        <p:txBody>
          <a:bodyPr wrap="square" lIns="0" tIns="0" rIns="0" bIns="0" rtlCol="0" anchor="ctr"/>
          <a:lstStyle/>
          <a:p>
            <a:pPr marL="0" indent="0">
              <a:buNone/>
            </a:pPr>
            <a:r>
              <a:rPr lang="en-US" sz="2400" b="1" dirty="0">
                <a:solidFill>
                  <a:srgbClr val="3B2F5C"/>
                </a:solidFill>
                <a:latin typeface="Arial" pitchFamily="34" charset="0"/>
                <a:ea typeface="Arial" pitchFamily="34" charset="-122"/>
                <a:cs typeface="Arial" pitchFamily="34" charset="-120"/>
              </a:rPr>
              <a:t>Idea 3: Our approach</a:t>
            </a:r>
            <a:endParaRPr lang="en-US" sz="2400" dirty="0"/>
          </a:p>
        </p:txBody>
      </p:sp>
      <p:sp>
        <p:nvSpPr>
          <p:cNvPr id="5" name="Idea badge"/>
          <p:cNvSpPr/>
          <p:nvPr/>
        </p:nvSpPr>
        <p:spPr>
          <a:xfrm>
            <a:off x="7589520" y="256032"/>
            <a:ext cx="777240" cy="777240"/>
          </a:xfrm>
          <a:prstGeom prst="ellipse">
            <a:avLst/>
          </a:prstGeom>
          <a:solidFill>
            <a:srgbClr val="A8E6CF"/>
          </a:solidFill>
          <a:ln w="25400">
            <a:solidFill>
              <a:srgbClr val="3B2F5C"/>
            </a:solidFill>
            <a:prstDash val="solid"/>
          </a:ln>
        </p:spPr>
      </p:sp>
      <p:sp>
        <p:nvSpPr>
          <p:cNvPr id="6" name="Idea number"/>
          <p:cNvSpPr txBox="1"/>
          <p:nvPr/>
        </p:nvSpPr>
        <p:spPr>
          <a:xfrm>
            <a:off x="7589520" y="256032"/>
            <a:ext cx="777240" cy="777240"/>
          </a:xfrm>
          <a:prstGeom prst="rect">
            <a:avLst/>
          </a:prstGeom>
          <a:noFill/>
          <a:ln/>
        </p:spPr>
        <p:txBody>
          <a:bodyPr wrap="square" lIns="0" tIns="0" rIns="0" bIns="0" rtlCol="0" anchor="ctr"/>
          <a:lstStyle/>
          <a:p>
            <a:pPr marL="0" indent="0" algn="ctr">
              <a:buNone/>
            </a:pPr>
            <a:r>
              <a:rPr lang="en-US" sz="2800" b="1" dirty="0">
                <a:solidFill>
                  <a:srgbClr val="3B2F5C"/>
                </a:solidFill>
                <a:latin typeface="Arial" pitchFamily="34" charset="0"/>
                <a:ea typeface="Arial" pitchFamily="34" charset="-122"/>
                <a:cs typeface="Arial" pitchFamily="34" charset="-120"/>
              </a:rPr>
              <a:t>3</a:t>
            </a:r>
            <a:endParaRPr lang="en-US" sz="2800" dirty="0"/>
          </a:p>
        </p:txBody>
      </p:sp>
      <p:sp>
        <p:nvSpPr>
          <p:cNvPr id="7" name="Card Our Approach"/>
          <p:cNvSpPr/>
          <p:nvPr/>
        </p:nvSpPr>
        <p:spPr>
          <a:xfrm>
            <a:off x="457200" y="1371600"/>
            <a:ext cx="2743200" cy="1828800"/>
          </a:xfrm>
          <a:prstGeom prst="roundRect">
            <a:avLst>
              <a:gd name="adj" fmla="val 7660"/>
            </a:avLst>
          </a:prstGeom>
          <a:solidFill>
            <a:srgbClr val="DDF6EA"/>
          </a:solidFill>
          <a:ln w="19050">
            <a:solidFill>
              <a:srgbClr val="3B2F5C"/>
            </a:solidFill>
            <a:prstDash val="solid"/>
          </a:ln>
        </p:spPr>
      </p:sp>
      <p:sp>
        <p:nvSpPr>
          <p:cNvPr id="8" name="Pill"/>
          <p:cNvSpPr/>
          <p:nvPr/>
        </p:nvSpPr>
        <p:spPr>
          <a:xfrm>
            <a:off x="640080" y="1188720"/>
            <a:ext cx="1737360" cy="365760"/>
          </a:xfrm>
          <a:prstGeom prst="roundRect">
            <a:avLst>
              <a:gd name="adj" fmla="val 50000"/>
            </a:avLst>
          </a:prstGeom>
          <a:solidFill>
            <a:srgbClr val="A8E6CF"/>
          </a:solidFill>
          <a:ln w="19050">
            <a:solidFill>
              <a:srgbClr val="3B2F5C"/>
            </a:solidFill>
            <a:prstDash val="solid"/>
          </a:ln>
        </p:spPr>
      </p:sp>
      <p:sp>
        <p:nvSpPr>
          <p:cNvPr id="9" name="Pill text"/>
          <p:cNvSpPr txBox="1"/>
          <p:nvPr/>
        </p:nvSpPr>
        <p:spPr>
          <a:xfrm>
            <a:off x="640080" y="1188720"/>
            <a:ext cx="1737360" cy="365760"/>
          </a:xfrm>
          <a:prstGeom prst="rect">
            <a:avLst/>
          </a:prstGeom>
          <a:noFill/>
          <a:ln/>
        </p:spPr>
        <p:txBody>
          <a:bodyPr wrap="square" lIns="0" tIns="0" rIns="0" bIns="0" rtlCol="0" anchor="ctr"/>
          <a:lstStyle/>
          <a:p>
            <a:pPr marL="0" indent="0" algn="ctr">
              <a:buNone/>
            </a:pPr>
            <a:r>
              <a:rPr lang="en-US" sz="1300" b="1" dirty="0">
                <a:solidFill>
                  <a:srgbClr val="3B2F5C"/>
                </a:solidFill>
                <a:latin typeface="Calibri" pitchFamily="34" charset="0"/>
                <a:ea typeface="Calibri" pitchFamily="34" charset="-122"/>
                <a:cs typeface="Calibri" pitchFamily="34" charset="-120"/>
              </a:rPr>
              <a:t>Our Approach</a:t>
            </a:r>
            <a:endParaRPr lang="en-US" sz="1300" dirty="0"/>
          </a:p>
        </p:txBody>
      </p:sp>
      <p:sp>
        <p:nvSpPr>
          <p:cNvPr id="10" name="Text 8"/>
          <p:cNvSpPr txBox="1"/>
          <p:nvPr/>
        </p:nvSpPr>
        <p:spPr>
          <a:xfrm>
            <a:off x="621792" y="1645920"/>
            <a:ext cx="2423160" cy="1463040"/>
          </a:xfrm>
          <a:prstGeom prst="rect">
            <a:avLst/>
          </a:prstGeom>
          <a:noFill/>
          <a:ln/>
        </p:spPr>
        <p:txBody>
          <a:bodyPr wrap="square" lIns="0" tIns="0" rIns="0" bIns="0" rtlCol="0" anchor="ctr"/>
          <a:lstStyle/>
          <a:p>
            <a:pPr marL="0" indent="0">
              <a:buNone/>
            </a:pPr>
            <a:r>
              <a:rPr lang="en-US" sz="1300" dirty="0">
                <a:solidFill>
                  <a:srgbClr val="3B2F5C"/>
                </a:solidFill>
                <a:latin typeface="Calibri" pitchFamily="34" charset="0"/>
                <a:ea typeface="Calibri" pitchFamily="34" charset="-122"/>
                <a:cs typeface="Calibri" pitchFamily="34" charset="-120"/>
              </a:rPr>
              <a:t>Detects your real-time context using sensors (activity, location, calendar, app usage) and predicts when you can be interrupted with a lightweight on-device model.</a:t>
            </a:r>
            <a:endParaRPr lang="en-US" sz="1300" dirty="0"/>
          </a:p>
        </p:txBody>
      </p:sp>
      <p:sp>
        <p:nvSpPr>
          <p:cNvPr id="11" name="Card Key Inputs"/>
          <p:cNvSpPr/>
          <p:nvPr/>
        </p:nvSpPr>
        <p:spPr>
          <a:xfrm>
            <a:off x="3337560" y="1371600"/>
            <a:ext cx="2743200" cy="1828800"/>
          </a:xfrm>
          <a:prstGeom prst="roundRect">
            <a:avLst>
              <a:gd name="adj" fmla="val 7660"/>
            </a:avLst>
          </a:prstGeom>
          <a:solidFill>
            <a:srgbClr val="FFFFFF"/>
          </a:solidFill>
          <a:ln w="19050">
            <a:solidFill>
              <a:srgbClr val="3B2F5C"/>
            </a:solidFill>
            <a:prstDash val="solid"/>
          </a:ln>
        </p:spPr>
      </p:sp>
      <p:sp>
        <p:nvSpPr>
          <p:cNvPr id="12" name="Pill"/>
          <p:cNvSpPr/>
          <p:nvPr/>
        </p:nvSpPr>
        <p:spPr>
          <a:xfrm>
            <a:off x="3520440" y="1188720"/>
            <a:ext cx="1737360" cy="365760"/>
          </a:xfrm>
          <a:prstGeom prst="roundRect">
            <a:avLst>
              <a:gd name="adj" fmla="val 50000"/>
            </a:avLst>
          </a:prstGeom>
          <a:solidFill>
            <a:srgbClr val="A8E6CF"/>
          </a:solidFill>
          <a:ln w="19050">
            <a:solidFill>
              <a:srgbClr val="3B2F5C"/>
            </a:solidFill>
            <a:prstDash val="solid"/>
          </a:ln>
        </p:spPr>
      </p:sp>
      <p:sp>
        <p:nvSpPr>
          <p:cNvPr id="13" name="Pill text"/>
          <p:cNvSpPr txBox="1"/>
          <p:nvPr/>
        </p:nvSpPr>
        <p:spPr>
          <a:xfrm>
            <a:off x="3520440" y="1188720"/>
            <a:ext cx="1737360" cy="365760"/>
          </a:xfrm>
          <a:prstGeom prst="rect">
            <a:avLst/>
          </a:prstGeom>
          <a:noFill/>
          <a:ln/>
        </p:spPr>
        <p:txBody>
          <a:bodyPr wrap="square" lIns="0" tIns="0" rIns="0" bIns="0" rtlCol="0" anchor="ctr"/>
          <a:lstStyle/>
          <a:p>
            <a:pPr marL="0" indent="0" algn="ctr">
              <a:buNone/>
            </a:pPr>
            <a:r>
              <a:rPr lang="en-US" sz="1300" b="1" dirty="0">
                <a:solidFill>
                  <a:srgbClr val="3B2F5C"/>
                </a:solidFill>
                <a:latin typeface="Calibri" pitchFamily="34" charset="0"/>
                <a:ea typeface="Calibri" pitchFamily="34" charset="-122"/>
                <a:cs typeface="Calibri" pitchFamily="34" charset="-120"/>
              </a:rPr>
              <a:t>Key Inputs</a:t>
            </a:r>
            <a:endParaRPr lang="en-US" sz="1300" dirty="0"/>
          </a:p>
        </p:txBody>
      </p:sp>
      <p:sp>
        <p:nvSpPr>
          <p:cNvPr id="14" name="Text 12"/>
          <p:cNvSpPr txBox="1"/>
          <p:nvPr/>
        </p:nvSpPr>
        <p:spPr>
          <a:xfrm>
            <a:off x="3502152" y="1645920"/>
            <a:ext cx="2423160" cy="1463040"/>
          </a:xfrm>
          <a:prstGeom prst="rect">
            <a:avLst/>
          </a:prstGeom>
          <a:noFill/>
          <a:ln/>
        </p:spPr>
        <p:txBody>
          <a:bodyPr wrap="square" lIns="0" tIns="0" rIns="0" bIns="0" rtlCol="0" anchor="ctr"/>
          <a:lstStyle/>
          <a:p>
            <a:pPr marL="342900" indent="-342900">
              <a:spcAft>
                <a:spcPts val="400"/>
              </a:spcAft>
              <a:buSzPct val="100000"/>
              <a:buChar char="•"/>
            </a:pPr>
            <a:r>
              <a:rPr lang="en-US" sz="1300" dirty="0">
                <a:solidFill>
                  <a:srgbClr val="3B2F5C"/>
                </a:solidFill>
                <a:latin typeface="Calibri" pitchFamily="34" charset="0"/>
                <a:ea typeface="Calibri" pitchFamily="34" charset="-122"/>
                <a:cs typeface="Calibri" pitchFamily="34" charset="-120"/>
              </a:rPr>
              <a:t>Current activity (class, workout, etc.)</a:t>
            </a:r>
            <a:endParaRPr lang="en-US" sz="1300" dirty="0"/>
          </a:p>
          <a:p>
            <a:pPr marL="342900" indent="-342900">
              <a:spcAft>
                <a:spcPts val="400"/>
              </a:spcAft>
              <a:buSzPct val="100000"/>
              <a:buChar char="•"/>
            </a:pPr>
            <a:r>
              <a:rPr lang="en-US" sz="1300" dirty="0">
                <a:solidFill>
                  <a:srgbClr val="3B2F5C"/>
                </a:solidFill>
                <a:latin typeface="Calibri" pitchFamily="34" charset="0"/>
                <a:ea typeface="Calibri" pitchFamily="34" charset="-122"/>
                <a:cs typeface="Calibri" pitchFamily="34" charset="-120"/>
              </a:rPr>
              <a:t>Calendar/meetings</a:t>
            </a:r>
            <a:endParaRPr lang="en-US" sz="1300" dirty="0"/>
          </a:p>
          <a:p>
            <a:pPr marL="342900" indent="-342900">
              <a:spcAft>
                <a:spcPts val="400"/>
              </a:spcAft>
              <a:buSzPct val="100000"/>
              <a:buChar char="•"/>
            </a:pPr>
            <a:r>
              <a:rPr lang="en-US" sz="1300" dirty="0">
                <a:solidFill>
                  <a:srgbClr val="3B2F5C"/>
                </a:solidFill>
                <a:latin typeface="Calibri" pitchFamily="34" charset="0"/>
                <a:ea typeface="Calibri" pitchFamily="34" charset="-122"/>
                <a:cs typeface="Calibri" pitchFamily="34" charset="-120"/>
              </a:rPr>
              <a:t>Location (home, college, etc.)</a:t>
            </a:r>
            <a:endParaRPr lang="en-US" sz="1300" dirty="0"/>
          </a:p>
          <a:p>
            <a:pPr marL="342900" indent="-342900">
              <a:spcAft>
                <a:spcPts val="400"/>
              </a:spcAft>
              <a:buSzPct val="100000"/>
              <a:buChar char="•"/>
            </a:pPr>
            <a:r>
              <a:rPr lang="en-US" sz="1300" dirty="0">
                <a:solidFill>
                  <a:srgbClr val="3B2F5C"/>
                </a:solidFill>
                <a:latin typeface="Calibri" pitchFamily="34" charset="0"/>
                <a:ea typeface="Calibri" pitchFamily="34" charset="-122"/>
                <a:cs typeface="Calibri" pitchFamily="34" charset="-120"/>
              </a:rPr>
              <a:t>App usage (e.g., coding, media)</a:t>
            </a:r>
            <a:endParaRPr lang="en-US" sz="1300" dirty="0"/>
          </a:p>
        </p:txBody>
      </p:sp>
      <p:sp>
        <p:nvSpPr>
          <p:cNvPr id="15" name="Card Expected Outcome"/>
          <p:cNvSpPr/>
          <p:nvPr/>
        </p:nvSpPr>
        <p:spPr>
          <a:xfrm>
            <a:off x="6217920" y="1371600"/>
            <a:ext cx="2468880" cy="1828800"/>
          </a:xfrm>
          <a:prstGeom prst="roundRect">
            <a:avLst>
              <a:gd name="adj" fmla="val 7660"/>
            </a:avLst>
          </a:prstGeom>
          <a:solidFill>
            <a:srgbClr val="DDF6EA"/>
          </a:solidFill>
          <a:ln w="19050">
            <a:solidFill>
              <a:srgbClr val="3B2F5C"/>
            </a:solidFill>
            <a:prstDash val="solid"/>
          </a:ln>
        </p:spPr>
      </p:sp>
      <p:sp>
        <p:nvSpPr>
          <p:cNvPr id="16" name="Pill"/>
          <p:cNvSpPr/>
          <p:nvPr/>
        </p:nvSpPr>
        <p:spPr>
          <a:xfrm>
            <a:off x="6400800" y="1188720"/>
            <a:ext cx="1737360" cy="365760"/>
          </a:xfrm>
          <a:prstGeom prst="roundRect">
            <a:avLst>
              <a:gd name="adj" fmla="val 50000"/>
            </a:avLst>
          </a:prstGeom>
          <a:solidFill>
            <a:srgbClr val="A8E6CF"/>
          </a:solidFill>
          <a:ln w="19050">
            <a:solidFill>
              <a:srgbClr val="3B2F5C"/>
            </a:solidFill>
            <a:prstDash val="solid"/>
          </a:ln>
        </p:spPr>
      </p:sp>
      <p:sp>
        <p:nvSpPr>
          <p:cNvPr id="17" name="Pill text"/>
          <p:cNvSpPr txBox="1"/>
          <p:nvPr/>
        </p:nvSpPr>
        <p:spPr>
          <a:xfrm>
            <a:off x="6400800" y="1188720"/>
            <a:ext cx="1737360" cy="365760"/>
          </a:xfrm>
          <a:prstGeom prst="rect">
            <a:avLst/>
          </a:prstGeom>
          <a:noFill/>
          <a:ln/>
        </p:spPr>
        <p:txBody>
          <a:bodyPr wrap="square" lIns="0" tIns="0" rIns="0" bIns="0" rtlCol="0" anchor="ctr"/>
          <a:lstStyle/>
          <a:p>
            <a:pPr marL="0" indent="0" algn="ctr">
              <a:buNone/>
            </a:pPr>
            <a:r>
              <a:rPr lang="en-US" sz="1300" b="1" dirty="0">
                <a:solidFill>
                  <a:srgbClr val="3B2F5C"/>
                </a:solidFill>
                <a:latin typeface="Calibri" pitchFamily="34" charset="0"/>
                <a:ea typeface="Calibri" pitchFamily="34" charset="-122"/>
                <a:cs typeface="Calibri" pitchFamily="34" charset="-120"/>
              </a:rPr>
              <a:t>Expected Outcome</a:t>
            </a:r>
            <a:endParaRPr lang="en-US" sz="1300" dirty="0"/>
          </a:p>
        </p:txBody>
      </p:sp>
      <p:sp>
        <p:nvSpPr>
          <p:cNvPr id="18" name="Text 16"/>
          <p:cNvSpPr txBox="1"/>
          <p:nvPr/>
        </p:nvSpPr>
        <p:spPr>
          <a:xfrm>
            <a:off x="6382512" y="1645920"/>
            <a:ext cx="2148840" cy="1463040"/>
          </a:xfrm>
          <a:prstGeom prst="rect">
            <a:avLst/>
          </a:prstGeom>
          <a:noFill/>
          <a:ln/>
        </p:spPr>
        <p:txBody>
          <a:bodyPr wrap="square" lIns="0" tIns="0" rIns="0" bIns="0" rtlCol="0" anchor="ctr"/>
          <a:lstStyle/>
          <a:p>
            <a:pPr marL="0" indent="0">
              <a:buNone/>
            </a:pPr>
            <a:r>
              <a:rPr lang="en-US" sz="1300" dirty="0">
                <a:solidFill>
                  <a:srgbClr val="3B2F5C"/>
                </a:solidFill>
                <a:latin typeface="Calibri" pitchFamily="34" charset="0"/>
                <a:ea typeface="Calibri" pitchFamily="34" charset="-122"/>
                <a:cs typeface="Calibri" pitchFamily="34" charset="-120"/>
              </a:rPr>
              <a:t>Fewer unwanted interruptions and notifications at the right time.</a:t>
            </a:r>
            <a:endParaRPr lang="en-US" sz="1300" dirty="0"/>
          </a:p>
        </p:txBody>
      </p:sp>
      <p:sp>
        <p:nvSpPr>
          <p:cNvPr id="529" name="Who card"/>
          <p:cNvSpPr/>
          <p:nvPr/>
        </p:nvSpPr>
        <p:spPr>
          <a:xfrm>
            <a:off x="457200" y="3520440"/>
            <a:ext cx="3131820" cy="1371600"/>
          </a:xfrm>
          <a:prstGeom prst="roundRect">
            <a:avLst>
              <a:gd name="adj" fmla="val 13333"/>
            </a:avLst>
          </a:prstGeom>
          <a:solidFill>
            <a:srgbClr val="DDF6EA"/>
          </a:solidFill>
          <a:ln w="19050">
            <a:solidFill>
              <a:srgbClr val="3B2F5C"/>
            </a:solidFill>
            <a:prstDash val="solid"/>
          </a:ln>
        </p:spPr>
      </p:sp>
      <p:sp>
        <p:nvSpPr>
          <p:cNvPr id="530" name="Buyer card"/>
          <p:cNvSpPr/>
          <p:nvPr/>
        </p:nvSpPr>
        <p:spPr>
          <a:xfrm>
            <a:off x="3726180" y="3520440"/>
            <a:ext cx="3131820" cy="1371600"/>
          </a:xfrm>
          <a:prstGeom prst="roundRect">
            <a:avLst>
              <a:gd name="adj" fmla="val 13333"/>
            </a:avLst>
          </a:prstGeom>
          <a:solidFill>
            <a:srgbClr val="FFFFFF"/>
          </a:solidFill>
          <a:ln w="19050">
            <a:solidFill>
              <a:srgbClr val="3B2F5C"/>
            </a:solidFill>
            <a:prstDash val="solid"/>
          </a:ln>
        </p:spPr>
      </p:sp>
      <p:sp>
        <p:nvSpPr>
          <p:cNvPr id="531" name="Who pill"/>
          <p:cNvSpPr/>
          <p:nvPr/>
        </p:nvSpPr>
        <p:spPr>
          <a:xfrm>
            <a:off x="640080" y="3337560"/>
            <a:ext cx="1828800" cy="365760"/>
          </a:xfrm>
          <a:prstGeom prst="roundRect">
            <a:avLst>
              <a:gd name="adj" fmla="val 50000"/>
            </a:avLst>
          </a:prstGeom>
          <a:solidFill>
            <a:srgbClr val="A8E6CF"/>
          </a:solidFill>
          <a:ln w="19050">
            <a:solidFill>
              <a:srgbClr val="3B2F5C"/>
            </a:solidFill>
            <a:prstDash val="solid"/>
          </a:ln>
        </p:spPr>
      </p:sp>
      <p:sp>
        <p:nvSpPr>
          <p:cNvPr id="532" name="Who pill text"/>
          <p:cNvSpPr txBox="1"/>
          <p:nvPr/>
        </p:nvSpPr>
        <p:spPr>
          <a:xfrm>
            <a:off x="640080" y="3337560"/>
            <a:ext cx="1828800" cy="365760"/>
          </a:xfrm>
          <a:prstGeom prst="rect">
            <a:avLst/>
          </a:prstGeom>
          <a:noFill/>
          <a:ln/>
        </p:spPr>
        <p:txBody>
          <a:bodyPr wrap="square" lIns="0" tIns="0" rIns="0" bIns="0" rtlCol="0" anchor="ctr"/>
          <a:lstStyle/>
          <a:p>
            <a:pPr marL="0" indent="0" algn="ctr">
              <a:buNone/>
            </a:pPr>
            <a:r>
              <a:rPr lang="en-US" sz="1300" b="1" dirty="0">
                <a:solidFill>
                  <a:srgbClr val="3B2F5C"/>
                </a:solidFill>
                <a:latin typeface="Calibri"/>
              </a:rPr>
              <a:t>Who it’s for</a:t>
            </a:r>
          </a:p>
        </p:txBody>
      </p:sp>
      <p:sp>
        <p:nvSpPr>
          <p:cNvPr id="533" name="Buyer pill"/>
          <p:cNvSpPr/>
          <p:nvPr/>
        </p:nvSpPr>
        <p:spPr>
          <a:xfrm>
            <a:off x="3909060" y="3337560"/>
            <a:ext cx="2286000" cy="365760"/>
          </a:xfrm>
          <a:prstGeom prst="roundRect">
            <a:avLst>
              <a:gd name="adj" fmla="val 50000"/>
            </a:avLst>
          </a:prstGeom>
          <a:solidFill>
            <a:srgbClr val="A8E6CF"/>
          </a:solidFill>
          <a:ln w="19050">
            <a:solidFill>
              <a:srgbClr val="3B2F5C"/>
            </a:solidFill>
            <a:prstDash val="solid"/>
          </a:ln>
        </p:spPr>
      </p:sp>
      <p:sp>
        <p:nvSpPr>
          <p:cNvPr id="534" name="Buyer pill text"/>
          <p:cNvSpPr txBox="1"/>
          <p:nvPr/>
        </p:nvSpPr>
        <p:spPr>
          <a:xfrm>
            <a:off x="3909060" y="3337560"/>
            <a:ext cx="2286000" cy="365760"/>
          </a:xfrm>
          <a:prstGeom prst="rect">
            <a:avLst/>
          </a:prstGeom>
          <a:noFill/>
          <a:ln/>
        </p:spPr>
        <p:txBody>
          <a:bodyPr wrap="square" lIns="0" tIns="0" rIns="0" bIns="0" rtlCol="0" anchor="ctr"/>
          <a:lstStyle/>
          <a:p>
            <a:pPr marL="0" indent="0" algn="ctr">
              <a:buNone/>
            </a:pPr>
            <a:r>
              <a:rPr lang="en-US" sz="1300" b="1" dirty="0">
                <a:solidFill>
                  <a:srgbClr val="3B2F5C"/>
                </a:solidFill>
                <a:latin typeface="Calibri"/>
              </a:rPr>
              <a:t>Who would buy it</a:t>
            </a:r>
          </a:p>
        </p:txBody>
      </p:sp>
      <p:sp>
        <p:nvSpPr>
          <p:cNvPr id="535" name="Who text"/>
          <p:cNvSpPr txBox="1"/>
          <p:nvPr/>
        </p:nvSpPr>
        <p:spPr>
          <a:xfrm>
            <a:off x="640080" y="3703320"/>
            <a:ext cx="2766060" cy="1143000"/>
          </a:xfrm>
          <a:prstGeom prst="rect">
            <a:avLst/>
          </a:prstGeom>
          <a:noFill/>
          <a:ln/>
        </p:spPr>
        <p:txBody>
          <a:bodyPr wrap="square" lIns="0" tIns="0" rIns="0" bIns="0" rtlCol="0" anchor="ctr"/>
          <a:lstStyle/>
          <a:p>
            <a:pPr marL="0" indent="0" algn="l">
              <a:buNone/>
            </a:pPr>
            <a:r>
              <a:rPr lang="en-US" sz="1200" dirty="0">
                <a:solidFill>
                  <a:srgbClr val="3B2F5C"/>
                </a:solidFill>
                <a:latin typeface="Calibri"/>
              </a:rPr>
              <a:t>People whose day changes minute to minute: students, working professionals, caregivers and parents on call, who can’t afford to be unreachable or interrupted at the wrong moment.</a:t>
            </a:r>
          </a:p>
        </p:txBody>
      </p:sp>
      <p:sp>
        <p:nvSpPr>
          <p:cNvPr id="536" name="Buyer text"/>
          <p:cNvSpPr txBox="1"/>
          <p:nvPr/>
        </p:nvSpPr>
        <p:spPr>
          <a:xfrm>
            <a:off x="3909060" y="3703320"/>
            <a:ext cx="2766060" cy="1143000"/>
          </a:xfrm>
          <a:prstGeom prst="rect">
            <a:avLst/>
          </a:prstGeom>
          <a:noFill/>
          <a:ln/>
        </p:spPr>
        <p:txBody>
          <a:bodyPr wrap="square" lIns="0" tIns="0" rIns="0" bIns="0" rtlCol="0" anchor="ctr"/>
          <a:lstStyle/>
          <a:p>
            <a:pPr marL="0" indent="0" algn="l">
              <a:buNone/>
            </a:pPr>
            <a:r>
              <a:rPr lang="en-US" sz="1200" dirty="0">
                <a:solidFill>
                  <a:srgbClr val="3B2F5C"/>
                </a:solidFill>
                <a:latin typeface="Calibri"/>
              </a:rPr>
              <a:t>Phone OS and wearable makers adding a smarter Focus mode, and employers and hospitals that need staff reachable without constant buzzing.</a:t>
            </a:r>
          </a:p>
        </p:txBody>
      </p:sp>
      <p:sp>
        <p:nvSpPr>
          <p:cNvPr id="21" name="Team tag"/>
          <p:cNvSpPr/>
          <p:nvPr/>
        </p:nvSpPr>
        <p:spPr>
          <a:xfrm>
            <a:off x="7040880" y="3520440"/>
            <a:ext cx="1645920" cy="1371600"/>
          </a:xfrm>
          <a:prstGeom prst="roundRect">
            <a:avLst>
              <a:gd name="adj" fmla="val 16364"/>
            </a:avLst>
          </a:prstGeom>
          <a:solidFill>
            <a:srgbClr val="A8E6CF"/>
          </a:solidFill>
          <a:ln w="19050">
            <a:solidFill>
              <a:srgbClr val="3B2F5C"/>
            </a:solidFill>
            <a:prstDash val="solid"/>
          </a:ln>
        </p:spPr>
      </p:sp>
      <p:sp>
        <p:nvSpPr>
          <p:cNvPr id="22" name="Text 20"/>
          <p:cNvSpPr txBox="1"/>
          <p:nvPr/>
        </p:nvSpPr>
        <p:spPr>
          <a:xfrm>
            <a:off x="7040880" y="3520440"/>
            <a:ext cx="1645920" cy="1371600"/>
          </a:xfrm>
          <a:prstGeom prst="rect">
            <a:avLst/>
          </a:prstGeom>
          <a:noFill/>
          <a:ln/>
        </p:spPr>
        <p:txBody>
          <a:bodyPr wrap="square" lIns="0" tIns="0" rIns="0" bIns="0" rtlCol="0" anchor="ctr"/>
          <a:lstStyle/>
          <a:p>
            <a:pPr marL="0" indent="0" algn="ctr">
              <a:buNone/>
            </a:pPr>
            <a:r>
              <a:rPr lang="en-US" sz="1200" b="1" dirty="0">
                <a:solidFill>
                  <a:srgbClr val="3B2F5C"/>
                </a:solidFill>
                <a:latin typeface="Calibri" pitchFamily="34" charset="0"/>
                <a:ea typeface="Calibri" pitchFamily="34" charset="-122"/>
                <a:cs typeface="Calibri" pitchFamily="34" charset="-120"/>
              </a:rPr>
              <a:t>Team</a:t>
            </a:r>
            <a:endParaRPr lang="en-US" sz="1200" dirty="0"/>
          </a:p>
          <a:p>
            <a:pPr marL="0" indent="0" algn="ctr">
              <a:buNone/>
            </a:pPr>
            <a:r>
              <a:rPr lang="en-US" sz="1300" dirty="0">
                <a:solidFill>
                  <a:srgbClr val="3B2F5C"/>
                </a:solidFill>
                <a:latin typeface="Calibri" pitchFamily="34" charset="0"/>
                <a:ea typeface="Calibri" pitchFamily="34" charset="-122"/>
                <a:cs typeface="Calibri" pitchFamily="34" charset="-120"/>
              </a:rPr>
              <a:t>Rahul, Yash</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B"/>
        </a:solidFill>
        <a:effectLst/>
      </p:bgPr>
    </p:bg>
    <p:spTree>
      <p:nvGrpSpPr>
        <p:cNvPr id="1" name=""/>
        <p:cNvGrpSpPr/>
        <p:nvPr/>
      </p:nvGrpSpPr>
      <p:grpSpPr>
        <a:xfrm>
          <a:off x="0" y="0"/>
          <a:ext cx="0" cy="0"/>
          <a:chOff x="0" y="0"/>
          <a:chExt cx="0" cy="0"/>
        </a:xfrm>
      </p:grpSpPr>
      <p:sp>
        <p:nvSpPr>
          <p:cNvPr id="2" name="Doodle blob 1"/>
          <p:cNvSpPr/>
          <p:nvPr/>
        </p:nvSpPr>
        <p:spPr>
          <a:xfrm>
            <a:off x="7863840" y="3566160"/>
            <a:ext cx="1828800" cy="1828800"/>
          </a:xfrm>
          <a:prstGeom prst="ellipse">
            <a:avLst/>
          </a:prstGeom>
          <a:solidFill>
            <a:srgbClr val="DCEEFB"/>
          </a:solidFill>
          <a:ln w="12700">
            <a:solidFill>
              <a:srgbClr val="DCEEFB"/>
            </a:solidFill>
            <a:prstDash val="solid"/>
          </a:ln>
        </p:spPr>
      </p:sp>
      <p:sp>
        <p:nvSpPr>
          <p:cNvPr id="3" name="Doodle blob 2"/>
          <p:cNvSpPr/>
          <p:nvPr/>
        </p:nvSpPr>
        <p:spPr>
          <a:xfrm>
            <a:off x="-731520" y="-731520"/>
            <a:ext cx="1645920" cy="1645920"/>
          </a:xfrm>
          <a:prstGeom prst="ellipse">
            <a:avLst/>
          </a:prstGeom>
          <a:solidFill>
            <a:srgbClr val="A9D6F5"/>
          </a:solidFill>
          <a:ln w="12700">
            <a:solidFill>
              <a:srgbClr val="A9D6F5"/>
            </a:solidFill>
            <a:prstDash val="solid"/>
          </a:ln>
        </p:spPr>
      </p:sp>
      <p:sp>
        <p:nvSpPr>
          <p:cNvPr id="4" name="Title"/>
          <p:cNvSpPr txBox="1"/>
          <p:nvPr/>
        </p:nvSpPr>
        <p:spPr>
          <a:xfrm>
            <a:off x="457200" y="713232"/>
            <a:ext cx="6675120" cy="457200"/>
          </a:xfrm>
          <a:prstGeom prst="rect">
            <a:avLst/>
          </a:prstGeom>
          <a:noFill/>
          <a:ln/>
        </p:spPr>
        <p:txBody>
          <a:bodyPr wrap="square" lIns="0" tIns="0" rIns="0" bIns="0" rtlCol="0" anchor="ctr"/>
          <a:lstStyle/>
          <a:p>
            <a:pPr marL="0" indent="0">
              <a:buNone/>
            </a:pPr>
            <a:r>
              <a:rPr lang="en-US" sz="2400" b="1" dirty="0">
                <a:solidFill>
                  <a:srgbClr val="3B2F5C"/>
                </a:solidFill>
                <a:latin typeface="Arial" pitchFamily="34" charset="0"/>
                <a:ea typeface="Arial" pitchFamily="34" charset="-122"/>
                <a:cs typeface="Arial" pitchFamily="34" charset="-120"/>
              </a:rPr>
              <a:t>Screen Time That's Accurate</a:t>
            </a:r>
            <a:endParaRPr lang="en-US" sz="2400" dirty="0"/>
          </a:p>
        </p:txBody>
      </p:sp>
      <p:sp>
        <p:nvSpPr>
          <p:cNvPr id="5" name="Idea badge"/>
          <p:cNvSpPr/>
          <p:nvPr/>
        </p:nvSpPr>
        <p:spPr>
          <a:xfrm>
            <a:off x="7589520" y="365760"/>
            <a:ext cx="777240" cy="777240"/>
          </a:xfrm>
          <a:prstGeom prst="ellipse">
            <a:avLst/>
          </a:prstGeom>
          <a:solidFill>
            <a:srgbClr val="A9D6F5"/>
          </a:solidFill>
          <a:ln w="25400">
            <a:solidFill>
              <a:srgbClr val="3B2F5C"/>
            </a:solidFill>
            <a:prstDash val="solid"/>
          </a:ln>
        </p:spPr>
      </p:sp>
      <p:sp>
        <p:nvSpPr>
          <p:cNvPr id="6" name="Idea number"/>
          <p:cNvSpPr txBox="1"/>
          <p:nvPr/>
        </p:nvSpPr>
        <p:spPr>
          <a:xfrm>
            <a:off x="7589520" y="365760"/>
            <a:ext cx="777240" cy="777240"/>
          </a:xfrm>
          <a:prstGeom prst="rect">
            <a:avLst/>
          </a:prstGeom>
          <a:noFill/>
          <a:ln/>
        </p:spPr>
        <p:txBody>
          <a:bodyPr wrap="square" lIns="0" tIns="0" rIns="0" bIns="0" rtlCol="0" anchor="ctr"/>
          <a:lstStyle/>
          <a:p>
            <a:pPr marL="0" indent="0" algn="ctr">
              <a:buNone/>
            </a:pPr>
            <a:r>
              <a:rPr lang="en-US" sz="2800" b="1" dirty="0">
                <a:solidFill>
                  <a:srgbClr val="3B2F5C"/>
                </a:solidFill>
                <a:latin typeface="Arial" pitchFamily="34" charset="0"/>
                <a:ea typeface="Arial" pitchFamily="34" charset="-122"/>
                <a:cs typeface="Arial" pitchFamily="34" charset="-120"/>
              </a:rPr>
              <a:t>4</a:t>
            </a:r>
            <a:endParaRPr lang="en-US" sz="2800" dirty="0"/>
          </a:p>
        </p:txBody>
      </p:sp>
      <p:sp>
        <p:nvSpPr>
          <p:cNvPr id="7" name="Text 5"/>
          <p:cNvSpPr txBox="1"/>
          <p:nvPr/>
        </p:nvSpPr>
        <p:spPr>
          <a:xfrm>
            <a:off x="457200" y="1188720"/>
            <a:ext cx="4572000" cy="228600"/>
          </a:xfrm>
          <a:prstGeom prst="rect">
            <a:avLst/>
          </a:prstGeom>
          <a:noFill/>
          <a:ln/>
        </p:spPr>
        <p:txBody>
          <a:bodyPr wrap="square" lIns="0" tIns="0" rIns="0" bIns="0" rtlCol="0" anchor="ctr"/>
          <a:lstStyle/>
          <a:p>
            <a:pPr marL="0" indent="0">
              <a:buNone/>
            </a:pPr>
            <a:r>
              <a:rPr lang="en-US" sz="1200" b="1" kern="0" spc="200" dirty="0">
                <a:solidFill>
                  <a:srgbClr val="6B6285"/>
                </a:solidFill>
                <a:latin typeface="Calibri" pitchFamily="34" charset="0"/>
                <a:ea typeface="Calibri" pitchFamily="34" charset="-122"/>
                <a:cs typeface="Calibri" pitchFamily="34" charset="-120"/>
              </a:rPr>
              <a:t>IDEA 4: THE PROBLEM</a:t>
            </a:r>
            <a:endParaRPr lang="en-US" sz="1200" dirty="0"/>
          </a:p>
        </p:txBody>
      </p:sp>
      <p:sp>
        <p:nvSpPr>
          <p:cNvPr id="8" name="Problem card"/>
          <p:cNvSpPr/>
          <p:nvPr/>
        </p:nvSpPr>
        <p:spPr>
          <a:xfrm>
            <a:off x="457200" y="1463040"/>
            <a:ext cx="8229600" cy="1005840"/>
          </a:xfrm>
          <a:prstGeom prst="roundRect">
            <a:avLst>
              <a:gd name="adj" fmla="val 12121"/>
            </a:avLst>
          </a:prstGeom>
          <a:solidFill>
            <a:srgbClr val="DCEEFB"/>
          </a:solidFill>
          <a:ln w="25400">
            <a:solidFill>
              <a:srgbClr val="3B2F5C"/>
            </a:solidFill>
            <a:prstDash val="solid"/>
          </a:ln>
        </p:spPr>
      </p:sp>
      <p:sp>
        <p:nvSpPr>
          <p:cNvPr id="9" name="Text 7"/>
          <p:cNvSpPr txBox="1"/>
          <p:nvPr/>
        </p:nvSpPr>
        <p:spPr>
          <a:xfrm>
            <a:off x="731520" y="1508760"/>
            <a:ext cx="7680960" cy="914400"/>
          </a:xfrm>
          <a:prstGeom prst="rect">
            <a:avLst/>
          </a:prstGeom>
          <a:noFill/>
          <a:ln/>
        </p:spPr>
        <p:txBody>
          <a:bodyPr wrap="square" lIns="0" tIns="0" rIns="0" bIns="0" rtlCol="0" anchor="ctr"/>
          <a:lstStyle/>
          <a:p>
            <a:pPr marL="0" indent="0">
              <a:buNone/>
            </a:pPr>
            <a:r>
              <a:rPr lang="en-US" sz="1700" b="1" dirty="0">
                <a:solidFill>
                  <a:srgbClr val="3B2F5C"/>
                </a:solidFill>
                <a:latin typeface="Arial" pitchFamily="34" charset="0"/>
                <a:ea typeface="Arial" pitchFamily="34" charset="-122"/>
                <a:cs typeface="Arial" pitchFamily="34" charset="-120"/>
              </a:rPr>
              <a:t>“Screen-time reports count any moment the screen is on as usage, even if you only glanced at the time.”</a:t>
            </a:r>
            <a:endParaRPr lang="en-US" sz="1700" dirty="0"/>
          </a:p>
        </p:txBody>
      </p:sp>
      <p:sp>
        <p:nvSpPr>
          <p:cNvPr id="10" name="Empathy card"/>
          <p:cNvSpPr/>
          <p:nvPr/>
        </p:nvSpPr>
        <p:spPr>
          <a:xfrm>
            <a:off x="5532120" y="2834640"/>
            <a:ext cx="3154680" cy="1965960"/>
          </a:xfrm>
          <a:prstGeom prst="roundRect">
            <a:avLst>
              <a:gd name="adj" fmla="val 13333"/>
            </a:avLst>
          </a:prstGeom>
          <a:solidFill>
            <a:srgbClr val="FFFFFF"/>
          </a:solidFill>
          <a:ln w="19050">
            <a:solidFill>
              <a:srgbClr val="3B2F5C"/>
            </a:solidFill>
            <a:prstDash val="solid"/>
          </a:ln>
        </p:spPr>
      </p:sp>
      <p:sp>
        <p:nvSpPr>
          <p:cNvPr id="537" name="Story card"/>
          <p:cNvSpPr/>
          <p:nvPr/>
        </p:nvSpPr>
        <p:spPr>
          <a:xfrm>
            <a:off x="457200" y="2834640"/>
            <a:ext cx="4937760" cy="1965960"/>
          </a:xfrm>
          <a:prstGeom prst="roundRect">
            <a:avLst>
              <a:gd name="adj" fmla="val 13333"/>
            </a:avLst>
          </a:prstGeom>
          <a:solidFill>
            <a:srgbClr val="DCEEFB"/>
          </a:solidFill>
          <a:ln w="19050">
            <a:solidFill>
              <a:srgbClr val="3B2F5C"/>
            </a:solidFill>
            <a:prstDash val="solid"/>
          </a:ln>
        </p:spPr>
      </p:sp>
      <p:sp>
        <p:nvSpPr>
          <p:cNvPr id="538" name="Story pill"/>
          <p:cNvSpPr/>
          <p:nvPr/>
        </p:nvSpPr>
        <p:spPr>
          <a:xfrm>
            <a:off x="640080" y="2651760"/>
            <a:ext cx="1920240" cy="365760"/>
          </a:xfrm>
          <a:prstGeom prst="roundRect">
            <a:avLst>
              <a:gd name="adj" fmla="val 50000"/>
            </a:avLst>
          </a:prstGeom>
          <a:solidFill>
            <a:srgbClr val="A9D6F5"/>
          </a:solidFill>
          <a:ln w="19050">
            <a:solidFill>
              <a:srgbClr val="3B2F5C"/>
            </a:solidFill>
            <a:prstDash val="solid"/>
          </a:ln>
        </p:spPr>
      </p:sp>
      <p:sp>
        <p:nvSpPr>
          <p:cNvPr id="539" name="Story pill text"/>
          <p:cNvSpPr txBox="1"/>
          <p:nvPr/>
        </p:nvSpPr>
        <p:spPr>
          <a:xfrm>
            <a:off x="640080" y="2651760"/>
            <a:ext cx="1920240" cy="365760"/>
          </a:xfrm>
          <a:prstGeom prst="rect">
            <a:avLst/>
          </a:prstGeom>
          <a:noFill/>
          <a:ln/>
        </p:spPr>
        <p:txBody>
          <a:bodyPr wrap="square" lIns="0" tIns="0" rIns="0" bIns="0" rtlCol="0" anchor="ctr"/>
          <a:lstStyle/>
          <a:p>
            <a:pPr marL="0" indent="0" algn="ctr">
              <a:buNone/>
            </a:pPr>
            <a:r>
              <a:rPr lang="en-US" sz="1300" b="1" dirty="0">
                <a:solidFill>
                  <a:srgbClr val="3B2F5C"/>
                </a:solidFill>
                <a:latin typeface="Calibri"/>
              </a:rPr>
              <a:t>Meet Vivek</a:t>
            </a:r>
          </a:p>
        </p:txBody>
      </p:sp>
      <p:sp>
        <p:nvSpPr>
          <p:cNvPr id="540" name="Story text"/>
          <p:cNvSpPr txBox="1"/>
          <p:nvPr/>
        </p:nvSpPr>
        <p:spPr>
          <a:xfrm>
            <a:off x="640080" y="2971800"/>
            <a:ext cx="4572000" cy="1737360"/>
          </a:xfrm>
          <a:prstGeom prst="rect">
            <a:avLst/>
          </a:prstGeom>
          <a:noFill/>
          <a:ln/>
        </p:spPr>
        <p:txBody>
          <a:bodyPr wrap="square" lIns="0" tIns="0" rIns="0" bIns="0" rtlCol="0" anchor="ctr"/>
          <a:lstStyle/>
          <a:p>
            <a:pPr marL="0" indent="0" algn="l">
              <a:buNone/>
            </a:pPr>
            <a:r>
              <a:rPr lang="en-US" sz="1300" dirty="0">
                <a:solidFill>
                  <a:srgbClr val="3B2F5C"/>
                </a:solidFill>
                <a:latin typeface="Calibri"/>
              </a:rPr>
              <a:t>Vivek is trying to be kinder to himself after a stressful exam season. His weekly report says 7 hours a day, but a lot of that was glancing at the time, a recipe propped up while cooking and a map on the bus. He feels guilty for hours he never really spent and stops trusting the report at all.</a:t>
            </a:r>
          </a:p>
        </p:txBody>
      </p:sp>
      <p:sp>
        <p:nvSpPr>
          <p:cNvPr id="11" name="Pill"/>
          <p:cNvSpPr/>
          <p:nvPr/>
        </p:nvSpPr>
        <p:spPr>
          <a:xfrm>
            <a:off x="5715000" y="2651760"/>
            <a:ext cx="1463040" cy="365760"/>
          </a:xfrm>
          <a:prstGeom prst="roundRect">
            <a:avLst>
              <a:gd name="adj" fmla="val 50000"/>
            </a:avLst>
          </a:prstGeom>
          <a:solidFill>
            <a:srgbClr val="A9D6F5"/>
          </a:solidFill>
          <a:ln w="19050">
            <a:solidFill>
              <a:srgbClr val="3B2F5C"/>
            </a:solidFill>
            <a:prstDash val="solid"/>
          </a:ln>
        </p:spPr>
      </p:sp>
      <p:sp>
        <p:nvSpPr>
          <p:cNvPr id="12" name="Pill text"/>
          <p:cNvSpPr txBox="1"/>
          <p:nvPr/>
        </p:nvSpPr>
        <p:spPr>
          <a:xfrm>
            <a:off x="5715000" y="2651760"/>
            <a:ext cx="1463040" cy="365760"/>
          </a:xfrm>
          <a:prstGeom prst="rect">
            <a:avLst/>
          </a:prstGeom>
          <a:noFill/>
          <a:ln/>
        </p:spPr>
        <p:txBody>
          <a:bodyPr wrap="square" lIns="0" tIns="0" rIns="0" bIns="0" rtlCol="0" anchor="ctr"/>
          <a:lstStyle/>
          <a:p>
            <a:pPr marL="0" indent="0" algn="ctr">
              <a:buNone/>
            </a:pPr>
            <a:r>
              <a:rPr lang="en-US" sz="1300" b="1" dirty="0">
                <a:solidFill>
                  <a:srgbClr val="3B2F5C"/>
                </a:solidFill>
                <a:latin typeface="Calibri" pitchFamily="34" charset="0"/>
                <a:ea typeface="Calibri" pitchFamily="34" charset="-122"/>
                <a:cs typeface="Calibri" pitchFamily="34" charset="-120"/>
              </a:rPr>
              <a:t>Why it hurts</a:t>
            </a:r>
            <a:endParaRPr lang="en-US" sz="1300" dirty="0"/>
          </a:p>
        </p:txBody>
      </p:sp>
      <p:sp>
        <p:nvSpPr>
          <p:cNvPr id="13" name="Text 11"/>
          <p:cNvSpPr txBox="1"/>
          <p:nvPr/>
        </p:nvSpPr>
        <p:spPr>
          <a:xfrm>
            <a:off x="5715000" y="2971800"/>
            <a:ext cx="2788920" cy="1737360"/>
          </a:xfrm>
          <a:prstGeom prst="rect">
            <a:avLst/>
          </a:prstGeom>
          <a:noFill/>
          <a:ln/>
        </p:spPr>
        <p:txBody>
          <a:bodyPr wrap="square" lIns="0" tIns="0" rIns="0" bIns="0" rtlCol="0" anchor="ctr"/>
          <a:lstStyle/>
          <a:p>
            <a:pPr marL="0" indent="0">
              <a:buNone/>
            </a:pPr>
            <a:r>
              <a:rPr lang="en-US" sz="1300" dirty="0">
                <a:solidFill>
                  <a:srgbClr val="3B2F5C"/>
                </a:solidFill>
                <a:latin typeface="Calibri" pitchFamily="34" charset="0"/>
                <a:ea typeface="Calibri" pitchFamily="34" charset="-122"/>
                <a:cs typeface="Calibri" pitchFamily="34" charset="-120"/>
              </a:rPr>
              <a:t>People track screen time to feel healthier and in control. A wrong number turns a good intention into guilt, and they give up on the habit they wanted to build.</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B"/>
        </a:solidFill>
        <a:effectLst/>
      </p:bgPr>
    </p:bg>
    <p:spTree>
      <p:nvGrpSpPr>
        <p:cNvPr id="1" name=""/>
        <p:cNvGrpSpPr/>
        <p:nvPr/>
      </p:nvGrpSpPr>
      <p:grpSpPr>
        <a:xfrm>
          <a:off x="0" y="0"/>
          <a:ext cx="0" cy="0"/>
          <a:chOff x="0" y="0"/>
          <a:chExt cx="0" cy="0"/>
        </a:xfrm>
      </p:grpSpPr>
      <p:sp>
        <p:nvSpPr>
          <p:cNvPr id="2" name="Doodle blob 1"/>
          <p:cNvSpPr/>
          <p:nvPr/>
        </p:nvSpPr>
        <p:spPr>
          <a:xfrm>
            <a:off x="8046720" y="4206240"/>
            <a:ext cx="1645920" cy="1645920"/>
          </a:xfrm>
          <a:prstGeom prst="ellipse">
            <a:avLst/>
          </a:prstGeom>
          <a:solidFill>
            <a:srgbClr val="DCEEFB"/>
          </a:solidFill>
          <a:ln w="12700">
            <a:solidFill>
              <a:srgbClr val="DCEEFB"/>
            </a:solidFill>
            <a:prstDash val="solid"/>
          </a:ln>
        </p:spPr>
      </p:sp>
      <p:sp>
        <p:nvSpPr>
          <p:cNvPr id="3" name="Doodle blob 2"/>
          <p:cNvSpPr/>
          <p:nvPr/>
        </p:nvSpPr>
        <p:spPr>
          <a:xfrm>
            <a:off x="-731520" y="4389120"/>
            <a:ext cx="1280160" cy="1280160"/>
          </a:xfrm>
          <a:prstGeom prst="ellipse">
            <a:avLst/>
          </a:prstGeom>
          <a:solidFill>
            <a:srgbClr val="DCEEFB"/>
          </a:solidFill>
          <a:ln w="12700">
            <a:solidFill>
              <a:srgbClr val="DCEEFB"/>
            </a:solidFill>
            <a:prstDash val="solid"/>
          </a:ln>
        </p:spPr>
      </p:sp>
      <p:sp>
        <p:nvSpPr>
          <p:cNvPr id="4" name="Title"/>
          <p:cNvSpPr txBox="1"/>
          <p:nvPr/>
        </p:nvSpPr>
        <p:spPr>
          <a:xfrm>
            <a:off x="457200" y="274320"/>
            <a:ext cx="6675120" cy="731520"/>
          </a:xfrm>
          <a:prstGeom prst="rect">
            <a:avLst/>
          </a:prstGeom>
          <a:noFill/>
          <a:ln/>
        </p:spPr>
        <p:txBody>
          <a:bodyPr wrap="square" lIns="0" tIns="0" rIns="0" bIns="0" rtlCol="0" anchor="ctr"/>
          <a:lstStyle/>
          <a:p>
            <a:pPr marL="0" indent="0">
              <a:buNone/>
            </a:pPr>
            <a:r>
              <a:rPr lang="en-US" sz="2400" b="1" dirty="0">
                <a:solidFill>
                  <a:srgbClr val="3B2F5C"/>
                </a:solidFill>
                <a:latin typeface="Arial" pitchFamily="34" charset="0"/>
                <a:ea typeface="Arial" pitchFamily="34" charset="-122"/>
                <a:cs typeface="Arial" pitchFamily="34" charset="-120"/>
              </a:rPr>
              <a:t>Idea 4: Our approach</a:t>
            </a:r>
            <a:endParaRPr lang="en-US" sz="2400" dirty="0"/>
          </a:p>
        </p:txBody>
      </p:sp>
      <p:sp>
        <p:nvSpPr>
          <p:cNvPr id="5" name="Idea badge"/>
          <p:cNvSpPr/>
          <p:nvPr/>
        </p:nvSpPr>
        <p:spPr>
          <a:xfrm>
            <a:off x="7589520" y="256032"/>
            <a:ext cx="777240" cy="777240"/>
          </a:xfrm>
          <a:prstGeom prst="ellipse">
            <a:avLst/>
          </a:prstGeom>
          <a:solidFill>
            <a:srgbClr val="A9D6F5"/>
          </a:solidFill>
          <a:ln w="25400">
            <a:solidFill>
              <a:srgbClr val="3B2F5C"/>
            </a:solidFill>
            <a:prstDash val="solid"/>
          </a:ln>
        </p:spPr>
      </p:sp>
      <p:sp>
        <p:nvSpPr>
          <p:cNvPr id="6" name="Idea number"/>
          <p:cNvSpPr txBox="1"/>
          <p:nvPr/>
        </p:nvSpPr>
        <p:spPr>
          <a:xfrm>
            <a:off x="7589520" y="256032"/>
            <a:ext cx="777240" cy="777240"/>
          </a:xfrm>
          <a:prstGeom prst="rect">
            <a:avLst/>
          </a:prstGeom>
          <a:noFill/>
          <a:ln/>
        </p:spPr>
        <p:txBody>
          <a:bodyPr wrap="square" lIns="0" tIns="0" rIns="0" bIns="0" rtlCol="0" anchor="ctr"/>
          <a:lstStyle/>
          <a:p>
            <a:pPr marL="0" indent="0" algn="ctr">
              <a:buNone/>
            </a:pPr>
            <a:r>
              <a:rPr lang="en-US" sz="2800" b="1" dirty="0">
                <a:solidFill>
                  <a:srgbClr val="3B2F5C"/>
                </a:solidFill>
                <a:latin typeface="Arial" pitchFamily="34" charset="0"/>
                <a:ea typeface="Arial" pitchFamily="34" charset="-122"/>
                <a:cs typeface="Arial" pitchFamily="34" charset="-120"/>
              </a:rPr>
              <a:t>4</a:t>
            </a:r>
            <a:endParaRPr lang="en-US" sz="2800" dirty="0"/>
          </a:p>
        </p:txBody>
      </p:sp>
      <p:sp>
        <p:nvSpPr>
          <p:cNvPr id="7" name="Card Our Approach"/>
          <p:cNvSpPr/>
          <p:nvPr/>
        </p:nvSpPr>
        <p:spPr>
          <a:xfrm>
            <a:off x="457200" y="1371600"/>
            <a:ext cx="2743200" cy="1828800"/>
          </a:xfrm>
          <a:prstGeom prst="roundRect">
            <a:avLst>
              <a:gd name="adj" fmla="val 7660"/>
            </a:avLst>
          </a:prstGeom>
          <a:solidFill>
            <a:srgbClr val="DCEEFB"/>
          </a:solidFill>
          <a:ln w="19050">
            <a:solidFill>
              <a:srgbClr val="3B2F5C"/>
            </a:solidFill>
            <a:prstDash val="solid"/>
          </a:ln>
        </p:spPr>
      </p:sp>
      <p:sp>
        <p:nvSpPr>
          <p:cNvPr id="8" name="Pill"/>
          <p:cNvSpPr/>
          <p:nvPr/>
        </p:nvSpPr>
        <p:spPr>
          <a:xfrm>
            <a:off x="640080" y="1188720"/>
            <a:ext cx="1737360" cy="365760"/>
          </a:xfrm>
          <a:prstGeom prst="roundRect">
            <a:avLst>
              <a:gd name="adj" fmla="val 50000"/>
            </a:avLst>
          </a:prstGeom>
          <a:solidFill>
            <a:srgbClr val="A9D6F5"/>
          </a:solidFill>
          <a:ln w="19050">
            <a:solidFill>
              <a:srgbClr val="3B2F5C"/>
            </a:solidFill>
            <a:prstDash val="solid"/>
          </a:ln>
        </p:spPr>
      </p:sp>
      <p:sp>
        <p:nvSpPr>
          <p:cNvPr id="9" name="Pill text"/>
          <p:cNvSpPr txBox="1"/>
          <p:nvPr/>
        </p:nvSpPr>
        <p:spPr>
          <a:xfrm>
            <a:off x="640080" y="1188720"/>
            <a:ext cx="1737360" cy="365760"/>
          </a:xfrm>
          <a:prstGeom prst="rect">
            <a:avLst/>
          </a:prstGeom>
          <a:noFill/>
          <a:ln/>
        </p:spPr>
        <p:txBody>
          <a:bodyPr wrap="square" lIns="0" tIns="0" rIns="0" bIns="0" rtlCol="0" anchor="ctr"/>
          <a:lstStyle/>
          <a:p>
            <a:pPr marL="0" indent="0" algn="ctr">
              <a:buNone/>
            </a:pPr>
            <a:r>
              <a:rPr lang="en-US" sz="1300" b="1" dirty="0">
                <a:solidFill>
                  <a:srgbClr val="3B2F5C"/>
                </a:solidFill>
                <a:latin typeface="Calibri" pitchFamily="34" charset="0"/>
                <a:ea typeface="Calibri" pitchFamily="34" charset="-122"/>
                <a:cs typeface="Calibri" pitchFamily="34" charset="-120"/>
              </a:rPr>
              <a:t>Our Approach</a:t>
            </a:r>
            <a:endParaRPr lang="en-US" sz="1300" dirty="0"/>
          </a:p>
        </p:txBody>
      </p:sp>
      <p:sp>
        <p:nvSpPr>
          <p:cNvPr id="10" name="Text 8"/>
          <p:cNvSpPr txBox="1"/>
          <p:nvPr/>
        </p:nvSpPr>
        <p:spPr>
          <a:xfrm>
            <a:off x="621792" y="1645920"/>
            <a:ext cx="2423160" cy="1463040"/>
          </a:xfrm>
          <a:prstGeom prst="rect">
            <a:avLst/>
          </a:prstGeom>
          <a:noFill/>
          <a:ln/>
        </p:spPr>
        <p:txBody>
          <a:bodyPr wrap="square" lIns="0" tIns="0" rIns="0" bIns="0" rtlCol="0" anchor="ctr"/>
          <a:lstStyle/>
          <a:p>
            <a:pPr marL="0" indent="0">
              <a:buNone/>
            </a:pPr>
            <a:r>
              <a:rPr lang="en-US" sz="1300" dirty="0">
                <a:solidFill>
                  <a:srgbClr val="3B2F5C"/>
                </a:solidFill>
                <a:latin typeface="Calibri" pitchFamily="34" charset="0"/>
                <a:ea typeface="Calibri" pitchFamily="34" charset="-122"/>
                <a:cs typeface="Calibri" pitchFamily="34" charset="-120"/>
              </a:rPr>
              <a:t>Uses on-device front camera eye tracking to see whether you are actually looking at the screen, and measures real usage instead of screen-on time.</a:t>
            </a:r>
            <a:endParaRPr lang="en-US" sz="1300" dirty="0"/>
          </a:p>
        </p:txBody>
      </p:sp>
      <p:sp>
        <p:nvSpPr>
          <p:cNvPr id="11" name="Card Key Inputs"/>
          <p:cNvSpPr/>
          <p:nvPr/>
        </p:nvSpPr>
        <p:spPr>
          <a:xfrm>
            <a:off x="3337560" y="1371600"/>
            <a:ext cx="2743200" cy="1828800"/>
          </a:xfrm>
          <a:prstGeom prst="roundRect">
            <a:avLst>
              <a:gd name="adj" fmla="val 7660"/>
            </a:avLst>
          </a:prstGeom>
          <a:solidFill>
            <a:srgbClr val="FFFFFF"/>
          </a:solidFill>
          <a:ln w="19050">
            <a:solidFill>
              <a:srgbClr val="3B2F5C"/>
            </a:solidFill>
            <a:prstDash val="solid"/>
          </a:ln>
        </p:spPr>
      </p:sp>
      <p:sp>
        <p:nvSpPr>
          <p:cNvPr id="12" name="Pill"/>
          <p:cNvSpPr/>
          <p:nvPr/>
        </p:nvSpPr>
        <p:spPr>
          <a:xfrm>
            <a:off x="3520440" y="1188720"/>
            <a:ext cx="1737360" cy="365760"/>
          </a:xfrm>
          <a:prstGeom prst="roundRect">
            <a:avLst>
              <a:gd name="adj" fmla="val 50000"/>
            </a:avLst>
          </a:prstGeom>
          <a:solidFill>
            <a:srgbClr val="A9D6F5"/>
          </a:solidFill>
          <a:ln w="19050">
            <a:solidFill>
              <a:srgbClr val="3B2F5C"/>
            </a:solidFill>
            <a:prstDash val="solid"/>
          </a:ln>
        </p:spPr>
      </p:sp>
      <p:sp>
        <p:nvSpPr>
          <p:cNvPr id="13" name="Pill text"/>
          <p:cNvSpPr txBox="1"/>
          <p:nvPr/>
        </p:nvSpPr>
        <p:spPr>
          <a:xfrm>
            <a:off x="3520440" y="1188720"/>
            <a:ext cx="1737360" cy="365760"/>
          </a:xfrm>
          <a:prstGeom prst="rect">
            <a:avLst/>
          </a:prstGeom>
          <a:noFill/>
          <a:ln/>
        </p:spPr>
        <p:txBody>
          <a:bodyPr wrap="square" lIns="0" tIns="0" rIns="0" bIns="0" rtlCol="0" anchor="ctr"/>
          <a:lstStyle/>
          <a:p>
            <a:pPr marL="0" indent="0" algn="ctr">
              <a:buNone/>
            </a:pPr>
            <a:r>
              <a:rPr lang="en-US" sz="1300" b="1" dirty="0">
                <a:solidFill>
                  <a:srgbClr val="3B2F5C"/>
                </a:solidFill>
                <a:latin typeface="Calibri" pitchFamily="34" charset="0"/>
                <a:ea typeface="Calibri" pitchFamily="34" charset="-122"/>
                <a:cs typeface="Calibri" pitchFamily="34" charset="-120"/>
              </a:rPr>
              <a:t>Key Inputs</a:t>
            </a:r>
            <a:endParaRPr lang="en-US" sz="1300" dirty="0"/>
          </a:p>
        </p:txBody>
      </p:sp>
      <p:sp>
        <p:nvSpPr>
          <p:cNvPr id="14" name="Text 12"/>
          <p:cNvSpPr txBox="1"/>
          <p:nvPr/>
        </p:nvSpPr>
        <p:spPr>
          <a:xfrm>
            <a:off x="3502152" y="1645920"/>
            <a:ext cx="2423160" cy="1463040"/>
          </a:xfrm>
          <a:prstGeom prst="rect">
            <a:avLst/>
          </a:prstGeom>
          <a:noFill/>
          <a:ln/>
        </p:spPr>
        <p:txBody>
          <a:bodyPr wrap="square" lIns="0" tIns="0" rIns="0" bIns="0" rtlCol="0" anchor="ctr"/>
          <a:lstStyle/>
          <a:p>
            <a:pPr marL="342900" indent="-342900">
              <a:spcAft>
                <a:spcPts val="400"/>
              </a:spcAft>
              <a:buSzPct val="100000"/>
              <a:buChar char="•"/>
            </a:pPr>
            <a:r>
              <a:rPr lang="en-US" sz="1300" dirty="0">
                <a:solidFill>
                  <a:srgbClr val="3B2F5C"/>
                </a:solidFill>
                <a:latin typeface="Calibri" pitchFamily="34" charset="0"/>
                <a:ea typeface="Calibri" pitchFamily="34" charset="-122"/>
                <a:cs typeface="Calibri" pitchFamily="34" charset="-120"/>
              </a:rPr>
              <a:t>Front camera (gaze detection)</a:t>
            </a:r>
            <a:endParaRPr lang="en-US" sz="1300" dirty="0"/>
          </a:p>
          <a:p>
            <a:pPr marL="342900" indent="-342900">
              <a:spcAft>
                <a:spcPts val="400"/>
              </a:spcAft>
              <a:buSzPct val="100000"/>
              <a:buChar char="•"/>
            </a:pPr>
            <a:r>
              <a:rPr lang="en-US" sz="1300" dirty="0">
                <a:solidFill>
                  <a:srgbClr val="3B2F5C"/>
                </a:solidFill>
                <a:latin typeface="Calibri" pitchFamily="34" charset="0"/>
                <a:ea typeface="Calibri" pitchFamily="34" charset="-122"/>
                <a:cs typeface="Calibri" pitchFamily="34" charset="-120"/>
              </a:rPr>
              <a:t>App in use</a:t>
            </a:r>
            <a:endParaRPr lang="en-US" sz="1300" dirty="0"/>
          </a:p>
          <a:p>
            <a:pPr marL="342900" indent="-342900">
              <a:spcAft>
                <a:spcPts val="400"/>
              </a:spcAft>
              <a:buSzPct val="100000"/>
              <a:buChar char="•"/>
            </a:pPr>
            <a:r>
              <a:rPr lang="en-US" sz="1300" dirty="0">
                <a:solidFill>
                  <a:srgbClr val="3B2F5C"/>
                </a:solidFill>
                <a:latin typeface="Calibri" pitchFamily="34" charset="0"/>
                <a:ea typeface="Calibri" pitchFamily="34" charset="-122"/>
                <a:cs typeface="Calibri" pitchFamily="34" charset="-120"/>
              </a:rPr>
              <a:t>Screen state &amp; duration</a:t>
            </a:r>
            <a:endParaRPr lang="en-US" sz="1300" dirty="0"/>
          </a:p>
        </p:txBody>
      </p:sp>
      <p:sp>
        <p:nvSpPr>
          <p:cNvPr id="15" name="Card Expected Outcome"/>
          <p:cNvSpPr/>
          <p:nvPr/>
        </p:nvSpPr>
        <p:spPr>
          <a:xfrm>
            <a:off x="6217920" y="1371600"/>
            <a:ext cx="2468880" cy="1828800"/>
          </a:xfrm>
          <a:prstGeom prst="roundRect">
            <a:avLst>
              <a:gd name="adj" fmla="val 7660"/>
            </a:avLst>
          </a:prstGeom>
          <a:solidFill>
            <a:srgbClr val="DCEEFB"/>
          </a:solidFill>
          <a:ln w="19050">
            <a:solidFill>
              <a:srgbClr val="3B2F5C"/>
            </a:solidFill>
            <a:prstDash val="solid"/>
          </a:ln>
        </p:spPr>
      </p:sp>
      <p:sp>
        <p:nvSpPr>
          <p:cNvPr id="16" name="Pill"/>
          <p:cNvSpPr/>
          <p:nvPr/>
        </p:nvSpPr>
        <p:spPr>
          <a:xfrm>
            <a:off x="6400800" y="1188720"/>
            <a:ext cx="1737360" cy="365760"/>
          </a:xfrm>
          <a:prstGeom prst="roundRect">
            <a:avLst>
              <a:gd name="adj" fmla="val 50000"/>
            </a:avLst>
          </a:prstGeom>
          <a:solidFill>
            <a:srgbClr val="A9D6F5"/>
          </a:solidFill>
          <a:ln w="19050">
            <a:solidFill>
              <a:srgbClr val="3B2F5C"/>
            </a:solidFill>
            <a:prstDash val="solid"/>
          </a:ln>
        </p:spPr>
      </p:sp>
      <p:sp>
        <p:nvSpPr>
          <p:cNvPr id="17" name="Pill text"/>
          <p:cNvSpPr txBox="1"/>
          <p:nvPr/>
        </p:nvSpPr>
        <p:spPr>
          <a:xfrm>
            <a:off x="6400800" y="1188720"/>
            <a:ext cx="1737360" cy="365760"/>
          </a:xfrm>
          <a:prstGeom prst="rect">
            <a:avLst/>
          </a:prstGeom>
          <a:noFill/>
          <a:ln/>
        </p:spPr>
        <p:txBody>
          <a:bodyPr wrap="square" lIns="0" tIns="0" rIns="0" bIns="0" rtlCol="0" anchor="ctr"/>
          <a:lstStyle/>
          <a:p>
            <a:pPr marL="0" indent="0" algn="ctr">
              <a:buNone/>
            </a:pPr>
            <a:r>
              <a:rPr lang="en-US" sz="1300" b="1" dirty="0">
                <a:solidFill>
                  <a:srgbClr val="3B2F5C"/>
                </a:solidFill>
                <a:latin typeface="Calibri" pitchFamily="34" charset="0"/>
                <a:ea typeface="Calibri" pitchFamily="34" charset="-122"/>
                <a:cs typeface="Calibri" pitchFamily="34" charset="-120"/>
              </a:rPr>
              <a:t>Expected Outcome</a:t>
            </a:r>
            <a:endParaRPr lang="en-US" sz="1300" dirty="0"/>
          </a:p>
        </p:txBody>
      </p:sp>
      <p:sp>
        <p:nvSpPr>
          <p:cNvPr id="18" name="Text 16"/>
          <p:cNvSpPr txBox="1"/>
          <p:nvPr/>
        </p:nvSpPr>
        <p:spPr>
          <a:xfrm>
            <a:off x="6382512" y="1645920"/>
            <a:ext cx="2148840" cy="1463040"/>
          </a:xfrm>
          <a:prstGeom prst="rect">
            <a:avLst/>
          </a:prstGeom>
          <a:noFill/>
          <a:ln/>
        </p:spPr>
        <p:txBody>
          <a:bodyPr wrap="square" lIns="0" tIns="0" rIns="0" bIns="0" rtlCol="0" anchor="ctr"/>
          <a:lstStyle/>
          <a:p>
            <a:pPr marL="0" indent="0">
              <a:buNone/>
            </a:pPr>
            <a:r>
              <a:rPr lang="en-US" sz="1300" dirty="0">
                <a:solidFill>
                  <a:srgbClr val="3B2F5C"/>
                </a:solidFill>
                <a:latin typeface="Calibri" pitchFamily="34" charset="0"/>
                <a:ea typeface="Calibri" pitchFamily="34" charset="-122"/>
                <a:cs typeface="Calibri" pitchFamily="34" charset="-120"/>
              </a:rPr>
              <a:t>True usage insights. Helps build better digital habits.</a:t>
            </a:r>
            <a:endParaRPr lang="en-US" sz="1300" dirty="0"/>
          </a:p>
        </p:txBody>
      </p:sp>
      <p:sp>
        <p:nvSpPr>
          <p:cNvPr id="541" name="Who card"/>
          <p:cNvSpPr/>
          <p:nvPr/>
        </p:nvSpPr>
        <p:spPr>
          <a:xfrm>
            <a:off x="457200" y="3520440"/>
            <a:ext cx="3131820" cy="1371600"/>
          </a:xfrm>
          <a:prstGeom prst="roundRect">
            <a:avLst>
              <a:gd name="adj" fmla="val 13333"/>
            </a:avLst>
          </a:prstGeom>
          <a:solidFill>
            <a:srgbClr val="DCEEFB"/>
          </a:solidFill>
          <a:ln w="19050">
            <a:solidFill>
              <a:srgbClr val="3B2F5C"/>
            </a:solidFill>
            <a:prstDash val="solid"/>
          </a:ln>
        </p:spPr>
      </p:sp>
      <p:sp>
        <p:nvSpPr>
          <p:cNvPr id="542" name="Buyer card"/>
          <p:cNvSpPr/>
          <p:nvPr/>
        </p:nvSpPr>
        <p:spPr>
          <a:xfrm>
            <a:off x="3726180" y="3520440"/>
            <a:ext cx="3131820" cy="1371600"/>
          </a:xfrm>
          <a:prstGeom prst="roundRect">
            <a:avLst>
              <a:gd name="adj" fmla="val 13333"/>
            </a:avLst>
          </a:prstGeom>
          <a:solidFill>
            <a:srgbClr val="FFFFFF"/>
          </a:solidFill>
          <a:ln w="19050">
            <a:solidFill>
              <a:srgbClr val="3B2F5C"/>
            </a:solidFill>
            <a:prstDash val="solid"/>
          </a:ln>
        </p:spPr>
      </p:sp>
      <p:sp>
        <p:nvSpPr>
          <p:cNvPr id="543" name="Who pill"/>
          <p:cNvSpPr/>
          <p:nvPr/>
        </p:nvSpPr>
        <p:spPr>
          <a:xfrm>
            <a:off x="640080" y="3337560"/>
            <a:ext cx="1828800" cy="365760"/>
          </a:xfrm>
          <a:prstGeom prst="roundRect">
            <a:avLst>
              <a:gd name="adj" fmla="val 50000"/>
            </a:avLst>
          </a:prstGeom>
          <a:solidFill>
            <a:srgbClr val="A9D6F5"/>
          </a:solidFill>
          <a:ln w="19050">
            <a:solidFill>
              <a:srgbClr val="3B2F5C"/>
            </a:solidFill>
            <a:prstDash val="solid"/>
          </a:ln>
        </p:spPr>
      </p:sp>
      <p:sp>
        <p:nvSpPr>
          <p:cNvPr id="544" name="Who pill text"/>
          <p:cNvSpPr txBox="1"/>
          <p:nvPr/>
        </p:nvSpPr>
        <p:spPr>
          <a:xfrm>
            <a:off x="640080" y="3337560"/>
            <a:ext cx="1828800" cy="365760"/>
          </a:xfrm>
          <a:prstGeom prst="rect">
            <a:avLst/>
          </a:prstGeom>
          <a:noFill/>
          <a:ln/>
        </p:spPr>
        <p:txBody>
          <a:bodyPr wrap="square" lIns="0" tIns="0" rIns="0" bIns="0" rtlCol="0" anchor="ctr"/>
          <a:lstStyle/>
          <a:p>
            <a:pPr marL="0" indent="0" algn="ctr">
              <a:buNone/>
            </a:pPr>
            <a:r>
              <a:rPr lang="en-US" sz="1300" b="1" dirty="0">
                <a:solidFill>
                  <a:srgbClr val="3B2F5C"/>
                </a:solidFill>
                <a:latin typeface="Calibri"/>
              </a:rPr>
              <a:t>Who it’s for</a:t>
            </a:r>
          </a:p>
        </p:txBody>
      </p:sp>
      <p:sp>
        <p:nvSpPr>
          <p:cNvPr id="545" name="Buyer pill"/>
          <p:cNvSpPr/>
          <p:nvPr/>
        </p:nvSpPr>
        <p:spPr>
          <a:xfrm>
            <a:off x="3909060" y="3337560"/>
            <a:ext cx="2286000" cy="365760"/>
          </a:xfrm>
          <a:prstGeom prst="roundRect">
            <a:avLst>
              <a:gd name="adj" fmla="val 50000"/>
            </a:avLst>
          </a:prstGeom>
          <a:solidFill>
            <a:srgbClr val="A9D6F5"/>
          </a:solidFill>
          <a:ln w="19050">
            <a:solidFill>
              <a:srgbClr val="3B2F5C"/>
            </a:solidFill>
            <a:prstDash val="solid"/>
          </a:ln>
        </p:spPr>
      </p:sp>
      <p:sp>
        <p:nvSpPr>
          <p:cNvPr id="546" name="Buyer pill text"/>
          <p:cNvSpPr txBox="1"/>
          <p:nvPr/>
        </p:nvSpPr>
        <p:spPr>
          <a:xfrm>
            <a:off x="3909060" y="3337560"/>
            <a:ext cx="2286000" cy="365760"/>
          </a:xfrm>
          <a:prstGeom prst="rect">
            <a:avLst/>
          </a:prstGeom>
          <a:noFill/>
          <a:ln/>
        </p:spPr>
        <p:txBody>
          <a:bodyPr wrap="square" lIns="0" tIns="0" rIns="0" bIns="0" rtlCol="0" anchor="ctr"/>
          <a:lstStyle/>
          <a:p>
            <a:pPr marL="0" indent="0" algn="ctr">
              <a:buNone/>
            </a:pPr>
            <a:r>
              <a:rPr lang="en-US" sz="1300" b="1" dirty="0">
                <a:solidFill>
                  <a:srgbClr val="3B2F5C"/>
                </a:solidFill>
                <a:latin typeface="Calibri"/>
              </a:rPr>
              <a:t>Who would buy it</a:t>
            </a:r>
          </a:p>
        </p:txBody>
      </p:sp>
      <p:sp>
        <p:nvSpPr>
          <p:cNvPr id="547" name="Who text"/>
          <p:cNvSpPr txBox="1"/>
          <p:nvPr/>
        </p:nvSpPr>
        <p:spPr>
          <a:xfrm>
            <a:off x="640080" y="3703320"/>
            <a:ext cx="2766060" cy="1143000"/>
          </a:xfrm>
          <a:prstGeom prst="rect">
            <a:avLst/>
          </a:prstGeom>
          <a:noFill/>
          <a:ln/>
        </p:spPr>
        <p:txBody>
          <a:bodyPr wrap="square" lIns="0" tIns="0" rIns="0" bIns="0" rtlCol="0" anchor="ctr"/>
          <a:lstStyle/>
          <a:p>
            <a:pPr marL="0" indent="0" algn="l">
              <a:buNone/>
            </a:pPr>
            <a:r>
              <a:rPr lang="en-US" sz="1200" dirty="0">
                <a:solidFill>
                  <a:srgbClr val="3B2F5C"/>
                </a:solidFill>
                <a:latin typeface="Calibri"/>
              </a:rPr>
              <a:t>Students, creators and parents building healthier digital habits, including parents who want an honest picture of their child’s screen time instead of a guess.</a:t>
            </a:r>
          </a:p>
        </p:txBody>
      </p:sp>
      <p:sp>
        <p:nvSpPr>
          <p:cNvPr id="548" name="Buyer text"/>
          <p:cNvSpPr txBox="1"/>
          <p:nvPr/>
        </p:nvSpPr>
        <p:spPr>
          <a:xfrm>
            <a:off x="3909060" y="3703320"/>
            <a:ext cx="2766060" cy="1143000"/>
          </a:xfrm>
          <a:prstGeom prst="rect">
            <a:avLst/>
          </a:prstGeom>
          <a:noFill/>
          <a:ln/>
        </p:spPr>
        <p:txBody>
          <a:bodyPr wrap="square" lIns="0" tIns="0" rIns="0" bIns="0" rtlCol="0" anchor="ctr"/>
          <a:lstStyle/>
          <a:p>
            <a:pPr marL="0" indent="0" algn="l">
              <a:buNone/>
            </a:pPr>
            <a:r>
              <a:rPr lang="en-US" sz="1200" dirty="0">
                <a:solidFill>
                  <a:srgbClr val="3B2F5C"/>
                </a:solidFill>
                <a:latin typeface="Calibri"/>
              </a:rPr>
              <a:t>Digital-wellbeing and parental-control apps, phone makers, and schools or families who want a report they can trust.</a:t>
            </a:r>
          </a:p>
        </p:txBody>
      </p:sp>
      <p:sp>
        <p:nvSpPr>
          <p:cNvPr id="21" name="Team tag"/>
          <p:cNvSpPr/>
          <p:nvPr/>
        </p:nvSpPr>
        <p:spPr>
          <a:xfrm>
            <a:off x="7040880" y="3520440"/>
            <a:ext cx="1645920" cy="1371600"/>
          </a:xfrm>
          <a:prstGeom prst="roundRect">
            <a:avLst>
              <a:gd name="adj" fmla="val 16364"/>
            </a:avLst>
          </a:prstGeom>
          <a:solidFill>
            <a:srgbClr val="A9D6F5"/>
          </a:solidFill>
          <a:ln w="19050">
            <a:solidFill>
              <a:srgbClr val="3B2F5C"/>
            </a:solidFill>
            <a:prstDash val="solid"/>
          </a:ln>
        </p:spPr>
      </p:sp>
      <p:sp>
        <p:nvSpPr>
          <p:cNvPr id="22" name="Text 20"/>
          <p:cNvSpPr txBox="1"/>
          <p:nvPr/>
        </p:nvSpPr>
        <p:spPr>
          <a:xfrm>
            <a:off x="7040880" y="3520440"/>
            <a:ext cx="1645920" cy="1371600"/>
          </a:xfrm>
          <a:prstGeom prst="rect">
            <a:avLst/>
          </a:prstGeom>
          <a:noFill/>
          <a:ln/>
        </p:spPr>
        <p:txBody>
          <a:bodyPr wrap="square" lIns="0" tIns="0" rIns="0" bIns="0" rtlCol="0" anchor="ctr"/>
          <a:lstStyle/>
          <a:p>
            <a:pPr marL="0" indent="0" algn="ctr">
              <a:buNone/>
            </a:pPr>
            <a:r>
              <a:rPr lang="en-US" sz="1200" b="1" dirty="0">
                <a:solidFill>
                  <a:srgbClr val="3B2F5C"/>
                </a:solidFill>
                <a:latin typeface="Calibri" pitchFamily="34" charset="0"/>
                <a:ea typeface="Calibri" pitchFamily="34" charset="-122"/>
                <a:cs typeface="Calibri" pitchFamily="34" charset="-120"/>
              </a:rPr>
              <a:t>Team</a:t>
            </a:r>
            <a:endParaRPr lang="en-US" sz="1200" dirty="0"/>
          </a:p>
          <a:p>
            <a:pPr marL="0" indent="0" algn="ctr">
              <a:buNone/>
            </a:pPr>
            <a:r>
              <a:rPr lang="en-US" sz="1300" dirty="0">
                <a:solidFill>
                  <a:srgbClr val="3B2F5C"/>
                </a:solidFill>
                <a:latin typeface="Calibri" pitchFamily="34" charset="0"/>
                <a:ea typeface="Calibri" pitchFamily="34" charset="-122"/>
                <a:cs typeface="Calibri" pitchFamily="34" charset="-120"/>
              </a:rPr>
              <a:t>Tushar, Rakesh</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B"/>
        </a:solidFill>
        <a:effectLst/>
      </p:bgPr>
    </p:bg>
    <p:spTree>
      <p:nvGrpSpPr>
        <p:cNvPr id="1" name=""/>
        <p:cNvGrpSpPr/>
        <p:nvPr/>
      </p:nvGrpSpPr>
      <p:grpSpPr>
        <a:xfrm>
          <a:off x="0" y="0"/>
          <a:ext cx="0" cy="0"/>
          <a:chOff x="0" y="0"/>
          <a:chExt cx="0" cy="0"/>
        </a:xfrm>
      </p:grpSpPr>
      <p:sp>
        <p:nvSpPr>
          <p:cNvPr id="2" name="Doodle blob 1"/>
          <p:cNvSpPr/>
          <p:nvPr/>
        </p:nvSpPr>
        <p:spPr>
          <a:xfrm>
            <a:off x="7863840" y="3566160"/>
            <a:ext cx="1828800" cy="1828800"/>
          </a:xfrm>
          <a:prstGeom prst="ellipse">
            <a:avLst/>
          </a:prstGeom>
          <a:solidFill>
            <a:srgbClr val="ECE1FB"/>
          </a:solidFill>
          <a:ln w="12700">
            <a:solidFill>
              <a:srgbClr val="ECE1FB"/>
            </a:solidFill>
            <a:prstDash val="solid"/>
          </a:ln>
        </p:spPr>
      </p:sp>
      <p:sp>
        <p:nvSpPr>
          <p:cNvPr id="3" name="Doodle blob 2"/>
          <p:cNvSpPr/>
          <p:nvPr/>
        </p:nvSpPr>
        <p:spPr>
          <a:xfrm>
            <a:off x="-731520" y="-731520"/>
            <a:ext cx="1645920" cy="1645920"/>
          </a:xfrm>
          <a:prstGeom prst="ellipse">
            <a:avLst/>
          </a:prstGeom>
          <a:solidFill>
            <a:srgbClr val="D3BDF7"/>
          </a:solidFill>
          <a:ln w="12700">
            <a:solidFill>
              <a:srgbClr val="D3BDF7"/>
            </a:solidFill>
            <a:prstDash val="solid"/>
          </a:ln>
        </p:spPr>
      </p:sp>
      <p:sp>
        <p:nvSpPr>
          <p:cNvPr id="4" name="Title"/>
          <p:cNvSpPr txBox="1"/>
          <p:nvPr/>
        </p:nvSpPr>
        <p:spPr>
          <a:xfrm>
            <a:off x="457200" y="713232"/>
            <a:ext cx="6675120" cy="457200"/>
          </a:xfrm>
          <a:prstGeom prst="rect">
            <a:avLst/>
          </a:prstGeom>
          <a:noFill/>
          <a:ln/>
        </p:spPr>
        <p:txBody>
          <a:bodyPr wrap="square" lIns="0" tIns="0" rIns="0" bIns="0" rtlCol="0" anchor="ctr"/>
          <a:lstStyle/>
          <a:p>
            <a:pPr marL="0" indent="0">
              <a:buNone/>
            </a:pPr>
            <a:r>
              <a:rPr lang="en-US" sz="2400" b="1" dirty="0">
                <a:solidFill>
                  <a:srgbClr val="3B2F5C"/>
                </a:solidFill>
                <a:latin typeface="Arial" pitchFamily="34" charset="0"/>
                <a:ea typeface="Arial" pitchFamily="34" charset="-122"/>
                <a:cs typeface="Arial" pitchFamily="34" charset="-120"/>
              </a:rPr>
              <a:t>Ambient Noise-Adaptive Volume</a:t>
            </a:r>
            <a:endParaRPr lang="en-US" sz="2400" dirty="0"/>
          </a:p>
        </p:txBody>
      </p:sp>
      <p:sp>
        <p:nvSpPr>
          <p:cNvPr id="5" name="Idea badge"/>
          <p:cNvSpPr/>
          <p:nvPr/>
        </p:nvSpPr>
        <p:spPr>
          <a:xfrm>
            <a:off x="7589520" y="365760"/>
            <a:ext cx="777240" cy="777240"/>
          </a:xfrm>
          <a:prstGeom prst="ellipse">
            <a:avLst/>
          </a:prstGeom>
          <a:solidFill>
            <a:srgbClr val="D3BDF7"/>
          </a:solidFill>
          <a:ln w="25400">
            <a:solidFill>
              <a:srgbClr val="3B2F5C"/>
            </a:solidFill>
            <a:prstDash val="solid"/>
          </a:ln>
        </p:spPr>
      </p:sp>
      <p:sp>
        <p:nvSpPr>
          <p:cNvPr id="6" name="Idea number"/>
          <p:cNvSpPr txBox="1"/>
          <p:nvPr/>
        </p:nvSpPr>
        <p:spPr>
          <a:xfrm>
            <a:off x="7589520" y="365760"/>
            <a:ext cx="777240" cy="777240"/>
          </a:xfrm>
          <a:prstGeom prst="rect">
            <a:avLst/>
          </a:prstGeom>
          <a:noFill/>
          <a:ln/>
        </p:spPr>
        <p:txBody>
          <a:bodyPr wrap="square" lIns="0" tIns="0" rIns="0" bIns="0" rtlCol="0" anchor="ctr"/>
          <a:lstStyle/>
          <a:p>
            <a:pPr marL="0" indent="0" algn="ctr">
              <a:buNone/>
            </a:pPr>
            <a:r>
              <a:rPr lang="en-US" sz="2800" b="1" dirty="0">
                <a:solidFill>
                  <a:srgbClr val="3B2F5C"/>
                </a:solidFill>
                <a:latin typeface="Arial" pitchFamily="34" charset="0"/>
                <a:ea typeface="Arial" pitchFamily="34" charset="-122"/>
                <a:cs typeface="Arial" pitchFamily="34" charset="-120"/>
              </a:rPr>
              <a:t>5</a:t>
            </a:r>
            <a:endParaRPr lang="en-US" sz="2800" dirty="0"/>
          </a:p>
        </p:txBody>
      </p:sp>
      <p:sp>
        <p:nvSpPr>
          <p:cNvPr id="7" name="Text 5"/>
          <p:cNvSpPr txBox="1"/>
          <p:nvPr/>
        </p:nvSpPr>
        <p:spPr>
          <a:xfrm>
            <a:off x="457200" y="1188720"/>
            <a:ext cx="4572000" cy="228600"/>
          </a:xfrm>
          <a:prstGeom prst="rect">
            <a:avLst/>
          </a:prstGeom>
          <a:noFill/>
          <a:ln/>
        </p:spPr>
        <p:txBody>
          <a:bodyPr wrap="square" lIns="0" tIns="0" rIns="0" bIns="0" rtlCol="0" anchor="ctr"/>
          <a:lstStyle/>
          <a:p>
            <a:pPr marL="0" indent="0">
              <a:buNone/>
            </a:pPr>
            <a:r>
              <a:rPr lang="en-US" sz="1200" b="1" kern="0" spc="200" dirty="0">
                <a:solidFill>
                  <a:srgbClr val="6B6285"/>
                </a:solidFill>
                <a:latin typeface="Calibri" pitchFamily="34" charset="0"/>
                <a:ea typeface="Calibri" pitchFamily="34" charset="-122"/>
                <a:cs typeface="Calibri" pitchFamily="34" charset="-120"/>
              </a:rPr>
              <a:t>IDEA 5: THE PROBLEM</a:t>
            </a:r>
            <a:endParaRPr lang="en-US" sz="1200" dirty="0"/>
          </a:p>
        </p:txBody>
      </p:sp>
      <p:sp>
        <p:nvSpPr>
          <p:cNvPr id="8" name="Problem card"/>
          <p:cNvSpPr/>
          <p:nvPr/>
        </p:nvSpPr>
        <p:spPr>
          <a:xfrm>
            <a:off x="457200" y="1463040"/>
            <a:ext cx="8229600" cy="1005840"/>
          </a:xfrm>
          <a:prstGeom prst="roundRect">
            <a:avLst>
              <a:gd name="adj" fmla="val 12121"/>
            </a:avLst>
          </a:prstGeom>
          <a:solidFill>
            <a:srgbClr val="ECE1FB"/>
          </a:solidFill>
          <a:ln w="25400">
            <a:solidFill>
              <a:srgbClr val="3B2F5C"/>
            </a:solidFill>
            <a:prstDash val="solid"/>
          </a:ln>
        </p:spPr>
      </p:sp>
      <p:sp>
        <p:nvSpPr>
          <p:cNvPr id="9" name="Text 7"/>
          <p:cNvSpPr txBox="1"/>
          <p:nvPr/>
        </p:nvSpPr>
        <p:spPr>
          <a:xfrm>
            <a:off x="731520" y="1508760"/>
            <a:ext cx="7680960" cy="914400"/>
          </a:xfrm>
          <a:prstGeom prst="rect">
            <a:avLst/>
          </a:prstGeom>
          <a:noFill/>
          <a:ln/>
        </p:spPr>
        <p:txBody>
          <a:bodyPr wrap="square" lIns="0" tIns="0" rIns="0" bIns="0" rtlCol="0" anchor="ctr"/>
          <a:lstStyle/>
          <a:p>
            <a:pPr marL="0" indent="0">
              <a:buNone/>
            </a:pPr>
            <a:r>
              <a:rPr lang="en-US" sz="1700" b="1" dirty="0">
                <a:solidFill>
                  <a:srgbClr val="3B2F5C"/>
                </a:solidFill>
                <a:latin typeface="Arial" pitchFamily="34" charset="0"/>
                <a:ea typeface="Arial" pitchFamily="34" charset="-122"/>
                <a:cs typeface="Arial" pitchFamily="34" charset="-120"/>
              </a:rPr>
              <a:t>“Your phone rings at the same volume in a silent library and a loud train station.”</a:t>
            </a:r>
            <a:endParaRPr lang="en-US" sz="1700" dirty="0"/>
          </a:p>
        </p:txBody>
      </p:sp>
      <p:sp>
        <p:nvSpPr>
          <p:cNvPr id="10" name="Empathy card"/>
          <p:cNvSpPr/>
          <p:nvPr/>
        </p:nvSpPr>
        <p:spPr>
          <a:xfrm>
            <a:off x="5532120" y="2834640"/>
            <a:ext cx="3154680" cy="1965960"/>
          </a:xfrm>
          <a:prstGeom prst="roundRect">
            <a:avLst>
              <a:gd name="adj" fmla="val 13333"/>
            </a:avLst>
          </a:prstGeom>
          <a:solidFill>
            <a:srgbClr val="FFFFFF"/>
          </a:solidFill>
          <a:ln w="19050">
            <a:solidFill>
              <a:srgbClr val="3B2F5C"/>
            </a:solidFill>
            <a:prstDash val="solid"/>
          </a:ln>
        </p:spPr>
      </p:sp>
      <p:sp>
        <p:nvSpPr>
          <p:cNvPr id="549" name="Story card"/>
          <p:cNvSpPr/>
          <p:nvPr/>
        </p:nvSpPr>
        <p:spPr>
          <a:xfrm>
            <a:off x="457200" y="2834640"/>
            <a:ext cx="4937760" cy="1965960"/>
          </a:xfrm>
          <a:prstGeom prst="roundRect">
            <a:avLst>
              <a:gd name="adj" fmla="val 13333"/>
            </a:avLst>
          </a:prstGeom>
          <a:solidFill>
            <a:srgbClr val="ECE1FB"/>
          </a:solidFill>
          <a:ln w="19050">
            <a:solidFill>
              <a:srgbClr val="3B2F5C"/>
            </a:solidFill>
            <a:prstDash val="solid"/>
          </a:ln>
        </p:spPr>
      </p:sp>
      <p:sp>
        <p:nvSpPr>
          <p:cNvPr id="550" name="Story pill"/>
          <p:cNvSpPr/>
          <p:nvPr/>
        </p:nvSpPr>
        <p:spPr>
          <a:xfrm>
            <a:off x="640080" y="2651760"/>
            <a:ext cx="1920240" cy="365760"/>
          </a:xfrm>
          <a:prstGeom prst="roundRect">
            <a:avLst>
              <a:gd name="adj" fmla="val 50000"/>
            </a:avLst>
          </a:prstGeom>
          <a:solidFill>
            <a:srgbClr val="D3BDF7"/>
          </a:solidFill>
          <a:ln w="19050">
            <a:solidFill>
              <a:srgbClr val="3B2F5C"/>
            </a:solidFill>
            <a:prstDash val="solid"/>
          </a:ln>
        </p:spPr>
      </p:sp>
      <p:sp>
        <p:nvSpPr>
          <p:cNvPr id="551" name="Story pill text"/>
          <p:cNvSpPr txBox="1"/>
          <p:nvPr/>
        </p:nvSpPr>
        <p:spPr>
          <a:xfrm>
            <a:off x="640080" y="2651760"/>
            <a:ext cx="1920240" cy="365760"/>
          </a:xfrm>
          <a:prstGeom prst="rect">
            <a:avLst/>
          </a:prstGeom>
          <a:noFill/>
          <a:ln/>
        </p:spPr>
        <p:txBody>
          <a:bodyPr wrap="square" lIns="0" tIns="0" rIns="0" bIns="0" rtlCol="0" anchor="ctr"/>
          <a:lstStyle/>
          <a:p>
            <a:pPr marL="0" indent="0" algn="ctr">
              <a:buNone/>
            </a:pPr>
            <a:r>
              <a:rPr lang="en-US" sz="1300" b="1" dirty="0">
                <a:solidFill>
                  <a:srgbClr val="3B2F5C"/>
                </a:solidFill>
                <a:latin typeface="Calibri"/>
              </a:rPr>
              <a:t>Meet Shivam</a:t>
            </a:r>
          </a:p>
        </p:txBody>
      </p:sp>
      <p:sp>
        <p:nvSpPr>
          <p:cNvPr id="552" name="Story text"/>
          <p:cNvSpPr txBox="1"/>
          <p:nvPr/>
        </p:nvSpPr>
        <p:spPr>
          <a:xfrm>
            <a:off x="640080" y="2971800"/>
            <a:ext cx="4572000" cy="1737360"/>
          </a:xfrm>
          <a:prstGeom prst="rect">
            <a:avLst/>
          </a:prstGeom>
          <a:noFill/>
          <a:ln/>
        </p:spPr>
        <p:txBody>
          <a:bodyPr wrap="square" lIns="0" tIns="0" rIns="0" bIns="0" rtlCol="0" anchor="ctr"/>
          <a:lstStyle/>
          <a:p>
            <a:pPr marL="0" indent="0" algn="l">
              <a:buNone/>
            </a:pPr>
            <a:r>
              <a:rPr lang="en-US" sz="1300" dirty="0">
                <a:solidFill>
                  <a:srgbClr val="3B2F5C"/>
                </a:solidFill>
                <a:latin typeface="Calibri"/>
              </a:rPr>
              <a:t>Shivam is studying in a silent library when his phone rings at full volume. Every head turns. He fumbles for it, face burning, apologising to strangers. The next morning on a crowded platform his mum’s call rings too low and he misses it. Same phone, same ringtone, two very different places.</a:t>
            </a:r>
          </a:p>
        </p:txBody>
      </p:sp>
      <p:sp>
        <p:nvSpPr>
          <p:cNvPr id="11" name="Pill"/>
          <p:cNvSpPr/>
          <p:nvPr/>
        </p:nvSpPr>
        <p:spPr>
          <a:xfrm>
            <a:off x="5715000" y="2651760"/>
            <a:ext cx="1463040" cy="365760"/>
          </a:xfrm>
          <a:prstGeom prst="roundRect">
            <a:avLst>
              <a:gd name="adj" fmla="val 50000"/>
            </a:avLst>
          </a:prstGeom>
          <a:solidFill>
            <a:srgbClr val="D3BDF7"/>
          </a:solidFill>
          <a:ln w="19050">
            <a:solidFill>
              <a:srgbClr val="3B2F5C"/>
            </a:solidFill>
            <a:prstDash val="solid"/>
          </a:ln>
        </p:spPr>
      </p:sp>
      <p:sp>
        <p:nvSpPr>
          <p:cNvPr id="12" name="Pill text"/>
          <p:cNvSpPr txBox="1"/>
          <p:nvPr/>
        </p:nvSpPr>
        <p:spPr>
          <a:xfrm>
            <a:off x="5715000" y="2651760"/>
            <a:ext cx="1463040" cy="365760"/>
          </a:xfrm>
          <a:prstGeom prst="rect">
            <a:avLst/>
          </a:prstGeom>
          <a:noFill/>
          <a:ln/>
        </p:spPr>
        <p:txBody>
          <a:bodyPr wrap="square" lIns="0" tIns="0" rIns="0" bIns="0" rtlCol="0" anchor="ctr"/>
          <a:lstStyle/>
          <a:p>
            <a:pPr marL="0" indent="0" algn="ctr">
              <a:buNone/>
            </a:pPr>
            <a:r>
              <a:rPr lang="en-US" sz="1300" b="1" dirty="0">
                <a:solidFill>
                  <a:srgbClr val="3B2F5C"/>
                </a:solidFill>
                <a:latin typeface="Calibri" pitchFamily="34" charset="0"/>
                <a:ea typeface="Calibri" pitchFamily="34" charset="-122"/>
                <a:cs typeface="Calibri" pitchFamily="34" charset="-120"/>
              </a:rPr>
              <a:t>Why it hurts</a:t>
            </a:r>
            <a:endParaRPr lang="en-US" sz="1300" dirty="0"/>
          </a:p>
        </p:txBody>
      </p:sp>
      <p:sp>
        <p:nvSpPr>
          <p:cNvPr id="13" name="Text 11"/>
          <p:cNvSpPr txBox="1"/>
          <p:nvPr/>
        </p:nvSpPr>
        <p:spPr>
          <a:xfrm>
            <a:off x="5715000" y="2971800"/>
            <a:ext cx="2788920" cy="1737360"/>
          </a:xfrm>
          <a:prstGeom prst="rect">
            <a:avLst/>
          </a:prstGeom>
          <a:noFill/>
          <a:ln/>
        </p:spPr>
        <p:txBody>
          <a:bodyPr wrap="square" lIns="0" tIns="0" rIns="0" bIns="0" rtlCol="0" anchor="ctr"/>
          <a:lstStyle/>
          <a:p>
            <a:pPr marL="0" indent="0">
              <a:buNone/>
            </a:pPr>
            <a:r>
              <a:rPr lang="en-US" sz="1300" dirty="0">
                <a:solidFill>
                  <a:srgbClr val="3B2F5C"/>
                </a:solidFill>
                <a:latin typeface="Calibri" pitchFamily="34" charset="0"/>
                <a:ea typeface="Calibri" pitchFamily="34" charset="-122"/>
                <a:cs typeface="Calibri" pitchFamily="34" charset="-120"/>
              </a:rPr>
              <a:t>A phone that ignores where you are makes you the person who disturbs everyone, or the one who misses a call that mattered. Either way we end up embarrassed or anxious over something that wasn’t our fault.</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B"/>
        </a:solidFill>
        <a:effectLst/>
      </p:bgPr>
    </p:bg>
    <p:spTree>
      <p:nvGrpSpPr>
        <p:cNvPr id="1" name=""/>
        <p:cNvGrpSpPr/>
        <p:nvPr/>
      </p:nvGrpSpPr>
      <p:grpSpPr>
        <a:xfrm>
          <a:off x="0" y="0"/>
          <a:ext cx="0" cy="0"/>
          <a:chOff x="0" y="0"/>
          <a:chExt cx="0" cy="0"/>
        </a:xfrm>
      </p:grpSpPr>
      <p:sp>
        <p:nvSpPr>
          <p:cNvPr id="2" name="Doodle blob 1"/>
          <p:cNvSpPr/>
          <p:nvPr/>
        </p:nvSpPr>
        <p:spPr>
          <a:xfrm>
            <a:off x="8046720" y="4206240"/>
            <a:ext cx="1645920" cy="1645920"/>
          </a:xfrm>
          <a:prstGeom prst="ellipse">
            <a:avLst/>
          </a:prstGeom>
          <a:solidFill>
            <a:srgbClr val="ECE1FB"/>
          </a:solidFill>
          <a:ln w="12700">
            <a:solidFill>
              <a:srgbClr val="ECE1FB"/>
            </a:solidFill>
            <a:prstDash val="solid"/>
          </a:ln>
        </p:spPr>
      </p:sp>
      <p:sp>
        <p:nvSpPr>
          <p:cNvPr id="3" name="Doodle blob 2"/>
          <p:cNvSpPr/>
          <p:nvPr/>
        </p:nvSpPr>
        <p:spPr>
          <a:xfrm>
            <a:off x="-731520" y="4389120"/>
            <a:ext cx="1280160" cy="1280160"/>
          </a:xfrm>
          <a:prstGeom prst="ellipse">
            <a:avLst/>
          </a:prstGeom>
          <a:solidFill>
            <a:srgbClr val="ECE1FB"/>
          </a:solidFill>
          <a:ln w="12700">
            <a:solidFill>
              <a:srgbClr val="ECE1FB"/>
            </a:solidFill>
            <a:prstDash val="solid"/>
          </a:ln>
        </p:spPr>
      </p:sp>
      <p:sp>
        <p:nvSpPr>
          <p:cNvPr id="4" name="Title"/>
          <p:cNvSpPr txBox="1"/>
          <p:nvPr/>
        </p:nvSpPr>
        <p:spPr>
          <a:xfrm>
            <a:off x="457200" y="274320"/>
            <a:ext cx="6675120" cy="731520"/>
          </a:xfrm>
          <a:prstGeom prst="rect">
            <a:avLst/>
          </a:prstGeom>
          <a:noFill/>
          <a:ln/>
        </p:spPr>
        <p:txBody>
          <a:bodyPr wrap="square" lIns="0" tIns="0" rIns="0" bIns="0" rtlCol="0" anchor="ctr"/>
          <a:lstStyle/>
          <a:p>
            <a:pPr marL="0" indent="0">
              <a:buNone/>
            </a:pPr>
            <a:r>
              <a:rPr lang="en-US" sz="2400" b="1" dirty="0">
                <a:solidFill>
                  <a:srgbClr val="3B2F5C"/>
                </a:solidFill>
                <a:latin typeface="Arial" pitchFamily="34" charset="0"/>
                <a:ea typeface="Arial" pitchFamily="34" charset="-122"/>
                <a:cs typeface="Arial" pitchFamily="34" charset="-120"/>
              </a:rPr>
              <a:t>Idea 5: Our approach</a:t>
            </a:r>
            <a:endParaRPr lang="en-US" sz="2400" dirty="0"/>
          </a:p>
        </p:txBody>
      </p:sp>
      <p:sp>
        <p:nvSpPr>
          <p:cNvPr id="5" name="Idea badge"/>
          <p:cNvSpPr/>
          <p:nvPr/>
        </p:nvSpPr>
        <p:spPr>
          <a:xfrm>
            <a:off x="7589520" y="256032"/>
            <a:ext cx="777240" cy="777240"/>
          </a:xfrm>
          <a:prstGeom prst="ellipse">
            <a:avLst/>
          </a:prstGeom>
          <a:solidFill>
            <a:srgbClr val="D3BDF7"/>
          </a:solidFill>
          <a:ln w="25400">
            <a:solidFill>
              <a:srgbClr val="3B2F5C"/>
            </a:solidFill>
            <a:prstDash val="solid"/>
          </a:ln>
        </p:spPr>
      </p:sp>
      <p:sp>
        <p:nvSpPr>
          <p:cNvPr id="6" name="Idea number"/>
          <p:cNvSpPr txBox="1"/>
          <p:nvPr/>
        </p:nvSpPr>
        <p:spPr>
          <a:xfrm>
            <a:off x="7589520" y="256032"/>
            <a:ext cx="777240" cy="777240"/>
          </a:xfrm>
          <a:prstGeom prst="rect">
            <a:avLst/>
          </a:prstGeom>
          <a:noFill/>
          <a:ln/>
        </p:spPr>
        <p:txBody>
          <a:bodyPr wrap="square" lIns="0" tIns="0" rIns="0" bIns="0" rtlCol="0" anchor="ctr"/>
          <a:lstStyle/>
          <a:p>
            <a:pPr marL="0" indent="0" algn="ctr">
              <a:buNone/>
            </a:pPr>
            <a:r>
              <a:rPr lang="en-US" sz="2800" b="1" dirty="0">
                <a:solidFill>
                  <a:srgbClr val="3B2F5C"/>
                </a:solidFill>
                <a:latin typeface="Arial" pitchFamily="34" charset="0"/>
                <a:ea typeface="Arial" pitchFamily="34" charset="-122"/>
                <a:cs typeface="Arial" pitchFamily="34" charset="-120"/>
              </a:rPr>
              <a:t>5</a:t>
            </a:r>
            <a:endParaRPr lang="en-US" sz="2800" dirty="0"/>
          </a:p>
        </p:txBody>
      </p:sp>
      <p:sp>
        <p:nvSpPr>
          <p:cNvPr id="7" name="Card Our Approach"/>
          <p:cNvSpPr/>
          <p:nvPr/>
        </p:nvSpPr>
        <p:spPr>
          <a:xfrm>
            <a:off x="457200" y="1371600"/>
            <a:ext cx="2743200" cy="1828800"/>
          </a:xfrm>
          <a:prstGeom prst="roundRect">
            <a:avLst>
              <a:gd name="adj" fmla="val 7660"/>
            </a:avLst>
          </a:prstGeom>
          <a:solidFill>
            <a:srgbClr val="ECE1FB"/>
          </a:solidFill>
          <a:ln w="19050">
            <a:solidFill>
              <a:srgbClr val="3B2F5C"/>
            </a:solidFill>
            <a:prstDash val="solid"/>
          </a:ln>
        </p:spPr>
      </p:sp>
      <p:sp>
        <p:nvSpPr>
          <p:cNvPr id="8" name="Pill"/>
          <p:cNvSpPr/>
          <p:nvPr/>
        </p:nvSpPr>
        <p:spPr>
          <a:xfrm>
            <a:off x="640080" y="1188720"/>
            <a:ext cx="1737360" cy="365760"/>
          </a:xfrm>
          <a:prstGeom prst="roundRect">
            <a:avLst>
              <a:gd name="adj" fmla="val 50000"/>
            </a:avLst>
          </a:prstGeom>
          <a:solidFill>
            <a:srgbClr val="D3BDF7"/>
          </a:solidFill>
          <a:ln w="19050">
            <a:solidFill>
              <a:srgbClr val="3B2F5C"/>
            </a:solidFill>
            <a:prstDash val="solid"/>
          </a:ln>
        </p:spPr>
      </p:sp>
      <p:sp>
        <p:nvSpPr>
          <p:cNvPr id="9" name="Pill text"/>
          <p:cNvSpPr txBox="1"/>
          <p:nvPr/>
        </p:nvSpPr>
        <p:spPr>
          <a:xfrm>
            <a:off x="640080" y="1188720"/>
            <a:ext cx="1737360" cy="365760"/>
          </a:xfrm>
          <a:prstGeom prst="rect">
            <a:avLst/>
          </a:prstGeom>
          <a:noFill/>
          <a:ln/>
        </p:spPr>
        <p:txBody>
          <a:bodyPr wrap="square" lIns="0" tIns="0" rIns="0" bIns="0" rtlCol="0" anchor="ctr"/>
          <a:lstStyle/>
          <a:p>
            <a:pPr marL="0" indent="0" algn="ctr">
              <a:buNone/>
            </a:pPr>
            <a:r>
              <a:rPr lang="en-US" sz="1300" b="1" dirty="0">
                <a:solidFill>
                  <a:srgbClr val="3B2F5C"/>
                </a:solidFill>
                <a:latin typeface="Calibri" pitchFamily="34" charset="0"/>
                <a:ea typeface="Calibri" pitchFamily="34" charset="-122"/>
                <a:cs typeface="Calibri" pitchFamily="34" charset="-120"/>
              </a:rPr>
              <a:t>Our Approach</a:t>
            </a:r>
            <a:endParaRPr lang="en-US" sz="1300" dirty="0"/>
          </a:p>
        </p:txBody>
      </p:sp>
      <p:sp>
        <p:nvSpPr>
          <p:cNvPr id="10" name="Text 8"/>
          <p:cNvSpPr txBox="1"/>
          <p:nvPr/>
        </p:nvSpPr>
        <p:spPr>
          <a:xfrm>
            <a:off x="621792" y="1645920"/>
            <a:ext cx="2423160" cy="1463040"/>
          </a:xfrm>
          <a:prstGeom prst="rect">
            <a:avLst/>
          </a:prstGeom>
          <a:noFill/>
          <a:ln/>
        </p:spPr>
        <p:txBody>
          <a:bodyPr wrap="square" lIns="0" tIns="0" rIns="0" bIns="0" rtlCol="0" anchor="ctr"/>
          <a:lstStyle/>
          <a:p>
            <a:pPr marL="0" indent="0">
              <a:buNone/>
            </a:pPr>
            <a:r>
              <a:rPr lang="en-US" sz="1300" dirty="0">
                <a:solidFill>
                  <a:srgbClr val="3B2F5C"/>
                </a:solidFill>
                <a:latin typeface="Calibri" pitchFamily="34" charset="0"/>
                <a:ea typeface="Calibri" pitchFamily="34" charset="-122"/>
                <a:cs typeface="Calibri" pitchFamily="34" charset="-120"/>
              </a:rPr>
              <a:t>Uses the always-on microphone to measure ambient noise in real time and automatically adjusts ringtone and notification volume to the surroundings.</a:t>
            </a:r>
            <a:endParaRPr lang="en-US" sz="1300" dirty="0"/>
          </a:p>
        </p:txBody>
      </p:sp>
      <p:sp>
        <p:nvSpPr>
          <p:cNvPr id="11" name="Card Key Inputs"/>
          <p:cNvSpPr/>
          <p:nvPr/>
        </p:nvSpPr>
        <p:spPr>
          <a:xfrm>
            <a:off x="3337560" y="1371600"/>
            <a:ext cx="2743200" cy="1828800"/>
          </a:xfrm>
          <a:prstGeom prst="roundRect">
            <a:avLst>
              <a:gd name="adj" fmla="val 7660"/>
            </a:avLst>
          </a:prstGeom>
          <a:solidFill>
            <a:srgbClr val="FFFFFF"/>
          </a:solidFill>
          <a:ln w="19050">
            <a:solidFill>
              <a:srgbClr val="3B2F5C"/>
            </a:solidFill>
            <a:prstDash val="solid"/>
          </a:ln>
        </p:spPr>
      </p:sp>
      <p:sp>
        <p:nvSpPr>
          <p:cNvPr id="12" name="Pill"/>
          <p:cNvSpPr/>
          <p:nvPr/>
        </p:nvSpPr>
        <p:spPr>
          <a:xfrm>
            <a:off x="3520440" y="1188720"/>
            <a:ext cx="1737360" cy="365760"/>
          </a:xfrm>
          <a:prstGeom prst="roundRect">
            <a:avLst>
              <a:gd name="adj" fmla="val 50000"/>
            </a:avLst>
          </a:prstGeom>
          <a:solidFill>
            <a:srgbClr val="D3BDF7"/>
          </a:solidFill>
          <a:ln w="19050">
            <a:solidFill>
              <a:srgbClr val="3B2F5C"/>
            </a:solidFill>
            <a:prstDash val="solid"/>
          </a:ln>
        </p:spPr>
      </p:sp>
      <p:sp>
        <p:nvSpPr>
          <p:cNvPr id="13" name="Pill text"/>
          <p:cNvSpPr txBox="1"/>
          <p:nvPr/>
        </p:nvSpPr>
        <p:spPr>
          <a:xfrm>
            <a:off x="3520440" y="1188720"/>
            <a:ext cx="1737360" cy="365760"/>
          </a:xfrm>
          <a:prstGeom prst="rect">
            <a:avLst/>
          </a:prstGeom>
          <a:noFill/>
          <a:ln/>
        </p:spPr>
        <p:txBody>
          <a:bodyPr wrap="square" lIns="0" tIns="0" rIns="0" bIns="0" rtlCol="0" anchor="ctr"/>
          <a:lstStyle/>
          <a:p>
            <a:pPr marL="0" indent="0" algn="ctr">
              <a:buNone/>
            </a:pPr>
            <a:r>
              <a:rPr lang="en-US" sz="1300" b="1" dirty="0">
                <a:solidFill>
                  <a:srgbClr val="3B2F5C"/>
                </a:solidFill>
                <a:latin typeface="Calibri" pitchFamily="34" charset="0"/>
                <a:ea typeface="Calibri" pitchFamily="34" charset="-122"/>
                <a:cs typeface="Calibri" pitchFamily="34" charset="-120"/>
              </a:rPr>
              <a:t>Key Inputs</a:t>
            </a:r>
            <a:endParaRPr lang="en-US" sz="1300" dirty="0"/>
          </a:p>
        </p:txBody>
      </p:sp>
      <p:sp>
        <p:nvSpPr>
          <p:cNvPr id="14" name="Text 12"/>
          <p:cNvSpPr txBox="1"/>
          <p:nvPr/>
        </p:nvSpPr>
        <p:spPr>
          <a:xfrm>
            <a:off x="3502152" y="1645920"/>
            <a:ext cx="2423160" cy="1463040"/>
          </a:xfrm>
          <a:prstGeom prst="rect">
            <a:avLst/>
          </a:prstGeom>
          <a:noFill/>
          <a:ln/>
        </p:spPr>
        <p:txBody>
          <a:bodyPr wrap="square" lIns="0" tIns="0" rIns="0" bIns="0" rtlCol="0" anchor="ctr"/>
          <a:lstStyle/>
          <a:p>
            <a:pPr marL="342900" indent="-342900">
              <a:spcAft>
                <a:spcPts val="400"/>
              </a:spcAft>
              <a:buSzPct val="100000"/>
              <a:buChar char="•"/>
            </a:pPr>
            <a:r>
              <a:rPr lang="en-US" sz="1300" dirty="0">
                <a:solidFill>
                  <a:srgbClr val="3B2F5C"/>
                </a:solidFill>
                <a:latin typeface="Calibri" pitchFamily="34" charset="0"/>
                <a:ea typeface="Calibri" pitchFamily="34" charset="-122"/>
                <a:cs typeface="Calibri" pitchFamily="34" charset="-120"/>
              </a:rPr>
              <a:t>Ambient noise level (via mic)</a:t>
            </a:r>
            <a:endParaRPr lang="en-US" sz="1300" dirty="0"/>
          </a:p>
          <a:p>
            <a:pPr marL="342900" indent="-342900">
              <a:spcAft>
                <a:spcPts val="400"/>
              </a:spcAft>
              <a:buSzPct val="100000"/>
              <a:buChar char="•"/>
            </a:pPr>
            <a:r>
              <a:rPr lang="en-US" sz="1300" dirty="0">
                <a:solidFill>
                  <a:srgbClr val="3B2F5C"/>
                </a:solidFill>
                <a:latin typeface="Calibri" pitchFamily="34" charset="0"/>
                <a:ea typeface="Calibri" pitchFamily="34" charset="-122"/>
                <a:cs typeface="Calibri" pitchFamily="34" charset="-120"/>
              </a:rPr>
              <a:t>Environment type (library, street, etc.)</a:t>
            </a:r>
            <a:endParaRPr lang="en-US" sz="1300" dirty="0"/>
          </a:p>
          <a:p>
            <a:pPr marL="342900" indent="-342900">
              <a:spcAft>
                <a:spcPts val="400"/>
              </a:spcAft>
              <a:buSzPct val="100000"/>
              <a:buChar char="•"/>
            </a:pPr>
            <a:r>
              <a:rPr lang="en-US" sz="1300" dirty="0">
                <a:solidFill>
                  <a:srgbClr val="3B2F5C"/>
                </a:solidFill>
                <a:latin typeface="Calibri" pitchFamily="34" charset="0"/>
                <a:ea typeface="Calibri" pitchFamily="34" charset="-122"/>
                <a:cs typeface="Calibri" pitchFamily="34" charset="-120"/>
              </a:rPr>
              <a:t>Current volume setting</a:t>
            </a:r>
            <a:endParaRPr lang="en-US" sz="1300" dirty="0"/>
          </a:p>
        </p:txBody>
      </p:sp>
      <p:sp>
        <p:nvSpPr>
          <p:cNvPr id="15" name="Card Expected Outcome"/>
          <p:cNvSpPr/>
          <p:nvPr/>
        </p:nvSpPr>
        <p:spPr>
          <a:xfrm>
            <a:off x="6217920" y="1371600"/>
            <a:ext cx="2468880" cy="1828800"/>
          </a:xfrm>
          <a:prstGeom prst="roundRect">
            <a:avLst>
              <a:gd name="adj" fmla="val 7660"/>
            </a:avLst>
          </a:prstGeom>
          <a:solidFill>
            <a:srgbClr val="ECE1FB"/>
          </a:solidFill>
          <a:ln w="19050">
            <a:solidFill>
              <a:srgbClr val="3B2F5C"/>
            </a:solidFill>
            <a:prstDash val="solid"/>
          </a:ln>
        </p:spPr>
      </p:sp>
      <p:sp>
        <p:nvSpPr>
          <p:cNvPr id="16" name="Pill"/>
          <p:cNvSpPr/>
          <p:nvPr/>
        </p:nvSpPr>
        <p:spPr>
          <a:xfrm>
            <a:off x="6400800" y="1188720"/>
            <a:ext cx="1737360" cy="365760"/>
          </a:xfrm>
          <a:prstGeom prst="roundRect">
            <a:avLst>
              <a:gd name="adj" fmla="val 50000"/>
            </a:avLst>
          </a:prstGeom>
          <a:solidFill>
            <a:srgbClr val="D3BDF7"/>
          </a:solidFill>
          <a:ln w="19050">
            <a:solidFill>
              <a:srgbClr val="3B2F5C"/>
            </a:solidFill>
            <a:prstDash val="solid"/>
          </a:ln>
        </p:spPr>
      </p:sp>
      <p:sp>
        <p:nvSpPr>
          <p:cNvPr id="17" name="Pill text"/>
          <p:cNvSpPr txBox="1"/>
          <p:nvPr/>
        </p:nvSpPr>
        <p:spPr>
          <a:xfrm>
            <a:off x="6400800" y="1188720"/>
            <a:ext cx="1737360" cy="365760"/>
          </a:xfrm>
          <a:prstGeom prst="rect">
            <a:avLst/>
          </a:prstGeom>
          <a:noFill/>
          <a:ln/>
        </p:spPr>
        <p:txBody>
          <a:bodyPr wrap="square" lIns="0" tIns="0" rIns="0" bIns="0" rtlCol="0" anchor="ctr"/>
          <a:lstStyle/>
          <a:p>
            <a:pPr marL="0" indent="0" algn="ctr">
              <a:buNone/>
            </a:pPr>
            <a:r>
              <a:rPr lang="en-US" sz="1300" b="1" dirty="0">
                <a:solidFill>
                  <a:srgbClr val="3B2F5C"/>
                </a:solidFill>
                <a:latin typeface="Calibri" pitchFamily="34" charset="0"/>
                <a:ea typeface="Calibri" pitchFamily="34" charset="-122"/>
                <a:cs typeface="Calibri" pitchFamily="34" charset="-120"/>
              </a:rPr>
              <a:t>Expected Outcome</a:t>
            </a:r>
            <a:endParaRPr lang="en-US" sz="1300" dirty="0"/>
          </a:p>
        </p:txBody>
      </p:sp>
      <p:sp>
        <p:nvSpPr>
          <p:cNvPr id="18" name="Text 16"/>
          <p:cNvSpPr txBox="1"/>
          <p:nvPr/>
        </p:nvSpPr>
        <p:spPr>
          <a:xfrm>
            <a:off x="6382512" y="1645920"/>
            <a:ext cx="2148840" cy="1463040"/>
          </a:xfrm>
          <a:prstGeom prst="rect">
            <a:avLst/>
          </a:prstGeom>
          <a:noFill/>
          <a:ln/>
        </p:spPr>
        <p:txBody>
          <a:bodyPr wrap="square" lIns="0" tIns="0" rIns="0" bIns="0" rtlCol="0" anchor="ctr"/>
          <a:lstStyle/>
          <a:p>
            <a:pPr marL="0" indent="0">
              <a:buNone/>
            </a:pPr>
            <a:r>
              <a:rPr lang="en-US" sz="1300" dirty="0">
                <a:solidFill>
                  <a:srgbClr val="3B2F5C"/>
                </a:solidFill>
                <a:latin typeface="Calibri" pitchFamily="34" charset="0"/>
                <a:ea typeface="Calibri" pitchFamily="34" charset="-122"/>
                <a:cs typeface="Calibri" pitchFamily="34" charset="-120"/>
              </a:rPr>
              <a:t>Always audible, never disruptive. No manual profiles needed.</a:t>
            </a:r>
            <a:endParaRPr lang="en-US" sz="1300" dirty="0"/>
          </a:p>
        </p:txBody>
      </p:sp>
      <p:sp>
        <p:nvSpPr>
          <p:cNvPr id="553" name="Who card"/>
          <p:cNvSpPr/>
          <p:nvPr/>
        </p:nvSpPr>
        <p:spPr>
          <a:xfrm>
            <a:off x="457200" y="3520440"/>
            <a:ext cx="3131820" cy="1371600"/>
          </a:xfrm>
          <a:prstGeom prst="roundRect">
            <a:avLst>
              <a:gd name="adj" fmla="val 13333"/>
            </a:avLst>
          </a:prstGeom>
          <a:solidFill>
            <a:srgbClr val="ECE1FB"/>
          </a:solidFill>
          <a:ln w="19050">
            <a:solidFill>
              <a:srgbClr val="3B2F5C"/>
            </a:solidFill>
            <a:prstDash val="solid"/>
          </a:ln>
        </p:spPr>
      </p:sp>
      <p:sp>
        <p:nvSpPr>
          <p:cNvPr id="554" name="Buyer card"/>
          <p:cNvSpPr/>
          <p:nvPr/>
        </p:nvSpPr>
        <p:spPr>
          <a:xfrm>
            <a:off x="3726180" y="3520440"/>
            <a:ext cx="3131820" cy="1371600"/>
          </a:xfrm>
          <a:prstGeom prst="roundRect">
            <a:avLst>
              <a:gd name="adj" fmla="val 13333"/>
            </a:avLst>
          </a:prstGeom>
          <a:solidFill>
            <a:srgbClr val="FFFFFF"/>
          </a:solidFill>
          <a:ln w="19050">
            <a:solidFill>
              <a:srgbClr val="3B2F5C"/>
            </a:solidFill>
            <a:prstDash val="solid"/>
          </a:ln>
        </p:spPr>
      </p:sp>
      <p:sp>
        <p:nvSpPr>
          <p:cNvPr id="555" name="Who pill"/>
          <p:cNvSpPr/>
          <p:nvPr/>
        </p:nvSpPr>
        <p:spPr>
          <a:xfrm>
            <a:off x="640080" y="3337560"/>
            <a:ext cx="1828800" cy="365760"/>
          </a:xfrm>
          <a:prstGeom prst="roundRect">
            <a:avLst>
              <a:gd name="adj" fmla="val 50000"/>
            </a:avLst>
          </a:prstGeom>
          <a:solidFill>
            <a:srgbClr val="D3BDF7"/>
          </a:solidFill>
          <a:ln w="19050">
            <a:solidFill>
              <a:srgbClr val="3B2F5C"/>
            </a:solidFill>
            <a:prstDash val="solid"/>
          </a:ln>
        </p:spPr>
      </p:sp>
      <p:sp>
        <p:nvSpPr>
          <p:cNvPr id="556" name="Who pill text"/>
          <p:cNvSpPr txBox="1"/>
          <p:nvPr/>
        </p:nvSpPr>
        <p:spPr>
          <a:xfrm>
            <a:off x="640080" y="3337560"/>
            <a:ext cx="1828800" cy="365760"/>
          </a:xfrm>
          <a:prstGeom prst="rect">
            <a:avLst/>
          </a:prstGeom>
          <a:noFill/>
          <a:ln/>
        </p:spPr>
        <p:txBody>
          <a:bodyPr wrap="square" lIns="0" tIns="0" rIns="0" bIns="0" rtlCol="0" anchor="ctr"/>
          <a:lstStyle/>
          <a:p>
            <a:pPr marL="0" indent="0" algn="ctr">
              <a:buNone/>
            </a:pPr>
            <a:r>
              <a:rPr lang="en-US" sz="1300" b="1" dirty="0">
                <a:solidFill>
                  <a:srgbClr val="3B2F5C"/>
                </a:solidFill>
                <a:latin typeface="Calibri"/>
              </a:rPr>
              <a:t>Who it’s for</a:t>
            </a:r>
          </a:p>
        </p:txBody>
      </p:sp>
      <p:sp>
        <p:nvSpPr>
          <p:cNvPr id="557" name="Buyer pill"/>
          <p:cNvSpPr/>
          <p:nvPr/>
        </p:nvSpPr>
        <p:spPr>
          <a:xfrm>
            <a:off x="3909060" y="3337560"/>
            <a:ext cx="2286000" cy="365760"/>
          </a:xfrm>
          <a:prstGeom prst="roundRect">
            <a:avLst>
              <a:gd name="adj" fmla="val 50000"/>
            </a:avLst>
          </a:prstGeom>
          <a:solidFill>
            <a:srgbClr val="D3BDF7"/>
          </a:solidFill>
          <a:ln w="19050">
            <a:solidFill>
              <a:srgbClr val="3B2F5C"/>
            </a:solidFill>
            <a:prstDash val="solid"/>
          </a:ln>
        </p:spPr>
      </p:sp>
      <p:sp>
        <p:nvSpPr>
          <p:cNvPr id="558" name="Buyer pill text"/>
          <p:cNvSpPr txBox="1"/>
          <p:nvPr/>
        </p:nvSpPr>
        <p:spPr>
          <a:xfrm>
            <a:off x="3909060" y="3337560"/>
            <a:ext cx="2286000" cy="365760"/>
          </a:xfrm>
          <a:prstGeom prst="rect">
            <a:avLst/>
          </a:prstGeom>
          <a:noFill/>
          <a:ln/>
        </p:spPr>
        <p:txBody>
          <a:bodyPr wrap="square" lIns="0" tIns="0" rIns="0" bIns="0" rtlCol="0" anchor="ctr"/>
          <a:lstStyle/>
          <a:p>
            <a:pPr marL="0" indent="0" algn="ctr">
              <a:buNone/>
            </a:pPr>
            <a:r>
              <a:rPr lang="en-US" sz="1300" b="1" dirty="0">
                <a:solidFill>
                  <a:srgbClr val="3B2F5C"/>
                </a:solidFill>
                <a:latin typeface="Calibri"/>
              </a:rPr>
              <a:t>Who would buy it</a:t>
            </a:r>
          </a:p>
        </p:txBody>
      </p:sp>
      <p:sp>
        <p:nvSpPr>
          <p:cNvPr id="559" name="Who text"/>
          <p:cNvSpPr txBox="1"/>
          <p:nvPr/>
        </p:nvSpPr>
        <p:spPr>
          <a:xfrm>
            <a:off x="640080" y="3703320"/>
            <a:ext cx="2766060" cy="1143000"/>
          </a:xfrm>
          <a:prstGeom prst="rect">
            <a:avLst/>
          </a:prstGeom>
          <a:noFill/>
          <a:ln/>
        </p:spPr>
        <p:txBody>
          <a:bodyPr wrap="square" lIns="0" tIns="0" rIns="0" bIns="0" rtlCol="0" anchor="ctr"/>
          <a:lstStyle/>
          <a:p>
            <a:pPr marL="0" indent="0" algn="l">
              <a:buNone/>
            </a:pPr>
            <a:r>
              <a:rPr lang="en-US" sz="1200" dirty="0">
                <a:solidFill>
                  <a:srgbClr val="3B2F5C"/>
                </a:solidFill>
                <a:latin typeface="Calibri"/>
              </a:rPr>
              <a:t>Commuters, students, hospital visitors and shift workers. Anyone who moves between quiet and loud places in a day and can’t keep adjusting the volume by hand.</a:t>
            </a:r>
          </a:p>
        </p:txBody>
      </p:sp>
      <p:sp>
        <p:nvSpPr>
          <p:cNvPr id="560" name="Buyer text"/>
          <p:cNvSpPr txBox="1"/>
          <p:nvPr/>
        </p:nvSpPr>
        <p:spPr>
          <a:xfrm>
            <a:off x="3909060" y="3703320"/>
            <a:ext cx="2766060" cy="1143000"/>
          </a:xfrm>
          <a:prstGeom prst="rect">
            <a:avLst/>
          </a:prstGeom>
          <a:noFill/>
          <a:ln/>
        </p:spPr>
        <p:txBody>
          <a:bodyPr wrap="square" lIns="0" tIns="0" rIns="0" bIns="0" rtlCol="0" anchor="ctr"/>
          <a:lstStyle/>
          <a:p>
            <a:pPr marL="0" indent="0" algn="l">
              <a:buNone/>
            </a:pPr>
            <a:r>
              <a:rPr lang="en-US" sz="1200" dirty="0">
                <a:solidFill>
                  <a:srgbClr val="3B2F5C"/>
                </a:solidFill>
                <a:latin typeface="Calibri"/>
              </a:rPr>
              <a:t>Phone and earbud makers that want a “just works” comfort feature, and hospitals, libraries, offices and campuses that want less noise without banning phones.</a:t>
            </a:r>
          </a:p>
        </p:txBody>
      </p:sp>
      <p:sp>
        <p:nvSpPr>
          <p:cNvPr id="21" name="Team tag"/>
          <p:cNvSpPr/>
          <p:nvPr/>
        </p:nvSpPr>
        <p:spPr>
          <a:xfrm>
            <a:off x="7040880" y="3520440"/>
            <a:ext cx="1645920" cy="1371600"/>
          </a:xfrm>
          <a:prstGeom prst="roundRect">
            <a:avLst>
              <a:gd name="adj" fmla="val 16364"/>
            </a:avLst>
          </a:prstGeom>
          <a:solidFill>
            <a:srgbClr val="D3BDF7"/>
          </a:solidFill>
          <a:ln w="19050">
            <a:solidFill>
              <a:srgbClr val="3B2F5C"/>
            </a:solidFill>
            <a:prstDash val="solid"/>
          </a:ln>
        </p:spPr>
      </p:sp>
      <p:sp>
        <p:nvSpPr>
          <p:cNvPr id="22" name="Text 20"/>
          <p:cNvSpPr txBox="1"/>
          <p:nvPr/>
        </p:nvSpPr>
        <p:spPr>
          <a:xfrm>
            <a:off x="7040880" y="3520440"/>
            <a:ext cx="1645920" cy="1371600"/>
          </a:xfrm>
          <a:prstGeom prst="rect">
            <a:avLst/>
          </a:prstGeom>
          <a:noFill/>
          <a:ln/>
        </p:spPr>
        <p:txBody>
          <a:bodyPr wrap="square" lIns="0" tIns="0" rIns="0" bIns="0" rtlCol="0" anchor="ctr"/>
          <a:lstStyle/>
          <a:p>
            <a:pPr marL="0" indent="0" algn="ctr">
              <a:buNone/>
            </a:pPr>
            <a:r>
              <a:rPr lang="en-US" sz="1200" b="1" dirty="0">
                <a:solidFill>
                  <a:srgbClr val="3B2F5C"/>
                </a:solidFill>
                <a:latin typeface="Calibri" pitchFamily="34" charset="0"/>
                <a:ea typeface="Calibri" pitchFamily="34" charset="-122"/>
                <a:cs typeface="Calibri" pitchFamily="34" charset="-120"/>
              </a:rPr>
              <a:t>Team</a:t>
            </a:r>
            <a:endParaRPr lang="en-US" sz="1200" dirty="0"/>
          </a:p>
          <a:p>
            <a:pPr marL="0" indent="0" algn="ctr">
              <a:buNone/>
            </a:pPr>
            <a:r>
              <a:rPr lang="en-US" sz="1300" dirty="0">
                <a:solidFill>
                  <a:srgbClr val="3B2F5C"/>
                </a:solidFill>
                <a:latin typeface="Calibri" pitchFamily="34" charset="0"/>
                <a:ea typeface="Calibri" pitchFamily="34" charset="-122"/>
                <a:cs typeface="Calibri" pitchFamily="34" charset="-120"/>
              </a:rPr>
              <a:t>Omprakash, Varshith</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B"/>
        </a:solidFill>
        <a:effectLst/>
      </p:bgPr>
    </p:bg>
    <p:spTree>
      <p:nvGrpSpPr>
        <p:cNvPr id="1" name=""/>
        <p:cNvGrpSpPr/>
        <p:nvPr/>
      </p:nvGrpSpPr>
      <p:grpSpPr>
        <a:xfrm>
          <a:off x="0" y="0"/>
          <a:ext cx="0" cy="0"/>
          <a:chOff x="0" y="0"/>
          <a:chExt cx="0" cy="0"/>
        </a:xfrm>
      </p:grpSpPr>
      <p:sp>
        <p:nvSpPr>
          <p:cNvPr id="2" name="Doodle blob 1"/>
          <p:cNvSpPr/>
          <p:nvPr/>
        </p:nvSpPr>
        <p:spPr>
          <a:xfrm>
            <a:off x="7863840" y="-640080"/>
            <a:ext cx="1737360" cy="1737360"/>
          </a:xfrm>
          <a:prstGeom prst="ellipse">
            <a:avLst/>
          </a:prstGeom>
          <a:solidFill>
            <a:srgbClr val="FDE4EC"/>
          </a:solidFill>
          <a:ln w="12700">
            <a:solidFill>
              <a:srgbClr val="FDE4EC"/>
            </a:solidFill>
            <a:prstDash val="solid"/>
          </a:ln>
        </p:spPr>
      </p:sp>
      <p:sp>
        <p:nvSpPr>
          <p:cNvPr id="3" name="Doodle blob 2"/>
          <p:cNvSpPr/>
          <p:nvPr/>
        </p:nvSpPr>
        <p:spPr>
          <a:xfrm>
            <a:off x="-640080" y="4206240"/>
            <a:ext cx="1371600" cy="1371600"/>
          </a:xfrm>
          <a:prstGeom prst="ellipse">
            <a:avLst/>
          </a:prstGeom>
          <a:solidFill>
            <a:srgbClr val="DCEEFB"/>
          </a:solidFill>
          <a:ln w="12700">
            <a:solidFill>
              <a:srgbClr val="DCEEFB"/>
            </a:solidFill>
            <a:prstDash val="solid"/>
          </a:ln>
        </p:spPr>
      </p:sp>
      <p:sp>
        <p:nvSpPr>
          <p:cNvPr id="4" name="Title"/>
          <p:cNvSpPr txBox="1"/>
          <p:nvPr/>
        </p:nvSpPr>
        <p:spPr>
          <a:xfrm>
            <a:off x="457200" y="274320"/>
            <a:ext cx="6675120" cy="731520"/>
          </a:xfrm>
          <a:prstGeom prst="rect">
            <a:avLst/>
          </a:prstGeom>
          <a:noFill/>
          <a:ln/>
        </p:spPr>
        <p:txBody>
          <a:bodyPr wrap="square" lIns="0" tIns="0" rIns="0" bIns="0" rtlCol="0" anchor="ctr"/>
          <a:lstStyle/>
          <a:p>
            <a:pPr marL="0" indent="0">
              <a:buNone/>
            </a:pPr>
            <a:r>
              <a:rPr lang="en-US" sz="2200" b="1" dirty="0">
                <a:solidFill>
                  <a:srgbClr val="3B2F5C"/>
                </a:solidFill>
                <a:latin typeface="Arial" pitchFamily="34" charset="0"/>
                <a:ea typeface="Arial" pitchFamily="34" charset="-122"/>
                <a:cs typeface="Arial" pitchFamily="34" charset="-120"/>
              </a:rPr>
              <a:t>Why this matters: the common thread</a:t>
            </a:r>
            <a:endParaRPr lang="en-US" sz="2200" dirty="0"/>
          </a:p>
        </p:txBody>
      </p:sp>
      <p:sp>
        <p:nvSpPr>
          <p:cNvPr id="5" name="Text 3"/>
          <p:cNvSpPr txBox="1"/>
          <p:nvPr/>
        </p:nvSpPr>
        <p:spPr>
          <a:xfrm>
            <a:off x="457200" y="1051560"/>
            <a:ext cx="8229600" cy="685800"/>
          </a:xfrm>
          <a:prstGeom prst="rect">
            <a:avLst/>
          </a:prstGeom>
          <a:noFill/>
          <a:ln/>
        </p:spPr>
        <p:txBody>
          <a:bodyPr wrap="square" lIns="0" tIns="0" rIns="0" bIns="0" rtlCol="0" anchor="ctr"/>
          <a:lstStyle/>
          <a:p>
            <a:pPr marL="0" indent="0">
              <a:buNone/>
            </a:pPr>
            <a:r>
              <a:rPr lang="en-US" sz="1400" dirty="0">
                <a:solidFill>
                  <a:srgbClr val="3B2F5C"/>
                </a:solidFill>
                <a:latin typeface="Calibri" pitchFamily="34" charset="0"/>
                <a:ea typeface="Calibri" pitchFamily="34" charset="-122"/>
                <a:cs typeface="Calibri" pitchFamily="34" charset="-120"/>
              </a:rPr>
              <a:t>In every case the phone already has a signal, like sender identity, typing pattern, sensors, camera or microphone, but it applies the same fixed rule to every person and every moment.</a:t>
            </a:r>
            <a:endParaRPr lang="en-US" sz="1400" dirty="0"/>
          </a:p>
        </p:txBody>
      </p:sp>
      <p:sp>
        <p:nvSpPr>
          <p:cNvPr id="6" name="Gap badge 1"/>
          <p:cNvSpPr/>
          <p:nvPr/>
        </p:nvSpPr>
        <p:spPr>
          <a:xfrm>
            <a:off x="457200" y="1828800"/>
            <a:ext cx="411480" cy="411480"/>
          </a:xfrm>
          <a:prstGeom prst="ellipse">
            <a:avLst/>
          </a:prstGeom>
          <a:solidFill>
            <a:srgbClr val="F9B8CC"/>
          </a:solidFill>
          <a:ln w="19050">
            <a:solidFill>
              <a:srgbClr val="3B2F5C"/>
            </a:solidFill>
            <a:prstDash val="solid"/>
          </a:ln>
        </p:spPr>
      </p:sp>
      <p:sp>
        <p:nvSpPr>
          <p:cNvPr id="7" name="Text 5"/>
          <p:cNvSpPr txBox="1"/>
          <p:nvPr/>
        </p:nvSpPr>
        <p:spPr>
          <a:xfrm>
            <a:off x="457200" y="1828800"/>
            <a:ext cx="411480" cy="411480"/>
          </a:xfrm>
          <a:prstGeom prst="rect">
            <a:avLst/>
          </a:prstGeom>
          <a:noFill/>
          <a:ln/>
        </p:spPr>
        <p:txBody>
          <a:bodyPr wrap="square" lIns="0" tIns="0" rIns="0" bIns="0" rtlCol="0" anchor="ctr"/>
          <a:lstStyle/>
          <a:p>
            <a:pPr marL="0" indent="0" algn="ctr">
              <a:buNone/>
            </a:pPr>
            <a:r>
              <a:rPr lang="en-US" sz="1400" b="1" dirty="0">
                <a:solidFill>
                  <a:srgbClr val="3B2F5C"/>
                </a:solidFill>
                <a:latin typeface="Arial" pitchFamily="34" charset="0"/>
                <a:ea typeface="Arial" pitchFamily="34" charset="-122"/>
                <a:cs typeface="Arial" pitchFamily="34" charset="-120"/>
              </a:rPr>
              <a:t>1</a:t>
            </a:r>
            <a:endParaRPr lang="en-US" sz="1400" dirty="0"/>
          </a:p>
        </p:txBody>
      </p:sp>
      <p:sp>
        <p:nvSpPr>
          <p:cNvPr id="8" name="Text 6"/>
          <p:cNvSpPr txBox="1"/>
          <p:nvPr/>
        </p:nvSpPr>
        <p:spPr>
          <a:xfrm>
            <a:off x="1051560" y="1828800"/>
            <a:ext cx="7589520" cy="411480"/>
          </a:xfrm>
          <a:prstGeom prst="rect">
            <a:avLst/>
          </a:prstGeom>
          <a:noFill/>
          <a:ln/>
        </p:spPr>
        <p:txBody>
          <a:bodyPr wrap="square" lIns="0" tIns="0" rIns="0" bIns="0" rtlCol="0" anchor="ctr"/>
          <a:lstStyle/>
          <a:p>
            <a:pPr marL="0" indent="0">
              <a:buNone/>
            </a:pPr>
            <a:r>
              <a:rPr lang="en-US" sz="1400" b="1" dirty="0">
                <a:solidFill>
                  <a:srgbClr val="3B2F5C"/>
                </a:solidFill>
                <a:latin typeface="Calibri" pitchFamily="34" charset="0"/>
                <a:ea typeface="Calibri" pitchFamily="34" charset="-122"/>
                <a:cs typeface="Calibri" pitchFamily="34" charset="-120"/>
              </a:rPr>
              <a:t>Group chats: </a:t>
            </a:r>
            <a:r>
              <a:rPr lang="en-US" sz="1400" dirty="0">
                <a:solidFill>
                  <a:srgbClr val="3B2F5C"/>
                </a:solidFill>
                <a:latin typeface="Calibri" pitchFamily="34" charset="0"/>
                <a:ea typeface="Calibri" pitchFamily="34" charset="-122"/>
                <a:cs typeface="Calibri" pitchFamily="34" charset="-120"/>
              </a:rPr>
              <a:t>No app ranks notifications by relationship</a:t>
            </a:r>
            <a:endParaRPr lang="en-US" sz="1400" dirty="0"/>
          </a:p>
        </p:txBody>
      </p:sp>
      <p:sp>
        <p:nvSpPr>
          <p:cNvPr id="9" name="Gap badge 2"/>
          <p:cNvSpPr/>
          <p:nvPr/>
        </p:nvSpPr>
        <p:spPr>
          <a:xfrm>
            <a:off x="457200" y="2377440"/>
            <a:ext cx="411480" cy="411480"/>
          </a:xfrm>
          <a:prstGeom prst="ellipse">
            <a:avLst/>
          </a:prstGeom>
          <a:solidFill>
            <a:srgbClr val="FFBE85"/>
          </a:solidFill>
          <a:ln w="19050">
            <a:solidFill>
              <a:srgbClr val="3B2F5C"/>
            </a:solidFill>
            <a:prstDash val="solid"/>
          </a:ln>
        </p:spPr>
      </p:sp>
      <p:sp>
        <p:nvSpPr>
          <p:cNvPr id="10" name="Text 8"/>
          <p:cNvSpPr txBox="1"/>
          <p:nvPr/>
        </p:nvSpPr>
        <p:spPr>
          <a:xfrm>
            <a:off x="457200" y="2377440"/>
            <a:ext cx="411480" cy="411480"/>
          </a:xfrm>
          <a:prstGeom prst="rect">
            <a:avLst/>
          </a:prstGeom>
          <a:noFill/>
          <a:ln/>
        </p:spPr>
        <p:txBody>
          <a:bodyPr wrap="square" lIns="0" tIns="0" rIns="0" bIns="0" rtlCol="0" anchor="ctr"/>
          <a:lstStyle/>
          <a:p>
            <a:pPr marL="0" indent="0" algn="ctr">
              <a:buNone/>
            </a:pPr>
            <a:r>
              <a:rPr lang="en-US" sz="1400" b="1" dirty="0">
                <a:solidFill>
                  <a:srgbClr val="3B2F5C"/>
                </a:solidFill>
                <a:latin typeface="Arial" pitchFamily="34" charset="0"/>
                <a:ea typeface="Arial" pitchFamily="34" charset="-122"/>
                <a:cs typeface="Arial" pitchFamily="34" charset="-120"/>
              </a:rPr>
              <a:t>2</a:t>
            </a:r>
            <a:endParaRPr lang="en-US" sz="1400" dirty="0"/>
          </a:p>
        </p:txBody>
      </p:sp>
      <p:sp>
        <p:nvSpPr>
          <p:cNvPr id="11" name="Text 9"/>
          <p:cNvSpPr txBox="1"/>
          <p:nvPr/>
        </p:nvSpPr>
        <p:spPr>
          <a:xfrm>
            <a:off x="1051560" y="2377440"/>
            <a:ext cx="7589520" cy="411480"/>
          </a:xfrm>
          <a:prstGeom prst="rect">
            <a:avLst/>
          </a:prstGeom>
          <a:noFill/>
          <a:ln/>
        </p:spPr>
        <p:txBody>
          <a:bodyPr wrap="square" lIns="0" tIns="0" rIns="0" bIns="0" rtlCol="0" anchor="ctr"/>
          <a:lstStyle/>
          <a:p>
            <a:pPr marL="0" indent="0">
              <a:buNone/>
            </a:pPr>
            <a:r>
              <a:rPr lang="en-US" sz="1400" b="1" dirty="0">
                <a:solidFill>
                  <a:srgbClr val="3B2F5C"/>
                </a:solidFill>
                <a:latin typeface="Calibri" pitchFamily="34" charset="0"/>
                <a:ea typeface="Calibri" pitchFamily="34" charset="-122"/>
                <a:cs typeface="Calibri" pitchFamily="34" charset="-120"/>
              </a:rPr>
              <a:t>Keyboards: </a:t>
            </a:r>
            <a:r>
              <a:rPr lang="en-US" sz="1400" dirty="0">
                <a:solidFill>
                  <a:srgbClr val="3B2F5C"/>
                </a:solidFill>
                <a:latin typeface="Calibri" pitchFamily="34" charset="0"/>
                <a:ea typeface="Calibri" pitchFamily="34" charset="-122"/>
                <a:cs typeface="Calibri" pitchFamily="34" charset="-120"/>
              </a:rPr>
              <a:t>No consumer keyboard does real per-user federated learning</a:t>
            </a:r>
            <a:endParaRPr lang="en-US" sz="1400" dirty="0"/>
          </a:p>
        </p:txBody>
      </p:sp>
      <p:sp>
        <p:nvSpPr>
          <p:cNvPr id="12" name="Gap badge 3"/>
          <p:cNvSpPr/>
          <p:nvPr/>
        </p:nvSpPr>
        <p:spPr>
          <a:xfrm>
            <a:off x="457200" y="2926080"/>
            <a:ext cx="411480" cy="411480"/>
          </a:xfrm>
          <a:prstGeom prst="ellipse">
            <a:avLst/>
          </a:prstGeom>
          <a:solidFill>
            <a:srgbClr val="A8E6CF"/>
          </a:solidFill>
          <a:ln w="19050">
            <a:solidFill>
              <a:srgbClr val="3B2F5C"/>
            </a:solidFill>
            <a:prstDash val="solid"/>
          </a:ln>
        </p:spPr>
      </p:sp>
      <p:sp>
        <p:nvSpPr>
          <p:cNvPr id="13" name="Text 11"/>
          <p:cNvSpPr txBox="1"/>
          <p:nvPr/>
        </p:nvSpPr>
        <p:spPr>
          <a:xfrm>
            <a:off x="457200" y="2926080"/>
            <a:ext cx="411480" cy="411480"/>
          </a:xfrm>
          <a:prstGeom prst="rect">
            <a:avLst/>
          </a:prstGeom>
          <a:noFill/>
          <a:ln/>
        </p:spPr>
        <p:txBody>
          <a:bodyPr wrap="square" lIns="0" tIns="0" rIns="0" bIns="0" rtlCol="0" anchor="ctr"/>
          <a:lstStyle/>
          <a:p>
            <a:pPr marL="0" indent="0" algn="ctr">
              <a:buNone/>
            </a:pPr>
            <a:r>
              <a:rPr lang="en-US" sz="1400" b="1" dirty="0">
                <a:solidFill>
                  <a:srgbClr val="3B2F5C"/>
                </a:solidFill>
                <a:latin typeface="Arial" pitchFamily="34" charset="0"/>
                <a:ea typeface="Arial" pitchFamily="34" charset="-122"/>
                <a:cs typeface="Arial" pitchFamily="34" charset="-120"/>
              </a:rPr>
              <a:t>3</a:t>
            </a:r>
            <a:endParaRPr lang="en-US" sz="1400" dirty="0"/>
          </a:p>
        </p:txBody>
      </p:sp>
      <p:sp>
        <p:nvSpPr>
          <p:cNvPr id="14" name="Text 12"/>
          <p:cNvSpPr txBox="1"/>
          <p:nvPr/>
        </p:nvSpPr>
        <p:spPr>
          <a:xfrm>
            <a:off x="1051560" y="2926080"/>
            <a:ext cx="7589520" cy="411480"/>
          </a:xfrm>
          <a:prstGeom prst="rect">
            <a:avLst/>
          </a:prstGeom>
          <a:noFill/>
          <a:ln/>
        </p:spPr>
        <p:txBody>
          <a:bodyPr wrap="square" lIns="0" tIns="0" rIns="0" bIns="0" rtlCol="0" anchor="ctr"/>
          <a:lstStyle/>
          <a:p>
            <a:pPr marL="0" indent="0">
              <a:buNone/>
            </a:pPr>
            <a:r>
              <a:rPr lang="en-US" sz="1400" b="1" dirty="0">
                <a:solidFill>
                  <a:srgbClr val="3B2F5C"/>
                </a:solidFill>
                <a:latin typeface="Calibri" pitchFamily="34" charset="0"/>
                <a:ea typeface="Calibri" pitchFamily="34" charset="-122"/>
                <a:cs typeface="Calibri" pitchFamily="34" charset="-120"/>
              </a:rPr>
              <a:t>DND: </a:t>
            </a:r>
            <a:r>
              <a:rPr lang="en-US" sz="1400" dirty="0">
                <a:solidFill>
                  <a:srgbClr val="3B2F5C"/>
                </a:solidFill>
                <a:latin typeface="Calibri" pitchFamily="34" charset="0"/>
                <a:ea typeface="Calibri" pitchFamily="34" charset="-122"/>
                <a:cs typeface="Calibri" pitchFamily="34" charset="-120"/>
              </a:rPr>
              <a:t>No Do Not Disturb is sensor-adaptive</a:t>
            </a:r>
            <a:endParaRPr lang="en-US" sz="1400" dirty="0"/>
          </a:p>
        </p:txBody>
      </p:sp>
      <p:sp>
        <p:nvSpPr>
          <p:cNvPr id="15" name="Gap badge 4"/>
          <p:cNvSpPr/>
          <p:nvPr/>
        </p:nvSpPr>
        <p:spPr>
          <a:xfrm>
            <a:off x="457200" y="3474720"/>
            <a:ext cx="411480" cy="411480"/>
          </a:xfrm>
          <a:prstGeom prst="ellipse">
            <a:avLst/>
          </a:prstGeom>
          <a:solidFill>
            <a:srgbClr val="A9D6F5"/>
          </a:solidFill>
          <a:ln w="19050">
            <a:solidFill>
              <a:srgbClr val="3B2F5C"/>
            </a:solidFill>
            <a:prstDash val="solid"/>
          </a:ln>
        </p:spPr>
      </p:sp>
      <p:sp>
        <p:nvSpPr>
          <p:cNvPr id="16" name="Text 14"/>
          <p:cNvSpPr txBox="1"/>
          <p:nvPr/>
        </p:nvSpPr>
        <p:spPr>
          <a:xfrm>
            <a:off x="457200" y="3474720"/>
            <a:ext cx="411480" cy="411480"/>
          </a:xfrm>
          <a:prstGeom prst="rect">
            <a:avLst/>
          </a:prstGeom>
          <a:noFill/>
          <a:ln/>
        </p:spPr>
        <p:txBody>
          <a:bodyPr wrap="square" lIns="0" tIns="0" rIns="0" bIns="0" rtlCol="0" anchor="ctr"/>
          <a:lstStyle/>
          <a:p>
            <a:pPr marL="0" indent="0" algn="ctr">
              <a:buNone/>
            </a:pPr>
            <a:r>
              <a:rPr lang="en-US" sz="1400" b="1" dirty="0">
                <a:solidFill>
                  <a:srgbClr val="3B2F5C"/>
                </a:solidFill>
                <a:latin typeface="Arial" pitchFamily="34" charset="0"/>
                <a:ea typeface="Arial" pitchFamily="34" charset="-122"/>
                <a:cs typeface="Arial" pitchFamily="34" charset="-120"/>
              </a:rPr>
              <a:t>4</a:t>
            </a:r>
            <a:endParaRPr lang="en-US" sz="1400" dirty="0"/>
          </a:p>
        </p:txBody>
      </p:sp>
      <p:sp>
        <p:nvSpPr>
          <p:cNvPr id="17" name="Text 15"/>
          <p:cNvSpPr txBox="1"/>
          <p:nvPr/>
        </p:nvSpPr>
        <p:spPr>
          <a:xfrm>
            <a:off x="1051560" y="3474720"/>
            <a:ext cx="7589520" cy="411480"/>
          </a:xfrm>
          <a:prstGeom prst="rect">
            <a:avLst/>
          </a:prstGeom>
          <a:noFill/>
          <a:ln/>
        </p:spPr>
        <p:txBody>
          <a:bodyPr wrap="square" lIns="0" tIns="0" rIns="0" bIns="0" rtlCol="0" anchor="ctr"/>
          <a:lstStyle/>
          <a:p>
            <a:pPr marL="0" indent="0">
              <a:buNone/>
            </a:pPr>
            <a:r>
              <a:rPr lang="en-US" sz="1400" b="1" dirty="0">
                <a:solidFill>
                  <a:srgbClr val="3B2F5C"/>
                </a:solidFill>
                <a:latin typeface="Calibri" pitchFamily="34" charset="0"/>
                <a:ea typeface="Calibri" pitchFamily="34" charset="-122"/>
                <a:cs typeface="Calibri" pitchFamily="34" charset="-120"/>
              </a:rPr>
              <a:t>Screen time: </a:t>
            </a:r>
            <a:r>
              <a:rPr lang="en-US" sz="1400" dirty="0">
                <a:solidFill>
                  <a:srgbClr val="3B2F5C"/>
                </a:solidFill>
                <a:latin typeface="Calibri" pitchFamily="34" charset="0"/>
                <a:ea typeface="Calibri" pitchFamily="34" charset="-122"/>
                <a:cs typeface="Calibri" pitchFamily="34" charset="-120"/>
              </a:rPr>
              <a:t>No tool measures real attention</a:t>
            </a:r>
            <a:endParaRPr lang="en-US" sz="1400" dirty="0"/>
          </a:p>
        </p:txBody>
      </p:sp>
      <p:sp>
        <p:nvSpPr>
          <p:cNvPr id="18" name="Gap badge 5"/>
          <p:cNvSpPr/>
          <p:nvPr/>
        </p:nvSpPr>
        <p:spPr>
          <a:xfrm>
            <a:off x="457200" y="4023360"/>
            <a:ext cx="411480" cy="411480"/>
          </a:xfrm>
          <a:prstGeom prst="ellipse">
            <a:avLst/>
          </a:prstGeom>
          <a:solidFill>
            <a:srgbClr val="D3BDF7"/>
          </a:solidFill>
          <a:ln w="19050">
            <a:solidFill>
              <a:srgbClr val="3B2F5C"/>
            </a:solidFill>
            <a:prstDash val="solid"/>
          </a:ln>
        </p:spPr>
      </p:sp>
      <p:sp>
        <p:nvSpPr>
          <p:cNvPr id="19" name="Text 17"/>
          <p:cNvSpPr txBox="1"/>
          <p:nvPr/>
        </p:nvSpPr>
        <p:spPr>
          <a:xfrm>
            <a:off x="457200" y="4023360"/>
            <a:ext cx="411480" cy="411480"/>
          </a:xfrm>
          <a:prstGeom prst="rect">
            <a:avLst/>
          </a:prstGeom>
          <a:noFill/>
          <a:ln/>
        </p:spPr>
        <p:txBody>
          <a:bodyPr wrap="square" lIns="0" tIns="0" rIns="0" bIns="0" rtlCol="0" anchor="ctr"/>
          <a:lstStyle/>
          <a:p>
            <a:pPr marL="0" indent="0" algn="ctr">
              <a:buNone/>
            </a:pPr>
            <a:r>
              <a:rPr lang="en-US" sz="1400" b="1" dirty="0">
                <a:solidFill>
                  <a:srgbClr val="3B2F5C"/>
                </a:solidFill>
                <a:latin typeface="Arial" pitchFamily="34" charset="0"/>
                <a:ea typeface="Arial" pitchFamily="34" charset="-122"/>
                <a:cs typeface="Arial" pitchFamily="34" charset="-120"/>
              </a:rPr>
              <a:t>5</a:t>
            </a:r>
            <a:endParaRPr lang="en-US" sz="1400" dirty="0"/>
          </a:p>
        </p:txBody>
      </p:sp>
      <p:sp>
        <p:nvSpPr>
          <p:cNvPr id="20" name="Text 18"/>
          <p:cNvSpPr txBox="1"/>
          <p:nvPr/>
        </p:nvSpPr>
        <p:spPr>
          <a:xfrm>
            <a:off x="1051560" y="4023360"/>
            <a:ext cx="7589520" cy="411480"/>
          </a:xfrm>
          <a:prstGeom prst="rect">
            <a:avLst/>
          </a:prstGeom>
          <a:noFill/>
          <a:ln/>
        </p:spPr>
        <p:txBody>
          <a:bodyPr wrap="square" lIns="0" tIns="0" rIns="0" bIns="0" rtlCol="0" anchor="ctr"/>
          <a:lstStyle/>
          <a:p>
            <a:pPr marL="0" indent="0">
              <a:buNone/>
            </a:pPr>
            <a:r>
              <a:rPr lang="en-US" sz="1400" b="1" dirty="0">
                <a:solidFill>
                  <a:srgbClr val="3B2F5C"/>
                </a:solidFill>
                <a:latin typeface="Calibri" pitchFamily="34" charset="0"/>
                <a:ea typeface="Calibri" pitchFamily="34" charset="-122"/>
                <a:cs typeface="Calibri" pitchFamily="34" charset="-120"/>
              </a:rPr>
              <a:t>Ringtone: </a:t>
            </a:r>
            <a:r>
              <a:rPr lang="en-US" sz="1400" dirty="0">
                <a:solidFill>
                  <a:srgbClr val="3B2F5C"/>
                </a:solidFill>
                <a:latin typeface="Calibri" pitchFamily="34" charset="0"/>
                <a:ea typeface="Calibri" pitchFamily="34" charset="-122"/>
                <a:cs typeface="Calibri" pitchFamily="34" charset="-120"/>
              </a:rPr>
              <a:t>No phone adjusts to ambient noise automatically</a:t>
            </a:r>
            <a:endParaRPr lang="en-US" sz="1400" dirty="0"/>
          </a:p>
        </p:txBody>
      </p:sp>
      <p:sp>
        <p:nvSpPr>
          <p:cNvPr id="21" name="Text 19"/>
          <p:cNvSpPr txBox="1"/>
          <p:nvPr/>
        </p:nvSpPr>
        <p:spPr>
          <a:xfrm>
            <a:off x="457200" y="4572000"/>
            <a:ext cx="8229600" cy="320040"/>
          </a:xfrm>
          <a:prstGeom prst="rect">
            <a:avLst/>
          </a:prstGeom>
          <a:noFill/>
          <a:ln/>
        </p:spPr>
        <p:txBody>
          <a:bodyPr wrap="square" lIns="0" tIns="0" rIns="0" bIns="0" rtlCol="0" anchor="ctr"/>
          <a:lstStyle/>
          <a:p>
            <a:pPr marL="0" indent="0">
              <a:buNone/>
            </a:pPr>
            <a:r>
              <a:rPr lang="en-US" sz="1300" b="1" dirty="0">
                <a:solidFill>
                  <a:srgbClr val="3B2F5C"/>
                </a:solidFill>
                <a:latin typeface="Arial" pitchFamily="34" charset="0"/>
                <a:ea typeface="Arial" pitchFamily="34" charset="-122"/>
                <a:cs typeface="Arial" pitchFamily="34" charset="-120"/>
              </a:rPr>
              <a:t>These are real gaps that no major app has solved today.</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B"/>
        </a:solidFill>
        <a:effectLst/>
      </p:bgPr>
    </p:bg>
    <p:spTree>
      <p:nvGrpSpPr>
        <p:cNvPr id="1" name=""/>
        <p:cNvGrpSpPr/>
        <p:nvPr/>
      </p:nvGrpSpPr>
      <p:grpSpPr>
        <a:xfrm>
          <a:off x="0" y="0"/>
          <a:ext cx="0" cy="0"/>
          <a:chOff x="0" y="0"/>
          <a:chExt cx="0" cy="0"/>
        </a:xfrm>
      </p:grpSpPr>
      <p:sp>
        <p:nvSpPr>
          <p:cNvPr id="2" name="Doodle blob 1"/>
          <p:cNvSpPr/>
          <p:nvPr/>
        </p:nvSpPr>
        <p:spPr>
          <a:xfrm>
            <a:off x="-469364" y="-571500"/>
            <a:ext cx="1645920" cy="1645920"/>
          </a:xfrm>
          <a:prstGeom prst="ellipse">
            <a:avLst/>
          </a:prstGeom>
          <a:solidFill>
            <a:srgbClr val="F9B8CC"/>
          </a:solidFill>
          <a:ln w="12700">
            <a:solidFill>
              <a:srgbClr val="F9B8CC"/>
            </a:solidFill>
            <a:prstDash val="solid"/>
          </a:ln>
        </p:spPr>
      </p:sp>
      <p:sp>
        <p:nvSpPr>
          <p:cNvPr id="3" name="Doodle blob 2"/>
          <p:cNvSpPr/>
          <p:nvPr/>
        </p:nvSpPr>
        <p:spPr>
          <a:xfrm>
            <a:off x="8046720" y="-457200"/>
            <a:ext cx="1554480" cy="1554480"/>
          </a:xfrm>
          <a:prstGeom prst="ellipse">
            <a:avLst/>
          </a:prstGeom>
          <a:solidFill>
            <a:srgbClr val="FFE08A"/>
          </a:solidFill>
          <a:ln w="12700">
            <a:solidFill>
              <a:srgbClr val="FFE08A"/>
            </a:solidFill>
            <a:prstDash val="solid"/>
          </a:ln>
        </p:spPr>
      </p:sp>
      <p:sp>
        <p:nvSpPr>
          <p:cNvPr id="4" name="Doodle blob 3"/>
          <p:cNvSpPr/>
          <p:nvPr/>
        </p:nvSpPr>
        <p:spPr>
          <a:xfrm>
            <a:off x="8229600" y="3840480"/>
            <a:ext cx="1645920" cy="1645920"/>
          </a:xfrm>
          <a:prstGeom prst="ellipse">
            <a:avLst/>
          </a:prstGeom>
          <a:solidFill>
            <a:srgbClr val="A8E6CF"/>
          </a:solidFill>
          <a:ln w="12700">
            <a:solidFill>
              <a:srgbClr val="A8E6CF"/>
            </a:solidFill>
            <a:prstDash val="solid"/>
          </a:ln>
        </p:spPr>
      </p:sp>
      <p:sp>
        <p:nvSpPr>
          <p:cNvPr id="5" name="Doodle blob 4"/>
          <p:cNvSpPr/>
          <p:nvPr/>
        </p:nvSpPr>
        <p:spPr>
          <a:xfrm>
            <a:off x="-365760" y="4206240"/>
            <a:ext cx="1280160" cy="1280160"/>
          </a:xfrm>
          <a:prstGeom prst="ellipse">
            <a:avLst/>
          </a:prstGeom>
          <a:solidFill>
            <a:srgbClr val="A9D6F5"/>
          </a:solidFill>
          <a:ln w="12700">
            <a:solidFill>
              <a:srgbClr val="A9D6F5"/>
            </a:solidFill>
            <a:prstDash val="solid"/>
          </a:ln>
        </p:spPr>
      </p:sp>
      <p:sp>
        <p:nvSpPr>
          <p:cNvPr id="201" name="Title"/>
          <p:cNvSpPr txBox="1"/>
          <p:nvPr/>
        </p:nvSpPr>
        <p:spPr>
          <a:xfrm>
            <a:off x="457200" y="320040"/>
            <a:ext cx="6000000" cy="731520"/>
          </a:xfrm>
          <a:prstGeom prst="roundRect">
            <a:avLst/>
          </a:prstGeom>
          <a:noFill/>
          <a:ln>
            <a:noFill/>
          </a:ln>
        </p:spPr>
        <p:txBody>
          <a:bodyPr wrap="square" lIns="0" tIns="0" rIns="0" bIns="0" rtlCol="0" anchor="ctr"/>
          <a:lstStyle/>
          <a:p>
            <a:pPr marL="0" indent="0" algn="l">
              <a:spcAft>
                <a:spcPts val="0"/>
              </a:spcAft>
              <a:buNone/>
            </a:pPr>
            <a:r>
              <a:rPr lang="en-US" sz="4400" b="1" dirty="0">
                <a:solidFill>
                  <a:srgbClr val="3B2F5C"/>
                </a:solidFill>
                <a:latin typeface="Arial"/>
              </a:rPr>
              <a:t>Thank you!</a:t>
            </a:r>
          </a:p>
        </p:txBody>
      </p:sp>
      <p:sp>
        <p:nvSpPr>
          <p:cNvPr id="202" name="Subtitle"/>
          <p:cNvSpPr txBox="1"/>
          <p:nvPr/>
        </p:nvSpPr>
        <p:spPr>
          <a:xfrm>
            <a:off x="457200" y="1051560"/>
            <a:ext cx="6400800" cy="320040"/>
          </a:xfrm>
          <a:prstGeom prst="roundRect">
            <a:avLst/>
          </a:prstGeom>
          <a:noFill/>
          <a:ln>
            <a:noFill/>
          </a:ln>
        </p:spPr>
        <p:txBody>
          <a:bodyPr wrap="square" lIns="0" tIns="0" rIns="0" bIns="0" rtlCol="0" anchor="ctr"/>
          <a:lstStyle/>
          <a:p>
            <a:pPr marL="0" indent="0" algn="l">
              <a:spcAft>
                <a:spcPts val="0"/>
              </a:spcAft>
              <a:buNone/>
            </a:pPr>
            <a:r>
              <a:rPr lang="en-US" sz="1800" dirty="0">
                <a:solidFill>
                  <a:srgbClr val="3B2F5C"/>
                </a:solidFill>
                <a:latin typeface="Calibri"/>
              </a:rPr>
              <a:t>Any questions?</a:t>
            </a:r>
          </a:p>
        </p:txBody>
      </p:sp>
      <p:sp>
        <p:nvSpPr>
          <p:cNvPr id="203" name="Idea card 1"/>
          <p:cNvSpPr/>
          <p:nvPr/>
        </p:nvSpPr>
        <p:spPr>
          <a:xfrm>
            <a:off x="457200" y="1554480"/>
            <a:ext cx="1536192" cy="1645920"/>
          </a:xfrm>
          <a:prstGeom prst="roundRect">
            <a:avLst>
              <a:gd name="adj" fmla="val 9000"/>
            </a:avLst>
          </a:prstGeom>
          <a:solidFill>
            <a:srgbClr val="FDE4EC"/>
          </a:solidFill>
          <a:ln w="19050">
            <a:solidFill>
              <a:srgbClr val="3B2F5C"/>
            </a:solidFill>
            <a:prstDash val="solid"/>
          </a:ln>
        </p:spPr>
      </p:sp>
      <p:sp>
        <p:nvSpPr>
          <p:cNvPr id="204" name="Idea number 1"/>
          <p:cNvSpPr/>
          <p:nvPr/>
        </p:nvSpPr>
        <p:spPr>
          <a:xfrm>
            <a:off x="594360" y="1691640"/>
            <a:ext cx="320040" cy="320040"/>
          </a:xfrm>
          <a:prstGeom prst="ellipse">
            <a:avLst/>
          </a:prstGeom>
          <a:solidFill>
            <a:srgbClr val="F9B8CC"/>
          </a:solidFill>
          <a:ln w="15875">
            <a:solidFill>
              <a:srgbClr val="3B2F5C"/>
            </a:solidFill>
            <a:prstDash val="solid"/>
          </a:ln>
        </p:spPr>
        <p:txBody>
          <a:bodyPr wrap="square" lIns="0" tIns="0" rIns="0" bIns="0" rtlCol="0" anchor="ctr"/>
          <a:lstStyle/>
          <a:p>
            <a:pPr marL="0" indent="0" algn="ctr">
              <a:spcAft>
                <a:spcPts val="0"/>
              </a:spcAft>
              <a:buNone/>
            </a:pPr>
            <a:r>
              <a:rPr lang="en-US" sz="1400" b="1" dirty="0">
                <a:solidFill>
                  <a:srgbClr val="3B2F5C"/>
                </a:solidFill>
                <a:latin typeface="Arial"/>
              </a:rPr>
              <a:t>1</a:t>
            </a:r>
          </a:p>
        </p:txBody>
      </p:sp>
      <p:sp>
        <p:nvSpPr>
          <p:cNvPr id="205" name="Idea text 1"/>
          <p:cNvSpPr txBox="1"/>
          <p:nvPr/>
        </p:nvSpPr>
        <p:spPr>
          <a:xfrm>
            <a:off x="594360" y="2103120"/>
            <a:ext cx="1261872" cy="1143000"/>
          </a:xfrm>
          <a:prstGeom prst="roundRect">
            <a:avLst/>
          </a:prstGeom>
          <a:noFill/>
          <a:ln>
            <a:noFill/>
          </a:ln>
        </p:spPr>
        <p:txBody>
          <a:bodyPr wrap="square" lIns="0" tIns="0" rIns="0" bIns="0" rtlCol="0" anchor="t"/>
          <a:lstStyle/>
          <a:p>
            <a:pPr marL="0" indent="0" algn="l">
              <a:spcAft>
                <a:spcPts val="600"/>
              </a:spcAft>
              <a:buNone/>
            </a:pPr>
            <a:r>
              <a:rPr lang="en-US" sz="1300" b="1" dirty="0">
                <a:solidFill>
                  <a:srgbClr val="3B2F5C"/>
                </a:solidFill>
                <a:latin typeface="Calibri"/>
              </a:rPr>
              <a:t>Group Chat Notification</a:t>
            </a:r>
          </a:p>
          <a:p>
            <a:pPr marL="0" indent="0" algn="l">
              <a:spcAft>
                <a:spcPts val="0"/>
              </a:spcAft>
              <a:buNone/>
            </a:pPr>
            <a:r>
              <a:rPr lang="en-US" sz="1100" dirty="0">
                <a:solidFill>
                  <a:srgbClr val="3B2F5C"/>
                </a:solidFill>
                <a:latin typeface="Calibri"/>
              </a:rPr>
              <a:t>Aman, Prince</a:t>
            </a:r>
          </a:p>
        </p:txBody>
      </p:sp>
      <p:sp>
        <p:nvSpPr>
          <p:cNvPr id="206" name="Idea card 2"/>
          <p:cNvSpPr/>
          <p:nvPr/>
        </p:nvSpPr>
        <p:spPr>
          <a:xfrm>
            <a:off x="2130552" y="1554480"/>
            <a:ext cx="1536192" cy="1645920"/>
          </a:xfrm>
          <a:prstGeom prst="roundRect">
            <a:avLst>
              <a:gd name="adj" fmla="val 9000"/>
            </a:avLst>
          </a:prstGeom>
          <a:solidFill>
            <a:srgbClr val="FFE8D1"/>
          </a:solidFill>
          <a:ln w="19050">
            <a:solidFill>
              <a:srgbClr val="3B2F5C"/>
            </a:solidFill>
            <a:prstDash val="solid"/>
          </a:ln>
        </p:spPr>
      </p:sp>
      <p:sp>
        <p:nvSpPr>
          <p:cNvPr id="207" name="Idea number 2"/>
          <p:cNvSpPr/>
          <p:nvPr/>
        </p:nvSpPr>
        <p:spPr>
          <a:xfrm>
            <a:off x="2267712" y="1691640"/>
            <a:ext cx="320040" cy="320040"/>
          </a:xfrm>
          <a:prstGeom prst="ellipse">
            <a:avLst/>
          </a:prstGeom>
          <a:solidFill>
            <a:srgbClr val="FFBE85"/>
          </a:solidFill>
          <a:ln w="15875">
            <a:solidFill>
              <a:srgbClr val="3B2F5C"/>
            </a:solidFill>
            <a:prstDash val="solid"/>
          </a:ln>
        </p:spPr>
        <p:txBody>
          <a:bodyPr wrap="square" lIns="0" tIns="0" rIns="0" bIns="0" rtlCol="0" anchor="ctr"/>
          <a:lstStyle/>
          <a:p>
            <a:pPr marL="0" indent="0" algn="ctr">
              <a:spcAft>
                <a:spcPts val="0"/>
              </a:spcAft>
              <a:buNone/>
            </a:pPr>
            <a:r>
              <a:rPr lang="en-US" sz="1400" b="1" dirty="0">
                <a:solidFill>
                  <a:srgbClr val="3B2F5C"/>
                </a:solidFill>
                <a:latin typeface="Arial"/>
              </a:rPr>
              <a:t>2</a:t>
            </a:r>
          </a:p>
        </p:txBody>
      </p:sp>
      <p:sp>
        <p:nvSpPr>
          <p:cNvPr id="208" name="Idea text 2"/>
          <p:cNvSpPr txBox="1"/>
          <p:nvPr/>
        </p:nvSpPr>
        <p:spPr>
          <a:xfrm>
            <a:off x="2267712" y="2103120"/>
            <a:ext cx="1261872" cy="1143000"/>
          </a:xfrm>
          <a:prstGeom prst="roundRect">
            <a:avLst/>
          </a:prstGeom>
          <a:noFill/>
          <a:ln>
            <a:noFill/>
          </a:ln>
        </p:spPr>
        <p:txBody>
          <a:bodyPr wrap="square" lIns="0" tIns="0" rIns="0" bIns="0" rtlCol="0" anchor="t"/>
          <a:lstStyle/>
          <a:p>
            <a:pPr marL="0" indent="0" algn="l">
              <a:spcAft>
                <a:spcPts val="600"/>
              </a:spcAft>
              <a:buNone/>
            </a:pPr>
            <a:r>
              <a:rPr lang="en-US" sz="1300" b="1" dirty="0">
                <a:solidFill>
                  <a:srgbClr val="3B2F5C"/>
                </a:solidFill>
                <a:latin typeface="Calibri"/>
              </a:rPr>
              <a:t>Autocorrect / Code-Switching</a:t>
            </a:r>
          </a:p>
          <a:p>
            <a:pPr marL="0" indent="0" algn="l">
              <a:spcAft>
                <a:spcPts val="0"/>
              </a:spcAft>
              <a:buNone/>
            </a:pPr>
            <a:r>
              <a:rPr lang="en-US" sz="1100" dirty="0">
                <a:solidFill>
                  <a:srgbClr val="3B2F5C"/>
                </a:solidFill>
                <a:latin typeface="Calibri"/>
              </a:rPr>
              <a:t>Riya, Shreya</a:t>
            </a:r>
          </a:p>
        </p:txBody>
      </p:sp>
      <p:sp>
        <p:nvSpPr>
          <p:cNvPr id="209" name="Idea card 3"/>
          <p:cNvSpPr/>
          <p:nvPr/>
        </p:nvSpPr>
        <p:spPr>
          <a:xfrm>
            <a:off x="3803904" y="1554480"/>
            <a:ext cx="1536192" cy="1645920"/>
          </a:xfrm>
          <a:prstGeom prst="roundRect">
            <a:avLst>
              <a:gd name="adj" fmla="val 9000"/>
            </a:avLst>
          </a:prstGeom>
          <a:solidFill>
            <a:srgbClr val="DDF5EA"/>
          </a:solidFill>
          <a:ln w="19050">
            <a:solidFill>
              <a:srgbClr val="3B2F5C"/>
            </a:solidFill>
            <a:prstDash val="solid"/>
          </a:ln>
        </p:spPr>
      </p:sp>
      <p:sp>
        <p:nvSpPr>
          <p:cNvPr id="210" name="Idea number 3"/>
          <p:cNvSpPr/>
          <p:nvPr/>
        </p:nvSpPr>
        <p:spPr>
          <a:xfrm>
            <a:off x="3941064" y="1691640"/>
            <a:ext cx="320040" cy="320040"/>
          </a:xfrm>
          <a:prstGeom prst="ellipse">
            <a:avLst/>
          </a:prstGeom>
          <a:solidFill>
            <a:srgbClr val="A8E6CF"/>
          </a:solidFill>
          <a:ln w="15875">
            <a:solidFill>
              <a:srgbClr val="3B2F5C"/>
            </a:solidFill>
            <a:prstDash val="solid"/>
          </a:ln>
        </p:spPr>
        <p:txBody>
          <a:bodyPr wrap="square" lIns="0" tIns="0" rIns="0" bIns="0" rtlCol="0" anchor="ctr"/>
          <a:lstStyle/>
          <a:p>
            <a:pPr marL="0" indent="0" algn="ctr">
              <a:spcAft>
                <a:spcPts val="0"/>
              </a:spcAft>
              <a:buNone/>
            </a:pPr>
            <a:r>
              <a:rPr lang="en-US" sz="1400" b="1" dirty="0">
                <a:solidFill>
                  <a:srgbClr val="3B2F5C"/>
                </a:solidFill>
                <a:latin typeface="Arial"/>
              </a:rPr>
              <a:t>3</a:t>
            </a:r>
          </a:p>
        </p:txBody>
      </p:sp>
      <p:sp>
        <p:nvSpPr>
          <p:cNvPr id="211" name="Idea text 3"/>
          <p:cNvSpPr txBox="1"/>
          <p:nvPr/>
        </p:nvSpPr>
        <p:spPr>
          <a:xfrm>
            <a:off x="3941064" y="2103120"/>
            <a:ext cx="1261872" cy="1143000"/>
          </a:xfrm>
          <a:prstGeom prst="roundRect">
            <a:avLst/>
          </a:prstGeom>
          <a:noFill/>
          <a:ln>
            <a:noFill/>
          </a:ln>
        </p:spPr>
        <p:txBody>
          <a:bodyPr wrap="square" lIns="0" tIns="0" rIns="0" bIns="0" rtlCol="0" anchor="t"/>
          <a:lstStyle/>
          <a:p>
            <a:pPr marL="0" indent="0" algn="l">
              <a:spcAft>
                <a:spcPts val="600"/>
              </a:spcAft>
              <a:buNone/>
            </a:pPr>
            <a:r>
              <a:rPr lang="en-US" sz="1300" b="1" dirty="0">
                <a:solidFill>
                  <a:srgbClr val="3B2F5C"/>
                </a:solidFill>
                <a:latin typeface="Calibri"/>
              </a:rPr>
              <a:t>Context-Aware Interruption</a:t>
            </a:r>
          </a:p>
          <a:p>
            <a:pPr marL="0" indent="0" algn="l">
              <a:spcAft>
                <a:spcPts val="0"/>
              </a:spcAft>
              <a:buNone/>
            </a:pPr>
            <a:r>
              <a:rPr lang="en-US" sz="1100" dirty="0">
                <a:solidFill>
                  <a:srgbClr val="3B2F5C"/>
                </a:solidFill>
                <a:latin typeface="Calibri"/>
              </a:rPr>
              <a:t>Rahul, Yash</a:t>
            </a:r>
          </a:p>
        </p:txBody>
      </p:sp>
      <p:sp>
        <p:nvSpPr>
          <p:cNvPr id="212" name="Idea card 4"/>
          <p:cNvSpPr/>
          <p:nvPr/>
        </p:nvSpPr>
        <p:spPr>
          <a:xfrm>
            <a:off x="5477256" y="1554480"/>
            <a:ext cx="1536192" cy="1645920"/>
          </a:xfrm>
          <a:prstGeom prst="roundRect">
            <a:avLst>
              <a:gd name="adj" fmla="val 9000"/>
            </a:avLst>
          </a:prstGeom>
          <a:solidFill>
            <a:srgbClr val="DCEEFB"/>
          </a:solidFill>
          <a:ln w="19050">
            <a:solidFill>
              <a:srgbClr val="3B2F5C"/>
            </a:solidFill>
            <a:prstDash val="solid"/>
          </a:ln>
        </p:spPr>
      </p:sp>
      <p:sp>
        <p:nvSpPr>
          <p:cNvPr id="213" name="Idea number 4"/>
          <p:cNvSpPr/>
          <p:nvPr/>
        </p:nvSpPr>
        <p:spPr>
          <a:xfrm>
            <a:off x="5614416" y="1691640"/>
            <a:ext cx="320040" cy="320040"/>
          </a:xfrm>
          <a:prstGeom prst="ellipse">
            <a:avLst/>
          </a:prstGeom>
          <a:solidFill>
            <a:srgbClr val="A9D4F5"/>
          </a:solidFill>
          <a:ln w="15875">
            <a:solidFill>
              <a:srgbClr val="3B2F5C"/>
            </a:solidFill>
            <a:prstDash val="solid"/>
          </a:ln>
        </p:spPr>
        <p:txBody>
          <a:bodyPr wrap="square" lIns="0" tIns="0" rIns="0" bIns="0" rtlCol="0" anchor="ctr"/>
          <a:lstStyle/>
          <a:p>
            <a:pPr marL="0" indent="0" algn="ctr">
              <a:spcAft>
                <a:spcPts val="0"/>
              </a:spcAft>
              <a:buNone/>
            </a:pPr>
            <a:r>
              <a:rPr lang="en-US" sz="1400" b="1" dirty="0">
                <a:solidFill>
                  <a:srgbClr val="3B2F5C"/>
                </a:solidFill>
                <a:latin typeface="Arial"/>
              </a:rPr>
              <a:t>4</a:t>
            </a:r>
          </a:p>
        </p:txBody>
      </p:sp>
      <p:sp>
        <p:nvSpPr>
          <p:cNvPr id="214" name="Idea text 4"/>
          <p:cNvSpPr txBox="1"/>
          <p:nvPr/>
        </p:nvSpPr>
        <p:spPr>
          <a:xfrm>
            <a:off x="5614416" y="2103120"/>
            <a:ext cx="1261872" cy="1143000"/>
          </a:xfrm>
          <a:prstGeom prst="roundRect">
            <a:avLst/>
          </a:prstGeom>
          <a:noFill/>
          <a:ln>
            <a:noFill/>
          </a:ln>
        </p:spPr>
        <p:txBody>
          <a:bodyPr wrap="square" lIns="0" tIns="0" rIns="0" bIns="0" rtlCol="0" anchor="t"/>
          <a:lstStyle/>
          <a:p>
            <a:pPr marL="0" indent="0" algn="l">
              <a:spcAft>
                <a:spcPts val="600"/>
              </a:spcAft>
              <a:buNone/>
            </a:pPr>
            <a:r>
              <a:rPr lang="en-US" sz="1300" b="1" dirty="0">
                <a:solidFill>
                  <a:srgbClr val="3B2F5C"/>
                </a:solidFill>
                <a:latin typeface="Calibri"/>
              </a:rPr>
              <a:t>Screen Time That's Accurate</a:t>
            </a:r>
          </a:p>
          <a:p>
            <a:pPr marL="0" indent="0" algn="l">
              <a:spcAft>
                <a:spcPts val="0"/>
              </a:spcAft>
              <a:buNone/>
            </a:pPr>
            <a:r>
              <a:rPr lang="en-US" sz="1100" dirty="0">
                <a:solidFill>
                  <a:srgbClr val="3B2F5C"/>
                </a:solidFill>
                <a:latin typeface="Calibri"/>
              </a:rPr>
              <a:t>Tushar, Rakesh</a:t>
            </a:r>
          </a:p>
        </p:txBody>
      </p:sp>
      <p:sp>
        <p:nvSpPr>
          <p:cNvPr id="215" name="Idea card 5"/>
          <p:cNvSpPr/>
          <p:nvPr/>
        </p:nvSpPr>
        <p:spPr>
          <a:xfrm>
            <a:off x="7150608" y="1554480"/>
            <a:ext cx="1536192" cy="1645920"/>
          </a:xfrm>
          <a:prstGeom prst="roundRect">
            <a:avLst>
              <a:gd name="adj" fmla="val 9000"/>
            </a:avLst>
          </a:prstGeom>
          <a:solidFill>
            <a:srgbClr val="EBE1FB"/>
          </a:solidFill>
          <a:ln w="19050">
            <a:solidFill>
              <a:srgbClr val="3B2F5C"/>
            </a:solidFill>
            <a:prstDash val="solid"/>
          </a:ln>
        </p:spPr>
      </p:sp>
      <p:sp>
        <p:nvSpPr>
          <p:cNvPr id="216" name="Idea number 5"/>
          <p:cNvSpPr/>
          <p:nvPr/>
        </p:nvSpPr>
        <p:spPr>
          <a:xfrm>
            <a:off x="7287768" y="1691640"/>
            <a:ext cx="320040" cy="320040"/>
          </a:xfrm>
          <a:prstGeom prst="ellipse">
            <a:avLst/>
          </a:prstGeom>
          <a:solidFill>
            <a:srgbClr val="D3BDF7"/>
          </a:solidFill>
          <a:ln w="15875">
            <a:solidFill>
              <a:srgbClr val="3B2F5C"/>
            </a:solidFill>
            <a:prstDash val="solid"/>
          </a:ln>
        </p:spPr>
        <p:txBody>
          <a:bodyPr wrap="square" lIns="0" tIns="0" rIns="0" bIns="0" rtlCol="0" anchor="ctr"/>
          <a:lstStyle/>
          <a:p>
            <a:pPr marL="0" indent="0" algn="ctr">
              <a:spcAft>
                <a:spcPts val="0"/>
              </a:spcAft>
              <a:buNone/>
            </a:pPr>
            <a:r>
              <a:rPr lang="en-US" sz="1400" b="1" dirty="0">
                <a:solidFill>
                  <a:srgbClr val="3B2F5C"/>
                </a:solidFill>
                <a:latin typeface="Arial"/>
              </a:rPr>
              <a:t>5</a:t>
            </a:r>
          </a:p>
        </p:txBody>
      </p:sp>
      <p:sp>
        <p:nvSpPr>
          <p:cNvPr id="217" name="Idea text 5"/>
          <p:cNvSpPr txBox="1"/>
          <p:nvPr/>
        </p:nvSpPr>
        <p:spPr>
          <a:xfrm>
            <a:off x="7287768" y="2103120"/>
            <a:ext cx="1261872" cy="1143000"/>
          </a:xfrm>
          <a:prstGeom prst="roundRect">
            <a:avLst/>
          </a:prstGeom>
          <a:noFill/>
          <a:ln>
            <a:noFill/>
          </a:ln>
        </p:spPr>
        <p:txBody>
          <a:bodyPr wrap="square" lIns="0" tIns="0" rIns="0" bIns="0" rtlCol="0" anchor="t"/>
          <a:lstStyle/>
          <a:p>
            <a:pPr marL="0" indent="0" algn="l">
              <a:spcAft>
                <a:spcPts val="600"/>
              </a:spcAft>
              <a:buNone/>
            </a:pPr>
            <a:r>
              <a:rPr lang="en-US" sz="1300" b="1" dirty="0">
                <a:solidFill>
                  <a:srgbClr val="3B2F5C"/>
                </a:solidFill>
                <a:latin typeface="Calibri"/>
              </a:rPr>
              <a:t>Ambient Noise-Adaptive Volume</a:t>
            </a:r>
          </a:p>
          <a:p>
            <a:pPr marL="0" indent="0" algn="l">
              <a:spcAft>
                <a:spcPts val="0"/>
              </a:spcAft>
              <a:buNone/>
            </a:pPr>
            <a:r>
              <a:rPr lang="en-US" sz="1100" dirty="0">
                <a:solidFill>
                  <a:srgbClr val="3B2F5C"/>
                </a:solidFill>
                <a:latin typeface="Calibri"/>
              </a:rPr>
              <a:t>Omprakash, Varshith</a:t>
            </a:r>
          </a:p>
        </p:txBody>
      </p:sp>
      <p:sp>
        <p:nvSpPr>
          <p:cNvPr id="218" name="Next steps card"/>
          <p:cNvSpPr/>
          <p:nvPr/>
        </p:nvSpPr>
        <p:spPr>
          <a:xfrm>
            <a:off x="457200" y="3474720"/>
            <a:ext cx="8229600" cy="640080"/>
          </a:xfrm>
          <a:prstGeom prst="roundRect">
            <a:avLst>
              <a:gd name="adj" fmla="val 22000"/>
            </a:avLst>
          </a:prstGeom>
          <a:solidFill>
            <a:srgbClr val="FFF3CC"/>
          </a:solidFill>
          <a:ln w="19050">
            <a:solidFill>
              <a:srgbClr val="3B2F5C"/>
            </a:solidFill>
            <a:prstDash val="solid"/>
          </a:ln>
        </p:spPr>
      </p:sp>
      <p:sp>
        <p:nvSpPr>
          <p:cNvPr id="219" name="Next steps label"/>
          <p:cNvSpPr txBox="1"/>
          <p:nvPr/>
        </p:nvSpPr>
        <p:spPr>
          <a:xfrm>
            <a:off x="640080" y="3474720"/>
            <a:ext cx="1005840" cy="640080"/>
          </a:xfrm>
          <a:prstGeom prst="roundRect">
            <a:avLst/>
          </a:prstGeom>
          <a:noFill/>
          <a:ln>
            <a:noFill/>
          </a:ln>
        </p:spPr>
        <p:txBody>
          <a:bodyPr wrap="square" lIns="0" tIns="0" rIns="0" bIns="0" rtlCol="0" anchor="ctr"/>
          <a:lstStyle/>
          <a:p>
            <a:pPr marL="0" indent="0" algn="l">
              <a:spcAft>
                <a:spcPts val="0"/>
              </a:spcAft>
              <a:buNone/>
            </a:pPr>
            <a:r>
              <a:rPr lang="en-US" sz="1400" b="1" dirty="0">
                <a:solidFill>
                  <a:srgbClr val="3B2F5C"/>
                </a:solidFill>
                <a:latin typeface="Calibri"/>
              </a:rPr>
              <a:t>Next steps</a:t>
            </a:r>
          </a:p>
        </p:txBody>
      </p:sp>
      <p:sp>
        <p:nvSpPr>
          <p:cNvPr id="220" name="Step 1"/>
          <p:cNvSpPr/>
          <p:nvPr/>
        </p:nvSpPr>
        <p:spPr>
          <a:xfrm>
            <a:off x="1737360" y="3589020"/>
            <a:ext cx="1221638" cy="411480"/>
          </a:xfrm>
          <a:prstGeom prst="roundRect">
            <a:avLst>
              <a:gd name="adj" fmla="val 30000"/>
            </a:avLst>
          </a:prstGeom>
          <a:solidFill>
            <a:srgbClr val="FFFFFF"/>
          </a:solidFill>
          <a:ln w="12700">
            <a:solidFill>
              <a:srgbClr val="3B2F5C"/>
            </a:solidFill>
            <a:prstDash val="solid"/>
          </a:ln>
        </p:spPr>
        <p:txBody>
          <a:bodyPr wrap="square" lIns="0" tIns="0" rIns="0" bIns="0" rtlCol="0" anchor="ctr"/>
          <a:lstStyle/>
          <a:p>
            <a:pPr marL="0" indent="0" algn="ctr">
              <a:spcAft>
                <a:spcPts val="0"/>
              </a:spcAft>
              <a:buNone/>
            </a:pPr>
            <a:r>
              <a:rPr lang="en-US" sz="1100" b="1" dirty="0">
                <a:solidFill>
                  <a:srgbClr val="3B2F5C"/>
                </a:solidFill>
                <a:latin typeface="Calibri"/>
              </a:rPr>
              <a:t>Refine research</a:t>
            </a:r>
          </a:p>
        </p:txBody>
      </p:sp>
      <p:sp>
        <p:nvSpPr>
          <p:cNvPr id="221" name="Arrow 1"/>
          <p:cNvSpPr txBox="1"/>
          <p:nvPr/>
        </p:nvSpPr>
        <p:spPr>
          <a:xfrm>
            <a:off x="2958998" y="3703320"/>
            <a:ext cx="164592" cy="182880"/>
          </a:xfrm>
          <a:prstGeom prst="rect">
            <a:avLst/>
          </a:prstGeom>
          <a:noFill/>
          <a:ln>
            <a:noFill/>
          </a:ln>
        </p:spPr>
        <p:txBody>
          <a:bodyPr wrap="square" lIns="0" tIns="0" rIns="0" bIns="0" rtlCol="0" anchor="ctr"/>
          <a:lstStyle/>
          <a:p>
            <a:pPr marL="0" indent="0" algn="ctr">
              <a:spcAft>
                <a:spcPts val="0"/>
              </a:spcAft>
              <a:buNone/>
            </a:pPr>
            <a:r>
              <a:rPr lang="en-US" sz="1100" b="1" dirty="0">
                <a:solidFill>
                  <a:srgbClr val="3B2F5C"/>
                </a:solidFill>
                <a:latin typeface="Arial"/>
              </a:rPr>
              <a:t>→</a:t>
            </a:r>
          </a:p>
        </p:txBody>
      </p:sp>
      <p:sp>
        <p:nvSpPr>
          <p:cNvPr id="222" name="Step 2"/>
          <p:cNvSpPr/>
          <p:nvPr/>
        </p:nvSpPr>
        <p:spPr>
          <a:xfrm>
            <a:off x="3123590" y="3589020"/>
            <a:ext cx="1221638" cy="411480"/>
          </a:xfrm>
          <a:prstGeom prst="roundRect">
            <a:avLst>
              <a:gd name="adj" fmla="val 30000"/>
            </a:avLst>
          </a:prstGeom>
          <a:solidFill>
            <a:srgbClr val="FFFFFF"/>
          </a:solidFill>
          <a:ln w="12700">
            <a:solidFill>
              <a:srgbClr val="3B2F5C"/>
            </a:solidFill>
            <a:prstDash val="solid"/>
          </a:ln>
        </p:spPr>
        <p:txBody>
          <a:bodyPr wrap="square" lIns="0" tIns="0" rIns="0" bIns="0" rtlCol="0" anchor="ctr"/>
          <a:lstStyle/>
          <a:p>
            <a:pPr marL="0" indent="0" algn="ctr">
              <a:spcAft>
                <a:spcPts val="0"/>
              </a:spcAft>
              <a:buNone/>
            </a:pPr>
            <a:r>
              <a:rPr lang="en-US" sz="1100" b="1" dirty="0">
                <a:solidFill>
                  <a:srgbClr val="3B2F5C"/>
                </a:solidFill>
                <a:latin typeface="Calibri"/>
              </a:rPr>
              <a:t>Build minimal prototypes</a:t>
            </a:r>
          </a:p>
        </p:txBody>
      </p:sp>
      <p:sp>
        <p:nvSpPr>
          <p:cNvPr id="223" name="Arrow 2"/>
          <p:cNvSpPr txBox="1"/>
          <p:nvPr/>
        </p:nvSpPr>
        <p:spPr>
          <a:xfrm>
            <a:off x="4345228" y="3703320"/>
            <a:ext cx="164592" cy="182880"/>
          </a:xfrm>
          <a:prstGeom prst="rect">
            <a:avLst/>
          </a:prstGeom>
          <a:noFill/>
          <a:ln>
            <a:noFill/>
          </a:ln>
        </p:spPr>
        <p:txBody>
          <a:bodyPr wrap="square" lIns="0" tIns="0" rIns="0" bIns="0" rtlCol="0" anchor="ctr"/>
          <a:lstStyle/>
          <a:p>
            <a:pPr marL="0" indent="0" algn="ctr">
              <a:spcAft>
                <a:spcPts val="0"/>
              </a:spcAft>
              <a:buNone/>
            </a:pPr>
            <a:r>
              <a:rPr lang="en-US" sz="1100" b="1" dirty="0">
                <a:solidFill>
                  <a:srgbClr val="3B2F5C"/>
                </a:solidFill>
                <a:latin typeface="Arial"/>
              </a:rPr>
              <a:t>→</a:t>
            </a:r>
          </a:p>
        </p:txBody>
      </p:sp>
      <p:sp>
        <p:nvSpPr>
          <p:cNvPr id="224" name="Step 3"/>
          <p:cNvSpPr/>
          <p:nvPr/>
        </p:nvSpPr>
        <p:spPr>
          <a:xfrm>
            <a:off x="4509820" y="3589020"/>
            <a:ext cx="1221638" cy="411480"/>
          </a:xfrm>
          <a:prstGeom prst="roundRect">
            <a:avLst>
              <a:gd name="adj" fmla="val 30000"/>
            </a:avLst>
          </a:prstGeom>
          <a:solidFill>
            <a:srgbClr val="FFFFFF"/>
          </a:solidFill>
          <a:ln w="12700">
            <a:solidFill>
              <a:srgbClr val="3B2F5C"/>
            </a:solidFill>
            <a:prstDash val="solid"/>
          </a:ln>
        </p:spPr>
        <p:txBody>
          <a:bodyPr wrap="square" lIns="0" tIns="0" rIns="0" bIns="0" rtlCol="0" anchor="ctr"/>
          <a:lstStyle/>
          <a:p>
            <a:pPr marL="0" indent="0" algn="ctr">
              <a:spcAft>
                <a:spcPts val="0"/>
              </a:spcAft>
              <a:buNone/>
            </a:pPr>
            <a:r>
              <a:rPr lang="en-US" sz="1100" b="1" dirty="0">
                <a:solidFill>
                  <a:srgbClr val="3B2F5C"/>
                </a:solidFill>
                <a:latin typeface="Calibri"/>
              </a:rPr>
              <a:t>Test with real users</a:t>
            </a:r>
          </a:p>
        </p:txBody>
      </p:sp>
      <p:sp>
        <p:nvSpPr>
          <p:cNvPr id="225" name="Arrow 3"/>
          <p:cNvSpPr txBox="1"/>
          <p:nvPr/>
        </p:nvSpPr>
        <p:spPr>
          <a:xfrm>
            <a:off x="5731458" y="3703320"/>
            <a:ext cx="164592" cy="182880"/>
          </a:xfrm>
          <a:prstGeom prst="rect">
            <a:avLst/>
          </a:prstGeom>
          <a:noFill/>
          <a:ln>
            <a:noFill/>
          </a:ln>
        </p:spPr>
        <p:txBody>
          <a:bodyPr wrap="square" lIns="0" tIns="0" rIns="0" bIns="0" rtlCol="0" anchor="ctr"/>
          <a:lstStyle/>
          <a:p>
            <a:pPr marL="0" indent="0" algn="ctr">
              <a:spcAft>
                <a:spcPts val="0"/>
              </a:spcAft>
              <a:buNone/>
            </a:pPr>
            <a:r>
              <a:rPr lang="en-US" sz="1100" b="1" dirty="0">
                <a:solidFill>
                  <a:srgbClr val="3B2F5C"/>
                </a:solidFill>
                <a:latin typeface="Arial"/>
              </a:rPr>
              <a:t>→</a:t>
            </a:r>
          </a:p>
        </p:txBody>
      </p:sp>
      <p:sp>
        <p:nvSpPr>
          <p:cNvPr id="226" name="Step 4"/>
          <p:cNvSpPr/>
          <p:nvPr/>
        </p:nvSpPr>
        <p:spPr>
          <a:xfrm>
            <a:off x="5896050" y="3589020"/>
            <a:ext cx="1221638" cy="411480"/>
          </a:xfrm>
          <a:prstGeom prst="roundRect">
            <a:avLst>
              <a:gd name="adj" fmla="val 30000"/>
            </a:avLst>
          </a:prstGeom>
          <a:solidFill>
            <a:srgbClr val="FFFFFF"/>
          </a:solidFill>
          <a:ln w="12700">
            <a:solidFill>
              <a:srgbClr val="3B2F5C"/>
            </a:solidFill>
            <a:prstDash val="solid"/>
          </a:ln>
        </p:spPr>
        <p:txBody>
          <a:bodyPr wrap="square" lIns="0" tIns="0" rIns="0" bIns="0" rtlCol="0" anchor="ctr"/>
          <a:lstStyle/>
          <a:p>
            <a:pPr marL="0" indent="0" algn="ctr">
              <a:spcAft>
                <a:spcPts val="0"/>
              </a:spcAft>
              <a:buNone/>
            </a:pPr>
            <a:r>
              <a:rPr lang="en-US" sz="1100" b="1" dirty="0">
                <a:solidFill>
                  <a:srgbClr val="3B2F5C"/>
                </a:solidFill>
                <a:latin typeface="Calibri"/>
              </a:rPr>
              <a:t>Iterate</a:t>
            </a:r>
          </a:p>
        </p:txBody>
      </p:sp>
      <p:sp>
        <p:nvSpPr>
          <p:cNvPr id="227" name="Arrow 4"/>
          <p:cNvSpPr txBox="1"/>
          <p:nvPr/>
        </p:nvSpPr>
        <p:spPr>
          <a:xfrm>
            <a:off x="7117688" y="3703320"/>
            <a:ext cx="164592" cy="182880"/>
          </a:xfrm>
          <a:prstGeom prst="rect">
            <a:avLst/>
          </a:prstGeom>
          <a:noFill/>
          <a:ln>
            <a:noFill/>
          </a:ln>
        </p:spPr>
        <p:txBody>
          <a:bodyPr wrap="square" lIns="0" tIns="0" rIns="0" bIns="0" rtlCol="0" anchor="ctr"/>
          <a:lstStyle/>
          <a:p>
            <a:pPr marL="0" indent="0" algn="ctr">
              <a:spcAft>
                <a:spcPts val="0"/>
              </a:spcAft>
              <a:buNone/>
            </a:pPr>
            <a:r>
              <a:rPr lang="en-US" sz="1100" b="1" dirty="0">
                <a:solidFill>
                  <a:srgbClr val="3B2F5C"/>
                </a:solidFill>
                <a:latin typeface="Arial"/>
              </a:rPr>
              <a:t>→</a:t>
            </a:r>
          </a:p>
        </p:txBody>
      </p:sp>
      <p:sp>
        <p:nvSpPr>
          <p:cNvPr id="228" name="Step 5"/>
          <p:cNvSpPr/>
          <p:nvPr/>
        </p:nvSpPr>
        <p:spPr>
          <a:xfrm>
            <a:off x="7282280" y="3589020"/>
            <a:ext cx="1221638" cy="411480"/>
          </a:xfrm>
          <a:prstGeom prst="roundRect">
            <a:avLst>
              <a:gd name="adj" fmla="val 30000"/>
            </a:avLst>
          </a:prstGeom>
          <a:solidFill>
            <a:srgbClr val="FFFFFF"/>
          </a:solidFill>
          <a:ln w="12700">
            <a:solidFill>
              <a:srgbClr val="3B2F5C"/>
            </a:solidFill>
            <a:prstDash val="solid"/>
          </a:ln>
        </p:spPr>
        <p:txBody>
          <a:bodyPr wrap="square" lIns="0" tIns="0" rIns="0" bIns="0" rtlCol="0" anchor="ctr"/>
          <a:lstStyle/>
          <a:p>
            <a:pPr marL="0" indent="0" algn="ctr">
              <a:spcAft>
                <a:spcPts val="0"/>
              </a:spcAft>
              <a:buNone/>
            </a:pPr>
            <a:r>
              <a:rPr lang="en-US" sz="1100" b="1" dirty="0">
                <a:solidFill>
                  <a:srgbClr val="3B2F5C"/>
                </a:solidFill>
                <a:latin typeface="Calibri"/>
              </a:rPr>
              <a:t>Final showcase</a:t>
            </a:r>
          </a:p>
        </p:txBody>
      </p:sp>
      <p:sp>
        <p:nvSpPr>
          <p:cNvPr id="20" name="Pill"/>
          <p:cNvSpPr/>
          <p:nvPr/>
        </p:nvSpPr>
        <p:spPr>
          <a:xfrm>
            <a:off x="457200" y="4343400"/>
            <a:ext cx="4206240" cy="365760"/>
          </a:xfrm>
          <a:prstGeom prst="roundRect">
            <a:avLst>
              <a:gd name="adj" fmla="val 50000"/>
            </a:avLst>
          </a:prstGeom>
          <a:solidFill>
            <a:srgbClr val="D3BDF7"/>
          </a:solidFill>
          <a:ln w="19050">
            <a:solidFill>
              <a:srgbClr val="3B2F5C"/>
            </a:solidFill>
            <a:prstDash val="solid"/>
          </a:ln>
        </p:spPr>
      </p:sp>
      <p:sp>
        <p:nvSpPr>
          <p:cNvPr id="21" name="Pill text"/>
          <p:cNvSpPr txBox="1"/>
          <p:nvPr/>
        </p:nvSpPr>
        <p:spPr>
          <a:xfrm>
            <a:off x="457200" y="4343400"/>
            <a:ext cx="4206240" cy="365760"/>
          </a:xfrm>
          <a:prstGeom prst="rect">
            <a:avLst/>
          </a:prstGeom>
          <a:noFill/>
          <a:ln/>
        </p:spPr>
        <p:txBody>
          <a:bodyPr wrap="square" lIns="0" tIns="0" rIns="0" bIns="0" rtlCol="0" anchor="ctr"/>
          <a:lstStyle/>
          <a:p>
            <a:pPr marL="0" indent="0" algn="ctr">
              <a:buNone/>
            </a:pPr>
            <a:r>
              <a:rPr lang="en-US" sz="1300" b="1" dirty="0">
                <a:solidFill>
                  <a:srgbClr val="3B2F5C"/>
                </a:solidFill>
                <a:latin typeface="Calibri" pitchFamily="34" charset="0"/>
                <a:ea typeface="Calibri" pitchFamily="34" charset="-122"/>
                <a:cs typeface="Calibri" pitchFamily="34" charset="-120"/>
              </a:rPr>
              <a:t>Built around people and context</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83</TotalTime>
  <Words>2636</Words>
  <Application>Microsoft Office PowerPoint</Application>
  <PresentationFormat>On-screen Show (16:9)</PresentationFormat>
  <Paragraphs>222</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From Everyday Frictions to Smarter Solutions</dc:title>
  <dc:subject>PptxGenJS Presentation</dc:subject>
  <dc:creator>PptxGenJS</dc:creator>
  <cp:lastModifiedBy>Tushar Saharan</cp:lastModifiedBy>
  <cp:revision>4</cp:revision>
  <dcterms:created xsi:type="dcterms:W3CDTF">2026-10-16T16:24:53Z</dcterms:created>
  <dcterms:modified xsi:type="dcterms:W3CDTF">2026-10-21T03:10:11Z</dcterms:modified>
</cp:coreProperties>
</file>